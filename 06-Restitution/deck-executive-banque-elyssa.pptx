
<file path=[Content_Types].xml><?xml version="1.0" encoding="utf-8"?>
<Types xmlns="http://schemas.openxmlformats.org/package/2006/content-types">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theme/theme2.xml" ContentType="application/vnd.openxmlformats-officedocument.theme+xml"/>
  <Override PartName="/ppt/notesMasters/notesMaster1.xml" ContentType="application/vnd.openxmlformats-officedocument.presentationml.notesMaster+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Default Extension="png" ContentType="image/png"/>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5" r:id="rId11"/>
    <p:sldId id="266" r:id="rId12"/>
    <p:sldId id="267" r:id="rId13"/>
  </p:sldIdLst>
  <p:sldSz cx="12192000" cy="6858000"/>
  <p:notesSz cx="6858000" cy="9144000"/>
</p:presentation>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Bonjour. Je vous présente mon travail d'analyse fonctionnelle sur la demande de crédit de Banque Elyssa. C'est un cas fictif que j'ai construit pour montrer ma méthode du début à la fin. Trois chiffres en trois secondes : le délai passe de douze jours à cinq, environ trois cent vingt-cinq heures par semaine sont récupérables, ce qui vaut à peu près trois cent quatre-vingt-dix mille dinars par an. Le deck fait onze pages : synthèse, méthode, diagnostic, causes, cible, backlog, écrans, argent, risques, décisions. Vous pouvez garder la page deux, elle résume tout.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Cette page se lit seule. A gauche le problème : tout est papier, quatre cent quatre-vingt demandes par semaine, un dossier sur trois arrive incomplet, personne ne sait où en est son dossier. Au centre ma recommandation : un dossier unique digital, déposé en ligne ou à l'agence, bloqué s'il manque une pièce, avec suivi en ligne. Le coût est de six cent dix mille dinars, puis cent trente-cinq mille par an. A droite les trois décisions que j'attends de vous : le budget, le périmètre du MVP, la gouvernance. La bande du bas reprend les quatre chiffres à retenir.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Je n'ai pas empilé des documents : chaque semaine produit un livrable qui sert de base au suivant. Six semaines, six livrables. A droite, les cadres que j'ai utilisés et que je peux défendre en entretien : BPMN pour modéliser, cinq pourquoi pour trouver les causes, Ghérin pour des critères d'acceptation testables, MoSCoW pour prioriser, RACI pour les responsabilités, et le référentiel du PMI pour cadrer les compétences. La phrase du bas est la plus importante : la valeur est dans la chaîne, pas dans les documents. On peut remonter n'importe quel chiffre jusqu'à son origine.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Le diagnostic chiffré. On perd environ neuf cent soixante heures par semaine, mais je ne prétends pas toutes les récupérer. Je compte seulement les heures que le processus cible supprime vraiment, avec un taux de récupération prudent douleur par douleur. Ça donne trois cent vingt-cinq heures par semaine, soit trois cent quatre-vingt-dix mille dinars par an à vingt-cinq dinars l'heure. Les colonnes centrales montrent le calcul : la base hebdomadaire, le mécanisme qui la supprime, le taux retenu. Tout le reste — délai, risque réglementaire, qualité d'analyse — je le laisse de côté volontairement pour ne pas gonfler le gain.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Pourquoi on en est là. J'ai pris la douleur la plus coûteuse, le dossier incomplet, et j'ai demandé pourquoi cinq fois de suite. On part d'un symptôme, la pièce qui manque, et on arrive à une cause structurelle : le coût des allers-retours n'a jamais été mesuré. Les trois causes racines du projet sont à droite, avec le principe qui en découle et les exigences que ce principe a produites. C'est comme ça qu'on évite de numériser le papier : le référentiel est paramétrable par les métiers, l'outil calcule les indicateurs, et le journal est inviolable par construction.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Le processus cible en six temps. A gauche, le dépôt est le seul point d'entrée, quel que soit le canal : c'est pour ça qu'il n'y a plus de double saisie. Le contrôle de complétude devient bloquant avant soumission, et la décision du comité reste humaine. A droite, la décomposition du délai : trois à six jours gagnés sur la mise en conformité, quatre sur le comité, deux sur la notification. Total : douze jours contre cinq au maximum. En bas, ce qui ne change pas exprès — le comité garde la main, le digital outille et trace, il ne décide pas.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Le backlog : quatorze user stories, soixante points, classés MoSCoW. La barre montre que quatre-vingt-trois pour cent des points sont des Must. Le MVP tient dans le Sprint un, vingt-trois points : déposer un dossier complet, que le client passe par le web ou par l'agence. Pourquoi cet ordre : sans le référentiel et sans le blocage, le digital reproduit le papier. Le pilotage vient en dernier parce qu'il suppose des indicateurs déjà mesurés. La définition de fini, c'est le code plus tous les critères vérifiés avec le métier. Et tout ajout hors MoSCoW passe par arbitrage du sponsor : c'est le pare-feu contre la dérive fonctionnelle.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Deuxième partie : la solution dessinée. A gauche la chaîne de traçabilité. Je peux partir de n'importe quel écran et remonter jusqu'au constat d'origine : aucun écran n'a été dessiné pour faire joli. Au centre deux maquettes desktop couleur, le dépôt côté client et le tableau de bord côté analyste. En bas à droite l'hypothèse assumée : je livre d'abord le desktop, la déclinaison mobile est prévue au Sprint un. Si on me pose la question, je réponds que c'est un choix de séquence, pas un oubli, et la matrice de traçabilité le dit explicitement.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Voici le chiffrage, la page la plus fragile du dossier, donc je l'expose avec ses hypothèses. A gauche les flux nets : moins six cent dix mille dinars l'année zéro, plus quatre-vingt-dix-neuf, plus deux cent seize, plus deux cent cinquante-cinq. Le cumul finit à moins quarante mille : presque l'équilibre en année trois. A droite le détail, la sensibilité et le payback. Sur la productivité seule, le retour est d'environ trois ans. Si on valorise un seul contentieux évité, il tombe entre dix-huit et vingt-quatre mois. Je n'ai pas mis les gains stratégiques dans le calcul, pour rester prudente.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Quatre risques peuvent annuler les gains, et pour chacun la parade est déjà dans la solution : le dépôt assisté si les clients ne viennent pas sur le web, les indicateurs de fluidité plutôt que de notation si les agents résistent, le paramétrage métier et la revue semestrielle si le référentiel décroche, l'arbitrage sponsor si le périmètre dérive. En bas, les indicateurs O1 à O4 avec leurs seuils d'alerte : délai au-delà de sept jours, incomplets au-delà de quinze pour cent. Un point de méthode : ces mesures servent à fluidifier le parcours, jamais à noter une personne.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Pour conclure : je recommande de lancer le projet en commençant par le MVP canal et complétude. Trois décisions vous reviennent. Le budget : six cent dix mille dinars puis cent trente-cinq mille par an, sur six mois. Le périmètre du Sprint un, tel qu'il est écrit. La gouvernance : un sponsor unique, une revue mensuelle des indicateurs, et un propriétaire désigné pour le référentiel, sinon la cause racine n'est pas traitée. Tout est public sur mon dépôt GitHub, livrable par livrable. Et je le rappelle : la banque est fictive, les chiffres sont des hypothèses documentées.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4E5F"/>
        </a:solidFill>
        <a:effectLst/>
      </p:bgPr>
    </p:bg>
    <p:spTree>
      <p:nvGrpSpPr>
        <p:cNvPr id="1" name=""/>
        <p:cNvGrpSpPr/>
        <p:nvPr/>
      </p:nvGrpSpPr>
      <p:grpSpPr>
        <a:xfrm>
          <a:off x="0" y="0"/>
          <a:ext cx="0" cy="0"/>
          <a:chOff x="0" y="0"/>
          <a:chExt cx="0" cy="0"/>
        </a:xfrm>
      </p:grpSpPr>
      <p:sp>
        <p:nvSpPr>
          <p:cNvPr id="3" name="Shape 3">
            <a:extLst>
              <a:ext uri="{FF2B5EF4-FFF2-40B4-BE49-F238E27FC236}">
                <a16:creationId xmlns:a16="http://schemas.microsoft.com/office/drawing/2014/main" id="{B0F4E051-3B16-461E-93AE-5FDDBEB44752}"/>
              </a:ext>
            </a:extLst>
          </p:cNvPr>
          <p:cNvSpPr/>
          <p:nvPr/>
        </p:nvSpPr>
        <p:spPr>
          <a:xfrm>
            <a:off x="762000" y="1028700"/>
            <a:ext cx="1047750" cy="38100"/>
          </a:xfrm>
          <a:prstGeom prst="rect">
            <a:avLst/>
          </a:prstGeom>
          <a:solidFill>
            <a:srgbClr val="7FB6C4"/>
          </a:solidFill>
        </p:spPr>
        <p:txBody>
          <a:bodyPr wrap="square" rtlCol="0"/>
          <a:lstStyle/>
          <a:p>
            <a:r>
              <a:rPr/>
              <a:t/>
            </a:r>
          </a:p>
        </p:txBody>
      </p:sp>
      <p:sp>
        <p:nvSpPr>
          <p:cNvPr id="4" name="TextBox 4">
            <a:extLst>
              <a:ext uri="{FF2B5EF4-FFF2-40B4-BE49-F238E27FC236}">
                <a16:creationId xmlns:a16="http://schemas.microsoft.com/office/drawing/2014/main" id="{CA1129DF-8784-4BC6-9571-0E4834CAC754}"/>
              </a:ext>
            </a:extLst>
          </p:cNvPr>
          <p:cNvSpPr txBox="1"/>
          <p:nvPr/>
        </p:nvSpPr>
        <p:spPr>
          <a:xfrm>
            <a:off x="762000" y="1257300"/>
            <a:ext cx="6096000" cy="228600"/>
          </a:xfrm>
        </p:spPr>
        <p:txBody>
          <a:bodyPr wrap="square" rtlCol="0" lIns="0" tIns="0" rIns="0" bIns="0" anchor="t"/>
          <a:lstStyle/>
          <a:p>
            <a:pPr algn="l"/>
            <a:r>
              <a:rPr sz="1200">
                <a:solidFill>
                  <a:srgbClr val="B8D4DC"/>
                </a:solidFill>
              </a:rPr>
              <a:t>ETUDE DE CAS · ANALYSE FONCTIONNELLE · BANQUE ELYSSA (CAS FICTIF)</a:t>
            </a:r>
          </a:p>
        </p:txBody>
      </p:sp>
      <p:sp>
        <p:nvSpPr>
          <p:cNvPr id="5" name="TextBox 5">
            <a:extLst>
              <a:ext uri="{FF2B5EF4-FFF2-40B4-BE49-F238E27FC236}">
                <a16:creationId xmlns:a16="http://schemas.microsoft.com/office/drawing/2014/main" id="{967A8076-A1B2-4C2A-8063-E55353139946}"/>
              </a:ext>
            </a:extLst>
          </p:cNvPr>
          <p:cNvSpPr txBox="1"/>
          <p:nvPr/>
        </p:nvSpPr>
        <p:spPr>
          <a:xfrm>
            <a:off x="762000" y="1695450"/>
            <a:ext cx="7429500" cy="590550"/>
          </a:xfrm>
        </p:spPr>
        <p:txBody>
          <a:bodyPr wrap="square" rtlCol="0" lIns="0" tIns="0" rIns="0" bIns="0" anchor="t"/>
          <a:lstStyle/>
          <a:p>
            <a:pPr algn="l"/>
            <a:r>
              <a:rPr sz="3400" b="1">
                <a:solidFill>
                  <a:srgbClr val="FFFFFF"/>
                </a:solidFill>
              </a:rPr>
              <a:t>Digitaliser la demande de crédit</a:t>
            </a:r>
          </a:p>
        </p:txBody>
      </p:sp>
      <p:sp>
        <p:nvSpPr>
          <p:cNvPr id="6" name="TextBox 6">
            <a:extLst>
              <a:ext uri="{FF2B5EF4-FFF2-40B4-BE49-F238E27FC236}">
                <a16:creationId xmlns:a16="http://schemas.microsoft.com/office/drawing/2014/main" id="{26767E7E-FCC1-4856-AC69-D2FAF34A5E2E}"/>
              </a:ext>
            </a:extLst>
          </p:cNvPr>
          <p:cNvSpPr txBox="1"/>
          <p:nvPr/>
        </p:nvSpPr>
        <p:spPr>
          <a:xfrm>
            <a:off x="762000" y="2457450"/>
            <a:ext cx="5715000" cy="508254"/>
          </a:xfrm>
        </p:spPr>
        <p:txBody>
          <a:bodyPr wrap="square" rtlCol="0" lIns="0" tIns="0" rIns="0" bIns="0" anchor="t"/>
          <a:lstStyle/>
          <a:p>
            <a:pPr algn="l">
              <a:lnSpc>
                <a:spcPct val="115000"/>
              </a:lnSpc>
            </a:pPr>
            <a:r>
              <a:rPr sz="1450">
                <a:solidFill>
                  <a:srgbClr val="D8E6EA"/>
                </a:solidFill>
              </a:rPr>
              <a:t>Analyse, chiffrage et recommandations — du dossier papier sans suivi au dossier unique digital traçable</a:t>
            </a:r>
          </a:p>
        </p:txBody>
      </p:sp>
      <p:sp>
        <p:nvSpPr>
          <p:cNvPr id="7" name="Shape 7">
            <a:extLst>
              <a:ext uri="{FF2B5EF4-FFF2-40B4-BE49-F238E27FC236}">
                <a16:creationId xmlns:a16="http://schemas.microsoft.com/office/drawing/2014/main" id="{7AA3799A-888C-4904-8EB8-15DC69DF948A}"/>
              </a:ext>
            </a:extLst>
          </p:cNvPr>
          <p:cNvSpPr/>
          <p:nvPr/>
        </p:nvSpPr>
        <p:spPr>
          <a:xfrm>
            <a:off x="7905750" y="1257300"/>
            <a:ext cx="3429000" cy="1104900"/>
          </a:xfrm>
          <a:prstGeom prst="roundRect">
            <a:avLst/>
          </a:prstGeom>
          <a:solidFill>
            <a:srgbClr val="F7F2E7"/>
          </a:solidFill>
        </p:spPr>
        <p:txBody>
          <a:bodyPr wrap="square" rtlCol="0"/>
          <a:lstStyle/>
          <a:p>
            <a:r>
              <a:rPr/>
              <a:t/>
            </a:r>
          </a:p>
        </p:txBody>
      </p:sp>
      <p:sp>
        <p:nvSpPr>
          <p:cNvPr id="8" name="TextBox 8">
            <a:extLst>
              <a:ext uri="{FF2B5EF4-FFF2-40B4-BE49-F238E27FC236}">
                <a16:creationId xmlns:a16="http://schemas.microsoft.com/office/drawing/2014/main" id="{B7A4C2AC-0654-472A-96B9-0E00D129EED3}"/>
              </a:ext>
            </a:extLst>
          </p:cNvPr>
          <p:cNvSpPr txBox="1"/>
          <p:nvPr/>
        </p:nvSpPr>
        <p:spPr>
          <a:xfrm>
            <a:off x="8115300" y="1428750"/>
            <a:ext cx="3048000" cy="876300"/>
          </a:xfrm>
        </p:spPr>
        <p:txBody>
          <a:bodyPr wrap="square" rtlCol="0" lIns="0" tIns="0" rIns="0" bIns="0" anchor="t"/>
          <a:lstStyle/>
          <a:p>
            <a:pPr algn="l"/>
            <a:r>
              <a:rPr sz="2800" b="1">
                <a:solidFill>
                  <a:srgbClr val="1F4E5F"/>
                </a:solidFill>
              </a:rPr>
              <a:t>12 → 5 jours</a:t>
            </a:r>
          </a:p>
          <a:p>
            <a:pPr algn="l"/>
            <a:r>
              <a:rPr sz="1300" b="1">
                <a:solidFill>
                  <a:srgbClr val="243B45"/>
                </a:solidFill>
              </a:rPr>
              <a:t>Délai cible de décision</a:t>
            </a:r>
          </a:p>
          <a:p>
            <a:pPr algn="l"/>
            <a:r>
              <a:rPr sz="1150">
                <a:solidFill>
                  <a:srgbClr val="6B7C82"/>
                </a:solidFill>
              </a:rPr>
              <a:t>Objectif O1 — traitement initial ≤ 48 h</a:t>
            </a:r>
          </a:p>
        </p:txBody>
      </p:sp>
      <p:sp>
        <p:nvSpPr>
          <p:cNvPr id="9" name="Shape 9">
            <a:extLst>
              <a:ext uri="{FF2B5EF4-FFF2-40B4-BE49-F238E27FC236}">
                <a16:creationId xmlns:a16="http://schemas.microsoft.com/office/drawing/2014/main" id="{44BBF33B-1881-4C0C-A999-97A4BC877525}"/>
              </a:ext>
            </a:extLst>
          </p:cNvPr>
          <p:cNvSpPr/>
          <p:nvPr/>
        </p:nvSpPr>
        <p:spPr>
          <a:xfrm>
            <a:off x="7905750" y="2552700"/>
            <a:ext cx="3429000" cy="1104900"/>
          </a:xfrm>
          <a:prstGeom prst="roundRect">
            <a:avLst/>
          </a:prstGeom>
          <a:solidFill>
            <a:srgbClr val="F7F2E7"/>
          </a:solidFill>
        </p:spPr>
        <p:txBody>
          <a:bodyPr wrap="square" rtlCol="0"/>
          <a:lstStyle/>
          <a:p>
            <a:r>
              <a:rPr/>
              <a:t/>
            </a:r>
          </a:p>
        </p:txBody>
      </p:sp>
      <p:sp>
        <p:nvSpPr>
          <p:cNvPr id="10" name="TextBox 10">
            <a:extLst>
              <a:ext uri="{FF2B5EF4-FFF2-40B4-BE49-F238E27FC236}">
                <a16:creationId xmlns:a16="http://schemas.microsoft.com/office/drawing/2014/main" id="{753339ED-B109-459B-985C-C483A87B60EC}"/>
              </a:ext>
            </a:extLst>
          </p:cNvPr>
          <p:cNvSpPr txBox="1"/>
          <p:nvPr/>
        </p:nvSpPr>
        <p:spPr>
          <a:xfrm>
            <a:off x="8115300" y="2724150"/>
            <a:ext cx="3048000" cy="876300"/>
          </a:xfrm>
        </p:spPr>
        <p:txBody>
          <a:bodyPr wrap="square" rtlCol="0" lIns="0" tIns="0" rIns="0" bIns="0" anchor="t"/>
          <a:lstStyle/>
          <a:p>
            <a:pPr algn="l"/>
            <a:r>
              <a:rPr sz="2800" b="1">
                <a:solidFill>
                  <a:srgbClr val="1F4E5F"/>
                </a:solidFill>
              </a:rPr>
              <a:t>≈ 325 h / semaine</a:t>
            </a:r>
          </a:p>
          <a:p>
            <a:pPr algn="l"/>
            <a:r>
              <a:rPr sz="1300" b="1">
                <a:solidFill>
                  <a:srgbClr val="243B45"/>
                </a:solidFill>
              </a:rPr>
              <a:t>Productivité récupérée</a:t>
            </a:r>
          </a:p>
          <a:p>
            <a:pPr algn="l"/>
            <a:r>
              <a:rPr sz="1150">
                <a:solidFill>
                  <a:srgbClr val="6B7C82"/>
                </a:solidFill>
              </a:rPr>
              <a:t>Double saisie, historique, appels de suivi</a:t>
            </a:r>
          </a:p>
        </p:txBody>
      </p:sp>
      <p:sp>
        <p:nvSpPr>
          <p:cNvPr id="11" name="Shape 11">
            <a:extLst>
              <a:ext uri="{FF2B5EF4-FFF2-40B4-BE49-F238E27FC236}">
                <a16:creationId xmlns:a16="http://schemas.microsoft.com/office/drawing/2014/main" id="{45E07793-6858-476E-B59B-9B25030DA71D}"/>
              </a:ext>
            </a:extLst>
          </p:cNvPr>
          <p:cNvSpPr/>
          <p:nvPr/>
        </p:nvSpPr>
        <p:spPr>
          <a:xfrm>
            <a:off x="7905750" y="3848100"/>
            <a:ext cx="3429000" cy="1104900"/>
          </a:xfrm>
          <a:prstGeom prst="roundRect">
            <a:avLst/>
          </a:prstGeom>
          <a:solidFill>
            <a:srgbClr val="F7F2E7"/>
          </a:solidFill>
        </p:spPr>
        <p:txBody>
          <a:bodyPr wrap="square" rtlCol="0"/>
          <a:lstStyle/>
          <a:p>
            <a:r>
              <a:rPr/>
              <a:t/>
            </a:r>
          </a:p>
        </p:txBody>
      </p:sp>
      <p:sp>
        <p:nvSpPr>
          <p:cNvPr id="12" name="TextBox 12">
            <a:extLst>
              <a:ext uri="{FF2B5EF4-FFF2-40B4-BE49-F238E27FC236}">
                <a16:creationId xmlns:a16="http://schemas.microsoft.com/office/drawing/2014/main" id="{059CDF19-DAD7-4C03-8651-7CBDF0E7B621}"/>
              </a:ext>
            </a:extLst>
          </p:cNvPr>
          <p:cNvSpPr txBox="1"/>
          <p:nvPr/>
        </p:nvSpPr>
        <p:spPr>
          <a:xfrm>
            <a:off x="8115300" y="4019550"/>
            <a:ext cx="3048000" cy="876300"/>
          </a:xfrm>
        </p:spPr>
        <p:txBody>
          <a:bodyPr wrap="square" rtlCol="0" lIns="0" tIns="0" rIns="0" bIns="0" anchor="t"/>
          <a:lstStyle/>
          <a:p>
            <a:pPr algn="l"/>
            <a:r>
              <a:rPr sz="2800" b="1">
                <a:solidFill>
                  <a:srgbClr val="1F4E5F"/>
                </a:solidFill>
              </a:rPr>
              <a:t>390 000 DT / an</a:t>
            </a:r>
          </a:p>
          <a:p>
            <a:pPr algn="l"/>
            <a:r>
              <a:rPr sz="1300" b="1">
                <a:solidFill>
                  <a:srgbClr val="243B45"/>
                </a:solidFill>
              </a:rPr>
              <a:t>Gains à pleine vitesse</a:t>
            </a:r>
          </a:p>
          <a:p>
            <a:pPr algn="l"/>
            <a:r>
              <a:rPr sz="1150">
                <a:solidFill>
                  <a:srgbClr val="6B7C82"/>
                </a:solidFill>
              </a:rPr>
              <a:t>Hypothèse prudente : 25 DT/h, récupération ~78 %</a:t>
            </a:r>
          </a:p>
        </p:txBody>
      </p:sp>
      <p:sp>
        <p:nvSpPr>
          <p:cNvPr id="13" name="TextBox 13">
            <a:extLst>
              <a:ext uri="{FF2B5EF4-FFF2-40B4-BE49-F238E27FC236}">
                <a16:creationId xmlns:a16="http://schemas.microsoft.com/office/drawing/2014/main" id="{AC12793A-C6B5-4C16-9B80-FFEF287CE95F}"/>
              </a:ext>
            </a:extLst>
          </p:cNvPr>
          <p:cNvSpPr txBox="1"/>
          <p:nvPr/>
        </p:nvSpPr>
        <p:spPr>
          <a:xfrm>
            <a:off x="762000" y="5619750"/>
            <a:ext cx="4762500" cy="457200"/>
          </a:xfrm>
        </p:spPr>
        <p:txBody>
          <a:bodyPr wrap="square" rtlCol="0" lIns="0" tIns="0" rIns="0" bIns="0" anchor="t"/>
          <a:lstStyle/>
          <a:p>
            <a:pPr algn="l"/>
            <a:r>
              <a:rPr sz="1300" b="1">
                <a:solidFill>
                  <a:srgbClr val="FFFFFF"/>
                </a:solidFill>
              </a:rPr>
              <a:t>Eya Kanzari — Analyste fonctionnelle</a:t>
            </a:r>
          </a:p>
          <a:p>
            <a:pPr algn="l"/>
            <a:r>
              <a:rPr sz="1150">
                <a:solidFill>
                  <a:srgbClr val="B8D4DC"/>
                </a:solidFill>
              </a:rPr>
              <a:t>Master 2 · Projet/portfolio · Banque Elyssa (cas fictif)</a:t>
            </a:r>
          </a:p>
        </p:txBody>
      </p:sp>
      <p:sp>
        <p:nvSpPr>
          <p:cNvPr id="14" name="TextBox 14">
            <a:extLst>
              <a:ext uri="{FF2B5EF4-FFF2-40B4-BE49-F238E27FC236}">
                <a16:creationId xmlns:a16="http://schemas.microsoft.com/office/drawing/2014/main" id="{595219FE-38EA-4ECA-BA53-FB18DCC27782}"/>
              </a:ext>
            </a:extLst>
          </p:cNvPr>
          <p:cNvSpPr txBox="1"/>
          <p:nvPr/>
        </p:nvSpPr>
        <p:spPr>
          <a:xfrm>
            <a:off x="8286750" y="5715000"/>
            <a:ext cx="3048000" cy="209550"/>
          </a:xfrm>
        </p:spPr>
        <p:txBody>
          <a:bodyPr wrap="square" rtlCol="0" lIns="0" tIns="0" rIns="0" bIns="0" anchor="t"/>
          <a:lstStyle/>
          <a:p>
            <a:pPr algn="r"/>
            <a:r>
              <a:rPr sz="1200">
                <a:solidFill>
                  <a:srgbClr val="B8D4DC"/>
                </a:solidFill>
              </a:rPr>
              <a:t>20 novembre 2026 · v2.0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04B7ECF3-A2DC-4F0E-9AD1-2858B35A4D2F}"/>
              </a:ext>
            </a:extLst>
          </p:cNvPr>
          <p:cNvSpPr txBox="1"/>
          <p:nvPr/>
        </p:nvSpPr>
        <p:spPr>
          <a:xfrm>
            <a:off x="571500" y="304800"/>
            <a:ext cx="3810000" cy="209550"/>
          </a:xfrm>
        </p:spPr>
        <p:txBody>
          <a:bodyPr wrap="square" rtlCol="0" lIns="0" tIns="0" rIns="0" bIns="0" anchor="t"/>
          <a:lstStyle/>
          <a:p>
            <a:r>
              <a:rPr sz="1100" b="1">
                <a:solidFill>
                  <a:srgbClr val="2E7D8C"/>
                </a:solidFill>
              </a:rPr>
              <a:t>SYNTHESE MANAGERIALE</a:t>
            </a:r>
          </a:p>
        </p:txBody>
      </p:sp>
      <p:sp>
        <p:nvSpPr>
          <p:cNvPr id="4" name="TextBox 4">
            <a:extLst>
              <a:ext uri="{FF2B5EF4-FFF2-40B4-BE49-F238E27FC236}">
                <a16:creationId xmlns:a16="http://schemas.microsoft.com/office/drawing/2014/main" id="{FEEBD8D1-6300-4D61-94BF-CEADB98FE030}"/>
              </a:ext>
            </a:extLst>
          </p:cNvPr>
          <p:cNvSpPr txBox="1"/>
          <p:nvPr/>
        </p:nvSpPr>
        <p:spPr>
          <a:xfrm>
            <a:off x="571500" y="590550"/>
            <a:ext cx="11049000" cy="762000"/>
          </a:xfrm>
        </p:spPr>
        <p:txBody>
          <a:bodyPr wrap="square" rtlCol="0" lIns="0" tIns="0" rIns="0" bIns="0" anchor="t"/>
          <a:lstStyle/>
          <a:p>
            <a:r>
              <a:rPr sz="2500" b="1">
                <a:solidFill>
                  <a:srgbClr val="243B45"/>
                </a:solidFill>
              </a:rPr>
              <a:t>Approuver le MVP « canal + complétude » : il concentre l'essentiel des gains et le risque réglementaire</a:t>
            </a:r>
          </a:p>
        </p:txBody>
      </p:sp>
      <p:sp>
        <p:nvSpPr>
          <p:cNvPr id="5" name="Shape 5">
            <a:extLst>
              <a:ext uri="{FF2B5EF4-FFF2-40B4-BE49-F238E27FC236}">
                <a16:creationId xmlns:a16="http://schemas.microsoft.com/office/drawing/2014/main" id="{F0B9A0AD-F8A9-46FE-8D46-FF191264C61C}"/>
              </a:ext>
            </a:extLst>
          </p:cNvPr>
          <p:cNvSpPr/>
          <p:nvPr/>
        </p:nvSpPr>
        <p:spPr>
          <a:xfrm>
            <a:off x="571500" y="1162050"/>
            <a:ext cx="3486150" cy="3257550"/>
          </a:xfrm>
          <a:prstGeom prst="roundRect">
            <a:avLst/>
          </a:prstGeom>
          <a:solidFill>
            <a:srgbClr val="F7F2E7"/>
          </a:solidFill>
        </p:spPr>
        <p:txBody>
          <a:bodyPr wrap="square" rtlCol="0"/>
          <a:lstStyle/>
          <a:p>
            <a:r>
              <a:rPr/>
              <a:t/>
            </a:r>
          </a:p>
        </p:txBody>
      </p:sp>
      <p:sp>
        <p:nvSpPr>
          <p:cNvPr id="6" name="Shape 6">
            <a:extLst>
              <a:ext uri="{FF2B5EF4-FFF2-40B4-BE49-F238E27FC236}">
                <a16:creationId xmlns:a16="http://schemas.microsoft.com/office/drawing/2014/main" id="{140BE3D9-97A1-4A45-9FAC-CEB4FEB5649F}"/>
              </a:ext>
            </a:extLst>
          </p:cNvPr>
          <p:cNvSpPr/>
          <p:nvPr/>
        </p:nvSpPr>
        <p:spPr>
          <a:xfrm>
            <a:off x="4352925" y="1162050"/>
            <a:ext cx="3486150" cy="3257550"/>
          </a:xfrm>
          <a:prstGeom prst="roundRect">
            <a:avLst/>
          </a:prstGeom>
          <a:solidFill>
            <a:srgbClr val="F7F2E7"/>
          </a:solidFill>
        </p:spPr>
        <p:txBody>
          <a:bodyPr wrap="square" rtlCol="0"/>
          <a:lstStyle/>
          <a:p>
            <a:r>
              <a:rPr/>
              <a:t/>
            </a:r>
          </a:p>
        </p:txBody>
      </p:sp>
      <p:sp>
        <p:nvSpPr>
          <p:cNvPr id="7" name="Shape 7">
            <a:extLst>
              <a:ext uri="{FF2B5EF4-FFF2-40B4-BE49-F238E27FC236}">
                <a16:creationId xmlns:a16="http://schemas.microsoft.com/office/drawing/2014/main" id="{9A9A198D-308A-4A7D-A526-96D480F33C49}"/>
              </a:ext>
            </a:extLst>
          </p:cNvPr>
          <p:cNvSpPr/>
          <p:nvPr/>
        </p:nvSpPr>
        <p:spPr>
          <a:xfrm>
            <a:off x="8134350" y="1162050"/>
            <a:ext cx="3486150" cy="3257550"/>
          </a:xfrm>
          <a:prstGeom prst="roundRect">
            <a:avLst/>
          </a:prstGeom>
          <a:solidFill>
            <a:srgbClr val="F7F2E7"/>
          </a:solidFill>
        </p:spPr>
        <p:txBody>
          <a:bodyPr wrap="square" rtlCol="0"/>
          <a:lstStyle/>
          <a:p>
            <a:r>
              <a:rPr/>
              <a:t/>
            </a:r>
          </a:p>
        </p:txBody>
      </p:sp>
      <p:sp>
        <p:nvSpPr>
          <p:cNvPr id="8" name="TextBox 8">
            <a:extLst>
              <a:ext uri="{FF2B5EF4-FFF2-40B4-BE49-F238E27FC236}">
                <a16:creationId xmlns:a16="http://schemas.microsoft.com/office/drawing/2014/main" id="{A94468BE-BA32-4713-8162-89111D7D4373}"/>
              </a:ext>
            </a:extLst>
          </p:cNvPr>
          <p:cNvSpPr txBox="1"/>
          <p:nvPr/>
        </p:nvSpPr>
        <p:spPr>
          <a:xfrm>
            <a:off x="781050" y="1352550"/>
            <a:ext cx="2857500" cy="228600"/>
          </a:xfrm>
        </p:spPr>
        <p:txBody>
          <a:bodyPr wrap="square" rtlCol="0" lIns="0" tIns="0" rIns="0" bIns="0" anchor="t"/>
          <a:lstStyle/>
          <a:p>
            <a:r>
              <a:rPr sz="1300" b="1">
                <a:solidFill>
                  <a:srgbClr val="2E7D8C"/>
                </a:solidFill>
              </a:rPr>
              <a:t>1 · DIAGNOSTIC</a:t>
            </a:r>
          </a:p>
        </p:txBody>
      </p:sp>
      <p:sp>
        <p:nvSpPr>
          <p:cNvPr id="9" name="TextBox 9">
            <a:extLst>
              <a:ext uri="{FF2B5EF4-FFF2-40B4-BE49-F238E27FC236}">
                <a16:creationId xmlns:a16="http://schemas.microsoft.com/office/drawing/2014/main" id="{5E1B4F44-0306-47C4-AF0A-F04AFFE45757}"/>
              </a:ext>
            </a:extLst>
          </p:cNvPr>
          <p:cNvSpPr txBox="1"/>
          <p:nvPr/>
        </p:nvSpPr>
        <p:spPr>
          <a:xfrm>
            <a:off x="781050" y="1657350"/>
            <a:ext cx="3067050" cy="2667000"/>
          </a:xfrm>
        </p:spPr>
        <p:txBody>
          <a:bodyPr wrap="square" rtlCol="0" lIns="0" tIns="0" rIns="0" bIns="0" anchor="t"/>
          <a:lstStyle/>
          <a:p>
            <a:pPr>
              <a:lnSpc>
                <a:spcPct val="112000"/>
              </a:lnSpc>
            </a:pPr>
            <a:r>
              <a:rPr sz="1200">
                <a:solidFill>
                  <a:srgbClr val="243B45"/>
                </a:solidFill>
              </a:rPr>
              <a:t>— 100 % papier : 480 demandes/semaine, 12 jours ouvrés de délai moyen, 35 % de dossiers incomplets au siège.</a:t>
            </a:r>
          </a:p>
          <a:p>
            <a:pPr>
              <a:lnSpc>
                <a:spcPct val="112000"/>
              </a:lnSpc>
              <a:spcAft>
                <a:spcPts val="800"/>
              </a:spcAft>
            </a:pPr>
            <a:r>
              <a:rPr sz="1200">
                <a:solidFill>
                  <a:srgbClr val="243B45"/>
                </a:solidFill>
              </a:rPr>
              <a:t>— Le même dossier est saisi 3 fois ; ~960 heures par semaine perdues en double saisie, recherche d'historique et appels de suivi.</a:t>
            </a:r>
          </a:p>
          <a:p>
            <a:pPr>
              <a:lnSpc>
                <a:spcPct val="112000"/>
              </a:lnSpc>
              <a:spcAft>
                <a:spcPts val="800"/>
              </a:spcAft>
            </a:pPr>
            <a:r>
              <a:rPr sz="1200">
                <a:solidFill>
                  <a:srgbClr val="243B45"/>
                </a:solidFill>
              </a:rPr>
              <a:t>— Aucune trace inviolable des décisions : risque réglementaire direct (D7), aucune visibilité pour le client.</a:t>
            </a:r>
          </a:p>
        </p:txBody>
      </p:sp>
      <p:sp>
        <p:nvSpPr>
          <p:cNvPr id="10" name="TextBox 10">
            <a:extLst>
              <a:ext uri="{FF2B5EF4-FFF2-40B4-BE49-F238E27FC236}">
                <a16:creationId xmlns:a16="http://schemas.microsoft.com/office/drawing/2014/main" id="{76C8C149-2279-4934-8976-B55462960E6E}"/>
              </a:ext>
            </a:extLst>
          </p:cNvPr>
          <p:cNvSpPr txBox="1"/>
          <p:nvPr/>
        </p:nvSpPr>
        <p:spPr>
          <a:xfrm>
            <a:off x="4562475" y="1352550"/>
            <a:ext cx="2857500" cy="228600"/>
          </a:xfrm>
        </p:spPr>
        <p:txBody>
          <a:bodyPr wrap="square" rtlCol="0" lIns="0" tIns="0" rIns="0" bIns="0" anchor="t"/>
          <a:lstStyle/>
          <a:p>
            <a:r>
              <a:rPr sz="1300" b="1">
                <a:solidFill>
                  <a:srgbClr val="2E7D8C"/>
                </a:solidFill>
              </a:rPr>
              <a:t>2 · RECOMMANDATION</a:t>
            </a:r>
          </a:p>
        </p:txBody>
      </p:sp>
      <p:sp>
        <p:nvSpPr>
          <p:cNvPr id="11" name="TextBox 11">
            <a:extLst>
              <a:ext uri="{FF2B5EF4-FFF2-40B4-BE49-F238E27FC236}">
                <a16:creationId xmlns:a16="http://schemas.microsoft.com/office/drawing/2014/main" id="{5A80876B-5627-4D0E-A9C5-340FC4D43BE3}"/>
              </a:ext>
            </a:extLst>
          </p:cNvPr>
          <p:cNvSpPr txBox="1"/>
          <p:nvPr/>
        </p:nvSpPr>
        <p:spPr>
          <a:xfrm>
            <a:off x="4562475" y="1657350"/>
            <a:ext cx="3067050" cy="2667000"/>
          </a:xfrm>
        </p:spPr>
        <p:txBody>
          <a:bodyPr wrap="square" rtlCol="0" lIns="0" tIns="0" rIns="0" bIns="0" anchor="t"/>
          <a:lstStyle/>
          <a:p>
            <a:pPr>
              <a:lnSpc>
                <a:spcPct val="112000"/>
              </a:lnSpc>
              <a:spcAft>
                <a:spcPts val="800"/>
              </a:spcAft>
            </a:pPr>
            <a:r>
              <a:rPr sz="1200">
                <a:solidFill>
                  <a:srgbClr val="243B45"/>
                </a:solidFill>
              </a:rPr>
              <a:t>— Dossier unique digital : dépôt web ou assisté en agence, contrôle bloquant des pièces avant soumission, suivi en ligne, instruction et décision outillées.</a:t>
            </a:r>
          </a:p>
          <a:p>
            <a:pPr>
              <a:lnSpc>
                <a:spcPct val="112000"/>
              </a:lnSpc>
              <a:spcAft>
                <a:spcPts val="800"/>
              </a:spcAft>
            </a:pPr>
            <a:r>
              <a:rPr sz="1200">
                <a:solidFill>
                  <a:srgbClr val="243B45"/>
                </a:solidFill>
              </a:rPr>
              <a:t>— Investissement 610 000 DT + 135 000 DT/an ; gains ≈ 390 000 DT/an de productivité à pleine vitesse ; retour sur ≈ 3 ans, hors gains stratégiques.</a:t>
            </a:r>
          </a:p>
          <a:p>
            <a:pPr>
              <a:lnSpc>
                <a:spcPct val="112000"/>
              </a:lnSpc>
              <a:spcAft>
                <a:spcPts val="800"/>
              </a:spcAft>
            </a:pPr>
            <a:r>
              <a:rPr sz="1200">
                <a:solidFill>
                  <a:srgbClr val="243B45"/>
                </a:solidFill>
              </a:rPr>
              <a:t>— Séquence : MVP canal + complétude (Sprint 1), puis suivi, instruction, pilotage.</a:t>
            </a:r>
          </a:p>
        </p:txBody>
      </p:sp>
      <p:sp>
        <p:nvSpPr>
          <p:cNvPr id="12" name="TextBox 12">
            <a:extLst>
              <a:ext uri="{FF2B5EF4-FFF2-40B4-BE49-F238E27FC236}">
                <a16:creationId xmlns:a16="http://schemas.microsoft.com/office/drawing/2014/main" id="{D8F5D23A-FC42-4BB1-A5EA-F7F44DAF5A5D}"/>
              </a:ext>
            </a:extLst>
          </p:cNvPr>
          <p:cNvSpPr txBox="1"/>
          <p:nvPr/>
        </p:nvSpPr>
        <p:spPr>
          <a:xfrm>
            <a:off x="8343900" y="1352550"/>
            <a:ext cx="3048000" cy="228600"/>
          </a:xfrm>
        </p:spPr>
        <p:txBody>
          <a:bodyPr wrap="square" rtlCol="0" lIns="0" tIns="0" rIns="0" bIns="0" anchor="t"/>
          <a:lstStyle/>
          <a:p>
            <a:r>
              <a:rPr sz="1300" b="1">
                <a:solidFill>
                  <a:srgbClr val="2E7D8C"/>
                </a:solidFill>
              </a:rPr>
              <a:t>3 · DECISIONS ATTENDUES</a:t>
            </a:r>
          </a:p>
        </p:txBody>
      </p:sp>
      <p:sp>
        <p:nvSpPr>
          <p:cNvPr id="13" name="TextBox 13">
            <a:extLst>
              <a:ext uri="{FF2B5EF4-FFF2-40B4-BE49-F238E27FC236}">
                <a16:creationId xmlns:a16="http://schemas.microsoft.com/office/drawing/2014/main" id="{103A6665-20C9-468F-81D2-7873057C1BD9}"/>
              </a:ext>
            </a:extLst>
          </p:cNvPr>
          <p:cNvSpPr txBox="1"/>
          <p:nvPr/>
        </p:nvSpPr>
        <p:spPr>
          <a:xfrm>
            <a:off x="8343900" y="1657350"/>
            <a:ext cx="3067050" cy="2667000"/>
          </a:xfrm>
        </p:spPr>
        <p:txBody>
          <a:bodyPr wrap="square" rtlCol="0" lIns="0" tIns="0" rIns="0" bIns="0" anchor="t"/>
          <a:lstStyle/>
          <a:p>
            <a:pPr>
              <a:lnSpc>
                <a:spcPct val="112000"/>
              </a:lnSpc>
              <a:spcAft>
                <a:spcPts val="1000"/>
              </a:spcAft>
            </a:pPr>
            <a:r>
              <a:rPr sz="1200">
                <a:solidFill>
                  <a:srgbClr val="243B45"/>
                </a:solidFill>
              </a:rPr>
              <a:t>— Budget : enveloppe de 610 000 DT et calendrier 6 mois.</a:t>
            </a:r>
          </a:p>
          <a:p>
            <a:pPr>
              <a:lnSpc>
                <a:spcPct val="112000"/>
              </a:lnSpc>
              <a:spcAft>
                <a:spcPts val="1000"/>
              </a:spcAft>
            </a:pPr>
            <a:r>
              <a:rPr sz="1200">
                <a:solidFill>
                  <a:srgbClr val="243B45"/>
                </a:solidFill>
              </a:rPr>
              <a:t>— Périmètre : validation du backlog MoSCoW, toute demande hors MoSCoW passe par arbitrage sponsor.</a:t>
            </a:r>
          </a:p>
          <a:p>
            <a:pPr>
              <a:lnSpc>
                <a:spcPct val="112000"/>
              </a:lnSpc>
              <a:spcAft>
                <a:spcPts val="1000"/>
              </a:spcAft>
            </a:pPr>
            <a:r>
              <a:rPr sz="1200">
                <a:solidFill>
                  <a:srgbClr val="243B45"/>
                </a:solidFill>
              </a:rPr>
              <a:t>— Gouvernance : sponsor unique (N. Jelassi), revue mensuelle des indicateurs O1–O4.</a:t>
            </a:r>
          </a:p>
        </p:txBody>
      </p:sp>
      <p:sp>
        <p:nvSpPr>
          <p:cNvPr id="14" name="Shape 14">
            <a:extLst>
              <a:ext uri="{FF2B5EF4-FFF2-40B4-BE49-F238E27FC236}">
                <a16:creationId xmlns:a16="http://schemas.microsoft.com/office/drawing/2014/main" id="{ACCFE9DA-CCEC-4EBB-8E70-EF012BD8232B}"/>
              </a:ext>
            </a:extLst>
          </p:cNvPr>
          <p:cNvSpPr/>
          <p:nvPr/>
        </p:nvSpPr>
        <p:spPr>
          <a:xfrm>
            <a:off x="571500" y="4762500"/>
            <a:ext cx="2619375" cy="838200"/>
          </a:xfrm>
          <a:prstGeom prst="roundRect">
            <a:avLst/>
          </a:prstGeom>
          <a:solidFill>
            <a:srgbClr val="EAF3F5"/>
          </a:solidFill>
        </p:spPr>
        <p:txBody>
          <a:bodyPr wrap="square" rtlCol="0"/>
          <a:lstStyle/>
          <a:p>
            <a:r>
              <a:rPr/>
              <a:t/>
            </a:r>
          </a:p>
        </p:txBody>
      </p:sp>
      <p:sp>
        <p:nvSpPr>
          <p:cNvPr id="15" name="Shape 15">
            <a:extLst>
              <a:ext uri="{FF2B5EF4-FFF2-40B4-BE49-F238E27FC236}">
                <a16:creationId xmlns:a16="http://schemas.microsoft.com/office/drawing/2014/main" id="{B6D4B280-3F35-43C8-9E19-41D8C9407C70}"/>
              </a:ext>
            </a:extLst>
          </p:cNvPr>
          <p:cNvSpPr/>
          <p:nvPr/>
        </p:nvSpPr>
        <p:spPr>
          <a:xfrm>
            <a:off x="3381375" y="4762500"/>
            <a:ext cx="2619375" cy="838200"/>
          </a:xfrm>
          <a:prstGeom prst="roundRect">
            <a:avLst/>
          </a:prstGeom>
          <a:solidFill>
            <a:srgbClr val="EAF3F5"/>
          </a:solidFill>
        </p:spPr>
        <p:txBody>
          <a:bodyPr wrap="square" rtlCol="0"/>
          <a:lstStyle/>
          <a:p>
            <a:r>
              <a:rPr/>
              <a:t/>
            </a:r>
          </a:p>
        </p:txBody>
      </p:sp>
      <p:sp>
        <p:nvSpPr>
          <p:cNvPr id="16" name="Shape 16">
            <a:extLst>
              <a:ext uri="{FF2B5EF4-FFF2-40B4-BE49-F238E27FC236}">
                <a16:creationId xmlns:a16="http://schemas.microsoft.com/office/drawing/2014/main" id="{F13F877B-88D6-41EA-9FEB-36312B02E6B6}"/>
              </a:ext>
            </a:extLst>
          </p:cNvPr>
          <p:cNvSpPr/>
          <p:nvPr/>
        </p:nvSpPr>
        <p:spPr>
          <a:xfrm>
            <a:off x="6191250" y="4762500"/>
            <a:ext cx="2619375" cy="838200"/>
          </a:xfrm>
          <a:prstGeom prst="roundRect">
            <a:avLst/>
          </a:prstGeom>
          <a:solidFill>
            <a:srgbClr val="EAF3F5"/>
          </a:solidFill>
        </p:spPr>
        <p:txBody>
          <a:bodyPr wrap="square" rtlCol="0"/>
          <a:lstStyle/>
          <a:p>
            <a:r>
              <a:rPr/>
              <a:t/>
            </a:r>
          </a:p>
        </p:txBody>
      </p:sp>
      <p:sp>
        <p:nvSpPr>
          <p:cNvPr id="17" name="Shape 17">
            <a:extLst>
              <a:ext uri="{FF2B5EF4-FFF2-40B4-BE49-F238E27FC236}">
                <a16:creationId xmlns:a16="http://schemas.microsoft.com/office/drawing/2014/main" id="{F040E4D1-50B7-48AF-AD74-5AFA70EE01E0}"/>
              </a:ext>
            </a:extLst>
          </p:cNvPr>
          <p:cNvSpPr/>
          <p:nvPr/>
        </p:nvSpPr>
        <p:spPr>
          <a:xfrm>
            <a:off x="9001125" y="4762500"/>
            <a:ext cx="2619375" cy="838200"/>
          </a:xfrm>
          <a:prstGeom prst="roundRect">
            <a:avLst/>
          </a:prstGeom>
          <a:solidFill>
            <a:srgbClr val="EAF3F5"/>
          </a:solidFill>
        </p:spPr>
        <p:txBody>
          <a:bodyPr wrap="square" rtlCol="0"/>
          <a:lstStyle/>
          <a:p>
            <a:r>
              <a:rPr/>
              <a:t/>
            </a:r>
          </a:p>
        </p:txBody>
      </p:sp>
      <p:sp>
        <p:nvSpPr>
          <p:cNvPr id="18" name="TextBox 18">
            <a:extLst>
              <a:ext uri="{FF2B5EF4-FFF2-40B4-BE49-F238E27FC236}">
                <a16:creationId xmlns:a16="http://schemas.microsoft.com/office/drawing/2014/main" id="{326FB59C-C787-4A86-A3AA-90889443046B}"/>
              </a:ext>
            </a:extLst>
          </p:cNvPr>
          <p:cNvSpPr txBox="1"/>
          <p:nvPr/>
        </p:nvSpPr>
        <p:spPr>
          <a:xfrm>
            <a:off x="571500" y="4895850"/>
            <a:ext cx="2619375" cy="304800"/>
          </a:xfrm>
        </p:spPr>
        <p:txBody>
          <a:bodyPr wrap="square" rtlCol="0" lIns="0" tIns="0" rIns="0" bIns="0" anchor="t"/>
          <a:lstStyle/>
          <a:p>
            <a:pPr algn="ctr"/>
            <a:r>
              <a:rPr sz="2000" b="1">
                <a:solidFill>
                  <a:srgbClr val="2E7D8C"/>
                </a:solidFill>
              </a:rPr>
              <a:t>480 / semaine</a:t>
            </a:r>
          </a:p>
        </p:txBody>
      </p:sp>
      <p:sp>
        <p:nvSpPr>
          <p:cNvPr id="19" name="TextBox 19">
            <a:extLst>
              <a:ext uri="{FF2B5EF4-FFF2-40B4-BE49-F238E27FC236}">
                <a16:creationId xmlns:a16="http://schemas.microsoft.com/office/drawing/2014/main" id="{2AAA985A-5C38-4D8A-B1A0-8ADF9A9FB4AA}"/>
              </a:ext>
            </a:extLst>
          </p:cNvPr>
          <p:cNvSpPr txBox="1"/>
          <p:nvPr/>
        </p:nvSpPr>
        <p:spPr>
          <a:xfrm>
            <a:off x="571500" y="5257800"/>
            <a:ext cx="2619375" cy="209550"/>
          </a:xfrm>
        </p:spPr>
        <p:txBody>
          <a:bodyPr wrap="square" rtlCol="0" lIns="0" tIns="0" rIns="0" bIns="0" anchor="t"/>
          <a:lstStyle/>
          <a:p>
            <a:pPr algn="ctr"/>
            <a:r>
              <a:rPr sz="1000">
                <a:solidFill>
                  <a:srgbClr val="6B7C82"/>
                </a:solidFill>
              </a:rPr>
              <a:t>Demandes, 40 agences</a:t>
            </a:r>
          </a:p>
        </p:txBody>
      </p:sp>
      <p:sp>
        <p:nvSpPr>
          <p:cNvPr id="20" name="TextBox 20">
            <a:extLst>
              <a:ext uri="{FF2B5EF4-FFF2-40B4-BE49-F238E27FC236}">
                <a16:creationId xmlns:a16="http://schemas.microsoft.com/office/drawing/2014/main" id="{07484AB1-8C6C-451C-836C-719FBB3633E6}"/>
              </a:ext>
            </a:extLst>
          </p:cNvPr>
          <p:cNvSpPr txBox="1"/>
          <p:nvPr/>
        </p:nvSpPr>
        <p:spPr>
          <a:xfrm>
            <a:off x="3381375" y="4895850"/>
            <a:ext cx="2619375" cy="304800"/>
          </a:xfrm>
        </p:spPr>
        <p:txBody>
          <a:bodyPr wrap="square" rtlCol="0" lIns="0" tIns="0" rIns="0" bIns="0" anchor="t"/>
          <a:lstStyle/>
          <a:p>
            <a:pPr algn="ctr"/>
            <a:r>
              <a:rPr sz="2000" b="1">
                <a:solidFill>
                  <a:srgbClr val="2E7D8C"/>
                </a:solidFill>
              </a:rPr>
              <a:t>12 → 5 j</a:t>
            </a:r>
          </a:p>
        </p:txBody>
      </p:sp>
      <p:sp>
        <p:nvSpPr>
          <p:cNvPr id="21" name="TextBox 21">
            <a:extLst>
              <a:ext uri="{FF2B5EF4-FFF2-40B4-BE49-F238E27FC236}">
                <a16:creationId xmlns:a16="http://schemas.microsoft.com/office/drawing/2014/main" id="{A82A4862-A03B-47FA-9E76-9AA260F6133D}"/>
              </a:ext>
            </a:extLst>
          </p:cNvPr>
          <p:cNvSpPr txBox="1"/>
          <p:nvPr/>
        </p:nvSpPr>
        <p:spPr>
          <a:xfrm>
            <a:off x="3381375" y="5257800"/>
            <a:ext cx="2619375" cy="209550"/>
          </a:xfrm>
        </p:spPr>
        <p:txBody>
          <a:bodyPr wrap="square" rtlCol="0" lIns="0" tIns="0" rIns="0" bIns="0" anchor="t"/>
          <a:lstStyle/>
          <a:p>
            <a:pPr algn="ctr"/>
            <a:r>
              <a:rPr sz="1000">
                <a:solidFill>
                  <a:srgbClr val="6B7C82"/>
                </a:solidFill>
              </a:rPr>
              <a:t>Délai moyen → cible (O1)</a:t>
            </a:r>
          </a:p>
        </p:txBody>
      </p:sp>
      <p:sp>
        <p:nvSpPr>
          <p:cNvPr id="22" name="TextBox 22">
            <a:extLst>
              <a:ext uri="{FF2B5EF4-FFF2-40B4-BE49-F238E27FC236}">
                <a16:creationId xmlns:a16="http://schemas.microsoft.com/office/drawing/2014/main" id="{6A4EF9BD-225E-4C81-9022-EAC01A2C413C}"/>
              </a:ext>
            </a:extLst>
          </p:cNvPr>
          <p:cNvSpPr txBox="1"/>
          <p:nvPr/>
        </p:nvSpPr>
        <p:spPr>
          <a:xfrm>
            <a:off x="6191250" y="4895850"/>
            <a:ext cx="2619375" cy="304800"/>
          </a:xfrm>
        </p:spPr>
        <p:txBody>
          <a:bodyPr wrap="square" rtlCol="0" lIns="0" tIns="0" rIns="0" bIns="0" anchor="t"/>
          <a:lstStyle/>
          <a:p>
            <a:pPr algn="ctr"/>
            <a:r>
              <a:rPr sz="2000" b="1">
                <a:solidFill>
                  <a:srgbClr val="2E7D8C"/>
                </a:solidFill>
              </a:rPr>
              <a:t>35 → 10 %</a:t>
            </a:r>
          </a:p>
        </p:txBody>
      </p:sp>
      <p:sp>
        <p:nvSpPr>
          <p:cNvPr id="23" name="TextBox 23">
            <a:extLst>
              <a:ext uri="{FF2B5EF4-FFF2-40B4-BE49-F238E27FC236}">
                <a16:creationId xmlns:a16="http://schemas.microsoft.com/office/drawing/2014/main" id="{0E2ED32F-EFEA-4897-92C2-FDEAAC802B50}"/>
              </a:ext>
            </a:extLst>
          </p:cNvPr>
          <p:cNvSpPr txBox="1"/>
          <p:nvPr/>
        </p:nvSpPr>
        <p:spPr>
          <a:xfrm>
            <a:off x="6191250" y="5257800"/>
            <a:ext cx="2619375" cy="209550"/>
          </a:xfrm>
        </p:spPr>
        <p:txBody>
          <a:bodyPr wrap="square" rtlCol="0" lIns="0" tIns="0" rIns="0" bIns="0" anchor="t"/>
          <a:lstStyle/>
          <a:p>
            <a:pPr algn="ctr"/>
            <a:r>
              <a:rPr sz="1000">
                <a:solidFill>
                  <a:srgbClr val="6B7C82"/>
                </a:solidFill>
              </a:rPr>
              <a:t>Dossiers incomplets (O2)</a:t>
            </a:r>
          </a:p>
        </p:txBody>
      </p:sp>
      <p:sp>
        <p:nvSpPr>
          <p:cNvPr id="24" name="TextBox 24">
            <a:extLst>
              <a:ext uri="{FF2B5EF4-FFF2-40B4-BE49-F238E27FC236}">
                <a16:creationId xmlns:a16="http://schemas.microsoft.com/office/drawing/2014/main" id="{16453AA3-7A41-4F9A-B409-A8611B570A9F}"/>
              </a:ext>
            </a:extLst>
          </p:cNvPr>
          <p:cNvSpPr txBox="1"/>
          <p:nvPr/>
        </p:nvSpPr>
        <p:spPr>
          <a:xfrm>
            <a:off x="9001125" y="4895850"/>
            <a:ext cx="2619375" cy="304800"/>
          </a:xfrm>
        </p:spPr>
        <p:txBody>
          <a:bodyPr wrap="square" rtlCol="0" lIns="0" tIns="0" rIns="0" bIns="0" anchor="t"/>
          <a:lstStyle/>
          <a:p>
            <a:pPr algn="ctr"/>
            <a:r>
              <a:rPr sz="2000" b="1">
                <a:solidFill>
                  <a:srgbClr val="2E7D8C"/>
                </a:solidFill>
              </a:rPr>
              <a:t>≈ 325 h / sem.</a:t>
            </a:r>
          </a:p>
        </p:txBody>
      </p:sp>
      <p:sp>
        <p:nvSpPr>
          <p:cNvPr id="25" name="TextBox 25">
            <a:extLst>
              <a:ext uri="{FF2B5EF4-FFF2-40B4-BE49-F238E27FC236}">
                <a16:creationId xmlns:a16="http://schemas.microsoft.com/office/drawing/2014/main" id="{7D723BF0-ADA9-4252-858A-22EF40BD575A}"/>
              </a:ext>
            </a:extLst>
          </p:cNvPr>
          <p:cNvSpPr txBox="1"/>
          <p:nvPr/>
        </p:nvSpPr>
        <p:spPr>
          <a:xfrm>
            <a:off x="9001125" y="5257800"/>
            <a:ext cx="2619375" cy="209550"/>
          </a:xfrm>
        </p:spPr>
        <p:txBody>
          <a:bodyPr wrap="square" rtlCol="0" lIns="0" tIns="0" rIns="0" bIns="0" anchor="t"/>
          <a:lstStyle/>
          <a:p>
            <a:pPr algn="ctr"/>
            <a:r>
              <a:rPr sz="1000">
                <a:solidFill>
                  <a:srgbClr val="6B7C82"/>
                </a:solidFill>
              </a:rPr>
              <a:t>Productivité récupérable</a:t>
            </a:r>
          </a:p>
        </p:txBody>
      </p:sp>
      <p:sp>
        <p:nvSpPr>
          <p:cNvPr id="26" name="TextBox 26">
            <a:extLst>
              <a:ext uri="{FF2B5EF4-FFF2-40B4-BE49-F238E27FC236}">
                <a16:creationId xmlns:a16="http://schemas.microsoft.com/office/drawing/2014/main" id="{12096DCA-EE56-460A-9813-BFD530AA3846}"/>
              </a:ext>
            </a:extLst>
          </p:cNvPr>
          <p:cNvSpPr txBox="1"/>
          <p:nvPr/>
        </p:nvSpPr>
        <p:spPr>
          <a:xfrm>
            <a:off x="571500" y="6362700"/>
            <a:ext cx="10287000" cy="190500"/>
          </a:xfrm>
        </p:spPr>
        <p:txBody>
          <a:bodyPr wrap="square" rtlCol="0" lIns="0" tIns="0" rIns="0" bIns="0" anchor="t"/>
          <a:lstStyle/>
          <a:p>
            <a:r>
              <a:rPr sz="1000" i="1">
                <a:solidFill>
                  <a:srgbClr val="9AA6AC"/>
                </a:solidFill>
              </a:rPr>
              <a:t>Sources : BRD v1.0 (16 nov. 2026) · matrice des douleurs · business case v1.0 (20 nov. 2026). Chiffres : hypothèses documentées sur cas fictif.</a:t>
            </a:r>
          </a:p>
        </p:txBody>
      </p:sp>
      <p:sp>
        <p:nvSpPr>
          <p:cNvPr id="27" name="TextBox 27">
            <a:extLst>
              <a:ext uri="{FF2B5EF4-FFF2-40B4-BE49-F238E27FC236}">
                <a16:creationId xmlns:a16="http://schemas.microsoft.com/office/drawing/2014/main" id="{928C49D3-057B-4233-9D93-E5236AD2062F}"/>
              </a:ext>
            </a:extLst>
          </p:cNvPr>
          <p:cNvSpPr txBox="1"/>
          <p:nvPr/>
        </p:nvSpPr>
        <p:spPr>
          <a:xfrm>
            <a:off x="11239500" y="6362700"/>
            <a:ext cx="381000" cy="190500"/>
          </a:xfrm>
        </p:spPr>
        <p:txBody>
          <a:bodyPr wrap="square" rtlCol="0" lIns="0" tIns="0" rIns="0" bIns="0" anchor="t"/>
          <a:lstStyle/>
          <a:p>
            <a:pPr algn="r"/>
            <a:r>
              <a:rPr sz="1000">
                <a:solidFill>
                  <a:srgbClr val="9AA6AC"/>
                </a:solidFill>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B4E58160-AF68-4F7D-B00E-159433E80EB0}"/>
              </a:ext>
            </a:extLst>
          </p:cNvPr>
          <p:cNvSpPr txBox="1"/>
          <p:nvPr/>
        </p:nvSpPr>
        <p:spPr>
          <a:xfrm>
            <a:off x="571500" y="304800"/>
            <a:ext cx="3810000" cy="209550"/>
          </a:xfrm>
        </p:spPr>
        <p:txBody>
          <a:bodyPr wrap="square" rtlCol="0" lIns="0" tIns="0" rIns="0" bIns="0" anchor="t"/>
          <a:lstStyle/>
          <a:p>
            <a:r>
              <a:rPr sz="1100" b="1">
                <a:solidFill>
                  <a:srgbClr val="2E7D8C"/>
                </a:solidFill>
              </a:rPr>
              <a:t>DEMARCHE</a:t>
            </a:r>
          </a:p>
        </p:txBody>
      </p:sp>
      <p:sp>
        <p:nvSpPr>
          <p:cNvPr id="4" name="TextBox 4">
            <a:extLst>
              <a:ext uri="{FF2B5EF4-FFF2-40B4-BE49-F238E27FC236}">
                <a16:creationId xmlns:a16="http://schemas.microsoft.com/office/drawing/2014/main" id="{B71AFBA9-90FB-4008-9748-5BDE2FF2ECB4}"/>
              </a:ext>
            </a:extLst>
          </p:cNvPr>
          <p:cNvSpPr txBox="1"/>
          <p:nvPr/>
        </p:nvSpPr>
        <p:spPr>
          <a:xfrm>
            <a:off x="571500" y="590550"/>
            <a:ext cx="11049000" cy="762000"/>
          </a:xfrm>
        </p:spPr>
        <p:txBody>
          <a:bodyPr wrap="square" rtlCol="0" lIns="0" tIns="0" rIns="0" bIns="0" anchor="t"/>
          <a:lstStyle/>
          <a:p>
            <a:r>
              <a:rPr sz="2500" b="1">
                <a:solidFill>
                  <a:srgbClr val="243B45"/>
                </a:solidFill>
              </a:rPr>
              <a:t>Six semaines, six livrables chaînés : chaque exigence est rattachée à une douleur causée par une cause racine identifiée</a:t>
            </a:r>
          </a:p>
        </p:txBody>
      </p:sp>
      <p:sp>
        <p:nvSpPr>
          <p:cNvPr id="5" name="Shape 5">
            <a:extLst>
              <a:ext uri="{FF2B5EF4-FFF2-40B4-BE49-F238E27FC236}">
                <a16:creationId xmlns:a16="http://schemas.microsoft.com/office/drawing/2014/main" id="{46CD3262-D2D8-40D6-BCF3-D9A038F14313}"/>
              </a:ext>
            </a:extLst>
          </p:cNvPr>
          <p:cNvSpPr/>
          <p:nvPr/>
        </p:nvSpPr>
        <p:spPr>
          <a:xfrm>
            <a:off x="571500" y="1257300"/>
            <a:ext cx="1771650" cy="914400"/>
          </a:xfrm>
          <a:prstGeom prst="chevron">
            <a:avLst/>
          </a:prstGeom>
          <a:solidFill>
            <a:srgbClr val="EAF3F5"/>
          </a:solidFill>
        </p:spPr>
        <p:txBody>
          <a:bodyPr wrap="square" rtlCol="0"/>
          <a:lstStyle/>
          <a:p>
            <a:r>
              <a:rPr/>
              <a:t/>
            </a:r>
          </a:p>
        </p:txBody>
      </p:sp>
      <p:sp>
        <p:nvSpPr>
          <p:cNvPr id="6" name="Shape 6">
            <a:extLst>
              <a:ext uri="{FF2B5EF4-FFF2-40B4-BE49-F238E27FC236}">
                <a16:creationId xmlns:a16="http://schemas.microsoft.com/office/drawing/2014/main" id="{47B386B7-8B22-4EE9-963C-DF88A9FE687F}"/>
              </a:ext>
            </a:extLst>
          </p:cNvPr>
          <p:cNvSpPr/>
          <p:nvPr/>
        </p:nvSpPr>
        <p:spPr>
          <a:xfrm>
            <a:off x="2343150" y="1257300"/>
            <a:ext cx="1771650" cy="914400"/>
          </a:xfrm>
          <a:prstGeom prst="chevron">
            <a:avLst/>
          </a:prstGeom>
          <a:solidFill>
            <a:srgbClr val="EAF3F5"/>
          </a:solidFill>
        </p:spPr>
        <p:txBody>
          <a:bodyPr wrap="square" rtlCol="0"/>
          <a:lstStyle/>
          <a:p>
            <a:r>
              <a:rPr/>
              <a:t/>
            </a:r>
          </a:p>
        </p:txBody>
      </p:sp>
      <p:sp>
        <p:nvSpPr>
          <p:cNvPr id="7" name="Shape 7">
            <a:extLst>
              <a:ext uri="{FF2B5EF4-FFF2-40B4-BE49-F238E27FC236}">
                <a16:creationId xmlns:a16="http://schemas.microsoft.com/office/drawing/2014/main" id="{BBD4797C-3F2D-4725-8659-13B2AABE3002}"/>
              </a:ext>
            </a:extLst>
          </p:cNvPr>
          <p:cNvSpPr/>
          <p:nvPr/>
        </p:nvSpPr>
        <p:spPr>
          <a:xfrm>
            <a:off x="4114800" y="1257300"/>
            <a:ext cx="1771650" cy="914400"/>
          </a:xfrm>
          <a:prstGeom prst="chevron">
            <a:avLst/>
          </a:prstGeom>
          <a:solidFill>
            <a:srgbClr val="EAF3F5"/>
          </a:solidFill>
        </p:spPr>
        <p:txBody>
          <a:bodyPr wrap="square" rtlCol="0"/>
          <a:lstStyle/>
          <a:p>
            <a:r>
              <a:rPr/>
              <a:t/>
            </a:r>
          </a:p>
        </p:txBody>
      </p:sp>
      <p:sp>
        <p:nvSpPr>
          <p:cNvPr id="8" name="Shape 8">
            <a:extLst>
              <a:ext uri="{FF2B5EF4-FFF2-40B4-BE49-F238E27FC236}">
                <a16:creationId xmlns:a16="http://schemas.microsoft.com/office/drawing/2014/main" id="{2FA38279-015E-4F79-8277-AF82ED330C39}"/>
              </a:ext>
            </a:extLst>
          </p:cNvPr>
          <p:cNvSpPr/>
          <p:nvPr/>
        </p:nvSpPr>
        <p:spPr>
          <a:xfrm>
            <a:off x="5886450" y="1257300"/>
            <a:ext cx="1771650" cy="914400"/>
          </a:xfrm>
          <a:prstGeom prst="chevron">
            <a:avLst/>
          </a:prstGeom>
          <a:solidFill>
            <a:srgbClr val="EAF3F5"/>
          </a:solidFill>
        </p:spPr>
        <p:txBody>
          <a:bodyPr wrap="square" rtlCol="0"/>
          <a:lstStyle/>
          <a:p>
            <a:r>
              <a:rPr/>
              <a:t/>
            </a:r>
          </a:p>
        </p:txBody>
      </p:sp>
      <p:sp>
        <p:nvSpPr>
          <p:cNvPr id="9" name="Shape 9">
            <a:extLst>
              <a:ext uri="{FF2B5EF4-FFF2-40B4-BE49-F238E27FC236}">
                <a16:creationId xmlns:a16="http://schemas.microsoft.com/office/drawing/2014/main" id="{E5DA0426-1CDF-4645-95B9-21BAB08288DC}"/>
              </a:ext>
            </a:extLst>
          </p:cNvPr>
          <p:cNvSpPr/>
          <p:nvPr/>
        </p:nvSpPr>
        <p:spPr>
          <a:xfrm>
            <a:off x="7658100" y="1257300"/>
            <a:ext cx="1771650" cy="914400"/>
          </a:xfrm>
          <a:prstGeom prst="chevron">
            <a:avLst/>
          </a:prstGeom>
          <a:solidFill>
            <a:srgbClr val="EAF3F5"/>
          </a:solidFill>
        </p:spPr>
        <p:txBody>
          <a:bodyPr wrap="square" rtlCol="0"/>
          <a:lstStyle/>
          <a:p>
            <a:r>
              <a:rPr/>
              <a:t/>
            </a:r>
          </a:p>
        </p:txBody>
      </p:sp>
      <p:sp>
        <p:nvSpPr>
          <p:cNvPr id="10" name="Shape 10">
            <a:extLst>
              <a:ext uri="{FF2B5EF4-FFF2-40B4-BE49-F238E27FC236}">
                <a16:creationId xmlns:a16="http://schemas.microsoft.com/office/drawing/2014/main" id="{4286032C-FF08-462A-BE48-B190F8C75FD2}"/>
              </a:ext>
            </a:extLst>
          </p:cNvPr>
          <p:cNvSpPr/>
          <p:nvPr/>
        </p:nvSpPr>
        <p:spPr>
          <a:xfrm>
            <a:off x="9429750" y="1257300"/>
            <a:ext cx="1866900" cy="914400"/>
          </a:xfrm>
          <a:prstGeom prst="chevron">
            <a:avLst/>
          </a:prstGeom>
          <a:solidFill>
            <a:srgbClr val="2E7D8C"/>
          </a:solidFill>
        </p:spPr>
        <p:txBody>
          <a:bodyPr wrap="square" rtlCol="0"/>
          <a:lstStyle/>
          <a:p>
            <a:r>
              <a:rPr/>
              <a:t/>
            </a:r>
          </a:p>
        </p:txBody>
      </p:sp>
      <p:sp>
        <p:nvSpPr>
          <p:cNvPr id="11" name="TextBox 11">
            <a:extLst>
              <a:ext uri="{FF2B5EF4-FFF2-40B4-BE49-F238E27FC236}">
                <a16:creationId xmlns:a16="http://schemas.microsoft.com/office/drawing/2014/main" id="{FFA2C307-AC96-44BD-8AB4-4A2902D47105}"/>
              </a:ext>
            </a:extLst>
          </p:cNvPr>
          <p:cNvSpPr txBox="1"/>
          <p:nvPr/>
        </p:nvSpPr>
        <p:spPr>
          <a:xfrm>
            <a:off x="704850" y="1352550"/>
            <a:ext cx="1428750" cy="762000"/>
          </a:xfrm>
        </p:spPr>
        <p:txBody>
          <a:bodyPr wrap="square" rtlCol="0" lIns="0" tIns="0" rIns="0" bIns="0" anchor="t"/>
          <a:lstStyle/>
          <a:p>
            <a:pPr algn="ctr">
              <a:spcAft>
                <a:spcPts val="400"/>
              </a:spcAft>
            </a:pPr>
            <a:r>
              <a:rPr sz="1500" b="1">
                <a:solidFill>
                  <a:srgbClr val="1F4E5F"/>
                </a:solidFill>
              </a:rPr>
              <a:t>S1</a:t>
            </a:r>
          </a:p>
          <a:p>
            <a:pPr algn="ctr">
              <a:lnSpc>
                <a:spcPct val="105000"/>
              </a:lnSpc>
              <a:spcAft>
                <a:spcPts val="300"/>
              </a:spcAft>
            </a:pPr>
            <a:r>
              <a:rPr sz="1100" b="1">
                <a:solidFill>
                  <a:srgbClr val="243B45"/>
                </a:solidFill>
              </a:rPr>
              <a:t>Cadrage</a:t>
            </a:r>
          </a:p>
          <a:p>
            <a:pPr algn="ctr">
              <a:lnSpc>
                <a:spcPct val="105000"/>
              </a:lnSpc>
            </a:pPr>
            <a:r>
              <a:rPr sz="950">
                <a:solidFill>
                  <a:srgbClr val="6B7C82"/>
                </a:solidFill>
              </a:rPr>
              <a:t>charte, RACI</a:t>
            </a:r>
          </a:p>
        </p:txBody>
      </p:sp>
      <p:sp>
        <p:nvSpPr>
          <p:cNvPr id="12" name="TextBox 12">
            <a:extLst>
              <a:ext uri="{FF2B5EF4-FFF2-40B4-BE49-F238E27FC236}">
                <a16:creationId xmlns:a16="http://schemas.microsoft.com/office/drawing/2014/main" id="{2A940DBB-B752-4712-9DFC-5431D9D65D41}"/>
              </a:ext>
            </a:extLst>
          </p:cNvPr>
          <p:cNvSpPr txBox="1"/>
          <p:nvPr/>
        </p:nvSpPr>
        <p:spPr>
          <a:xfrm>
            <a:off x="2495550" y="1352550"/>
            <a:ext cx="1428750" cy="762000"/>
          </a:xfrm>
        </p:spPr>
        <p:txBody>
          <a:bodyPr wrap="square" rtlCol="0" lIns="0" tIns="0" rIns="0" bIns="0" anchor="t"/>
          <a:lstStyle/>
          <a:p>
            <a:pPr algn="ctr">
              <a:spcAft>
                <a:spcPts val="400"/>
              </a:spcAft>
            </a:pPr>
            <a:r>
              <a:rPr sz="1500" b="1">
                <a:solidFill>
                  <a:srgbClr val="1F4E5F"/>
                </a:solidFill>
              </a:rPr>
              <a:t>S2</a:t>
            </a:r>
          </a:p>
          <a:p>
            <a:pPr algn="ctr">
              <a:lnSpc>
                <a:spcPct val="105000"/>
              </a:lnSpc>
              <a:spcAft>
                <a:spcPts val="300"/>
              </a:spcAft>
            </a:pPr>
            <a:r>
              <a:rPr sz="1100" b="1">
                <a:solidFill>
                  <a:srgbClr val="243B45"/>
                </a:solidFill>
              </a:rPr>
              <a:t>Elicitation</a:t>
            </a:r>
          </a:p>
          <a:p>
            <a:pPr algn="ctr">
              <a:lnSpc>
                <a:spcPct val="105000"/>
              </a:lnSpc>
            </a:pPr>
            <a:r>
              <a:rPr sz="950">
                <a:solidFill>
                  <a:srgbClr val="6B7C82"/>
                </a:solidFill>
              </a:rPr>
              <a:t>interviews, AS-IS</a:t>
            </a:r>
          </a:p>
        </p:txBody>
      </p:sp>
      <p:sp>
        <p:nvSpPr>
          <p:cNvPr id="13" name="TextBox 13">
            <a:extLst>
              <a:ext uri="{FF2B5EF4-FFF2-40B4-BE49-F238E27FC236}">
                <a16:creationId xmlns:a16="http://schemas.microsoft.com/office/drawing/2014/main" id="{7D9B539A-0116-4A39-9550-5917B1A164E1}"/>
              </a:ext>
            </a:extLst>
          </p:cNvPr>
          <p:cNvSpPr txBox="1"/>
          <p:nvPr/>
        </p:nvSpPr>
        <p:spPr>
          <a:xfrm>
            <a:off x="4286250" y="1352550"/>
            <a:ext cx="1428750" cy="762000"/>
          </a:xfrm>
        </p:spPr>
        <p:txBody>
          <a:bodyPr wrap="square" rtlCol="0" lIns="0" tIns="0" rIns="0" bIns="0" anchor="t"/>
          <a:lstStyle/>
          <a:p>
            <a:pPr algn="ctr">
              <a:spcAft>
                <a:spcPts val="400"/>
              </a:spcAft>
            </a:pPr>
            <a:r>
              <a:rPr sz="1500" b="1">
                <a:solidFill>
                  <a:srgbClr val="1F4E5F"/>
                </a:solidFill>
              </a:rPr>
              <a:t>S3</a:t>
            </a:r>
          </a:p>
          <a:p>
            <a:pPr algn="ctr">
              <a:lnSpc>
                <a:spcPct val="105000"/>
              </a:lnSpc>
              <a:spcAft>
                <a:spcPts val="300"/>
              </a:spcAft>
            </a:pPr>
            <a:r>
              <a:rPr sz="1100" b="1">
                <a:solidFill>
                  <a:srgbClr val="243B45"/>
                </a:solidFill>
              </a:rPr>
              <a:t>Analyse</a:t>
            </a:r>
          </a:p>
          <a:p>
            <a:pPr algn="ctr">
              <a:lnSpc>
                <a:spcPct val="105000"/>
              </a:lnSpc>
            </a:pPr>
            <a:r>
              <a:rPr sz="950">
                <a:solidFill>
                  <a:srgbClr val="6B7C82"/>
                </a:solidFill>
              </a:rPr>
              <a:t>BRD, causes</a:t>
            </a:r>
          </a:p>
        </p:txBody>
      </p:sp>
      <p:sp>
        <p:nvSpPr>
          <p:cNvPr id="14" name="TextBox 14">
            <a:extLst>
              <a:ext uri="{FF2B5EF4-FFF2-40B4-BE49-F238E27FC236}">
                <a16:creationId xmlns:a16="http://schemas.microsoft.com/office/drawing/2014/main" id="{8F5CB8AB-25BA-41F4-B2DC-DB1E88E50FF1}"/>
              </a:ext>
            </a:extLst>
          </p:cNvPr>
          <p:cNvSpPr txBox="1"/>
          <p:nvPr/>
        </p:nvSpPr>
        <p:spPr>
          <a:xfrm>
            <a:off x="6076950" y="1352550"/>
            <a:ext cx="1428750" cy="762000"/>
          </a:xfrm>
        </p:spPr>
        <p:txBody>
          <a:bodyPr wrap="square" rtlCol="0" lIns="0" tIns="0" rIns="0" bIns="0" anchor="t"/>
          <a:lstStyle/>
          <a:p>
            <a:pPr algn="ctr">
              <a:spcAft>
                <a:spcPts val="400"/>
              </a:spcAft>
            </a:pPr>
            <a:r>
              <a:rPr sz="1500" b="1">
                <a:solidFill>
                  <a:srgbClr val="1F4E5F"/>
                </a:solidFill>
              </a:rPr>
              <a:t>S4</a:t>
            </a:r>
          </a:p>
          <a:p>
            <a:pPr algn="ctr">
              <a:lnSpc>
                <a:spcPct val="105000"/>
              </a:lnSpc>
              <a:spcAft>
                <a:spcPts val="300"/>
              </a:spcAft>
            </a:pPr>
            <a:r>
              <a:rPr sz="1100" b="1">
                <a:solidFill>
                  <a:srgbClr val="243B45"/>
                </a:solidFill>
              </a:rPr>
              <a:t>Exigences</a:t>
            </a:r>
          </a:p>
          <a:p>
            <a:pPr algn="ctr">
              <a:lnSpc>
                <a:spcPct val="105000"/>
              </a:lnSpc>
            </a:pPr>
            <a:r>
              <a:rPr sz="950">
                <a:solidFill>
                  <a:srgbClr val="6B7C82"/>
                </a:solidFill>
              </a:rPr>
              <a:t>US, Gherkin</a:t>
            </a:r>
          </a:p>
        </p:txBody>
      </p:sp>
      <p:sp>
        <p:nvSpPr>
          <p:cNvPr id="15" name="TextBox 15">
            <a:extLst>
              <a:ext uri="{FF2B5EF4-FFF2-40B4-BE49-F238E27FC236}">
                <a16:creationId xmlns:a16="http://schemas.microsoft.com/office/drawing/2014/main" id="{83D2024D-84F4-4A1E-AAD4-B33148ED4F2D}"/>
              </a:ext>
            </a:extLst>
          </p:cNvPr>
          <p:cNvSpPr txBox="1"/>
          <p:nvPr/>
        </p:nvSpPr>
        <p:spPr>
          <a:xfrm>
            <a:off x="7867650" y="1352550"/>
            <a:ext cx="1428750" cy="762000"/>
          </a:xfrm>
        </p:spPr>
        <p:txBody>
          <a:bodyPr wrap="square" rtlCol="0" lIns="0" tIns="0" rIns="0" bIns="0" anchor="t"/>
          <a:lstStyle/>
          <a:p>
            <a:pPr algn="ctr">
              <a:spcAft>
                <a:spcPts val="400"/>
              </a:spcAft>
            </a:pPr>
            <a:r>
              <a:rPr sz="1500" b="1">
                <a:solidFill>
                  <a:srgbClr val="1F4E5F"/>
                </a:solidFill>
              </a:rPr>
              <a:t>S5</a:t>
            </a:r>
          </a:p>
          <a:p>
            <a:pPr algn="ctr">
              <a:lnSpc>
                <a:spcPct val="105000"/>
              </a:lnSpc>
              <a:spcAft>
                <a:spcPts val="300"/>
              </a:spcAft>
            </a:pPr>
            <a:r>
              <a:rPr sz="1100" b="1">
                <a:solidFill>
                  <a:srgbClr val="243B45"/>
                </a:solidFill>
              </a:rPr>
              <a:t>Solution</a:t>
            </a:r>
          </a:p>
          <a:p>
            <a:pPr algn="ctr">
              <a:lnSpc>
                <a:spcPct val="105000"/>
              </a:lnSpc>
            </a:pPr>
            <a:r>
              <a:rPr sz="950">
                <a:solidFill>
                  <a:srgbClr val="6B7C82"/>
                </a:solidFill>
              </a:rPr>
              <a:t>TO-BE, maquettes</a:t>
            </a:r>
          </a:p>
        </p:txBody>
      </p:sp>
      <p:sp>
        <p:nvSpPr>
          <p:cNvPr id="16" name="TextBox 16">
            <a:extLst>
              <a:ext uri="{FF2B5EF4-FFF2-40B4-BE49-F238E27FC236}">
                <a16:creationId xmlns:a16="http://schemas.microsoft.com/office/drawing/2014/main" id="{2DDBE98B-763D-4875-B75B-A4C6783AF7E0}"/>
              </a:ext>
            </a:extLst>
          </p:cNvPr>
          <p:cNvSpPr txBox="1"/>
          <p:nvPr/>
        </p:nvSpPr>
        <p:spPr>
          <a:xfrm>
            <a:off x="9620250" y="1352550"/>
            <a:ext cx="1428750" cy="762000"/>
          </a:xfrm>
        </p:spPr>
        <p:txBody>
          <a:bodyPr wrap="square" rtlCol="0" lIns="0" tIns="0" rIns="0" bIns="0" anchor="t"/>
          <a:lstStyle/>
          <a:p>
            <a:pPr algn="ctr">
              <a:spcAft>
                <a:spcPts val="400"/>
              </a:spcAft>
            </a:pPr>
            <a:r>
              <a:rPr sz="1500" b="1">
                <a:solidFill>
                  <a:srgbClr val="7FB6C4"/>
                </a:solidFill>
              </a:rPr>
              <a:t>S6</a:t>
            </a:r>
          </a:p>
          <a:p>
            <a:pPr algn="ctr">
              <a:lnSpc>
                <a:spcPct val="105000"/>
              </a:lnSpc>
              <a:spcAft>
                <a:spcPts val="300"/>
              </a:spcAft>
            </a:pPr>
            <a:r>
              <a:rPr sz="1100" b="1">
                <a:solidFill>
                  <a:srgbClr val="FFFFFF"/>
                </a:solidFill>
              </a:rPr>
              <a:t>Restitution</a:t>
            </a:r>
          </a:p>
          <a:p>
            <a:pPr algn="ctr">
              <a:lnSpc>
                <a:spcPct val="105000"/>
              </a:lnSpc>
            </a:pPr>
            <a:r>
              <a:rPr sz="950">
                <a:solidFill>
                  <a:srgbClr val="D8E6EA"/>
                </a:solidFill>
              </a:rPr>
              <a:t>business case</a:t>
            </a:r>
          </a:p>
        </p:txBody>
      </p:sp>
      <p:sp>
        <p:nvSpPr>
          <p:cNvPr id="17" name="TextBox 17">
            <a:extLst>
              <a:ext uri="{FF2B5EF4-FFF2-40B4-BE49-F238E27FC236}">
                <a16:creationId xmlns:a16="http://schemas.microsoft.com/office/drawing/2014/main" id="{C0EBCCB1-BAAC-4BF3-9D1F-05BD83146937}"/>
              </a:ext>
            </a:extLst>
          </p:cNvPr>
          <p:cNvSpPr txBox="1"/>
          <p:nvPr/>
        </p:nvSpPr>
        <p:spPr>
          <a:xfrm>
            <a:off x="571500" y="2647950"/>
            <a:ext cx="4762500" cy="228600"/>
          </a:xfrm>
        </p:spPr>
        <p:txBody>
          <a:bodyPr wrap="square" rtlCol="0" lIns="0" tIns="0" rIns="0" bIns="0" anchor="t"/>
          <a:lstStyle/>
          <a:p>
            <a:r>
              <a:rPr sz="1300" b="1">
                <a:solidFill>
                  <a:srgbClr val="2E7D8C"/>
                </a:solidFill>
              </a:rPr>
              <a:t>CADRES ET OUTILS MOBILISES</a:t>
            </a:r>
          </a:p>
        </p:txBody>
      </p:sp>
      <p:sp>
        <p:nvSpPr>
          <p:cNvPr id="18" name="TextBox 18">
            <a:extLst>
              <a:ext uri="{FF2B5EF4-FFF2-40B4-BE49-F238E27FC236}">
                <a16:creationId xmlns:a16="http://schemas.microsoft.com/office/drawing/2014/main" id="{FABCFE3D-50B5-4FF3-AC6C-085D5BEF5B35}"/>
              </a:ext>
            </a:extLst>
          </p:cNvPr>
          <p:cNvSpPr txBox="1"/>
          <p:nvPr/>
        </p:nvSpPr>
        <p:spPr>
          <a:xfrm>
            <a:off x="571500" y="2952750"/>
            <a:ext cx="5143500" cy="2381250"/>
          </a:xfrm>
        </p:spPr>
        <p:txBody>
          <a:bodyPr wrap="square" rtlCol="0" lIns="0" tIns="0" rIns="0" bIns="0" anchor="t"/>
          <a:lstStyle/>
          <a:p>
            <a:pPr>
              <a:lnSpc>
                <a:spcPct val="118000"/>
              </a:lnSpc>
              <a:spcAft>
                <a:spcPts val="700"/>
              </a:spcAft>
            </a:pPr>
            <a:r>
              <a:rPr sz="1200" b="1">
                <a:solidFill>
                  <a:srgbClr val="243B45"/>
                </a:solidFill>
              </a:rPr>
              <a:t>BPMN 2.0 — </a:t>
            </a:r>
            <a:r>
              <a:rPr sz="1150">
                <a:solidFill>
                  <a:srgbClr val="6B7C82"/>
                </a:solidFill>
              </a:rPr>
              <a:t>modélisation du processus AS-IS, portes parallèles et boucles de retouche</a:t>
            </a:r>
          </a:p>
          <a:p>
            <a:pPr>
              <a:lnSpc>
                <a:spcPct val="118000"/>
              </a:lnSpc>
              <a:spcAft>
                <a:spcPts val="700"/>
              </a:spcAft>
            </a:pPr>
            <a:r>
              <a:rPr sz="1200" b="1">
                <a:solidFill>
                  <a:srgbClr val="243B45"/>
                </a:solidFill>
              </a:rPr>
              <a:t>5 pourquoi — </a:t>
            </a:r>
            <a:r>
              <a:rPr sz="1150">
                <a:solidFill>
                  <a:srgbClr val="6B7C82"/>
                </a:solidFill>
              </a:rPr>
              <a:t>remontée de chaque douleur observée à sa cause racine structurelle</a:t>
            </a:r>
          </a:p>
          <a:p>
            <a:pPr>
              <a:lnSpc>
                <a:spcPct val="118000"/>
              </a:lnSpc>
              <a:spcAft>
                <a:spcPts val="700"/>
              </a:spcAft>
            </a:pPr>
            <a:r>
              <a:rPr sz="1200" b="1">
                <a:solidFill>
                  <a:srgbClr val="243B45"/>
                </a:solidFill>
              </a:rPr>
              <a:t>Ghérin — </a:t>
            </a:r>
            <a:r>
              <a:rPr sz="1150">
                <a:solidFill>
                  <a:srgbClr val="6B7C82"/>
                </a:solidFill>
              </a:rPr>
              <a:t>critères d'acceptation écrites avant le développement, testables en l'état</a:t>
            </a:r>
          </a:p>
        </p:txBody>
      </p:sp>
      <p:sp>
        <p:nvSpPr>
          <p:cNvPr id="19" name="TextBox 19">
            <a:extLst>
              <a:ext uri="{FF2B5EF4-FFF2-40B4-BE49-F238E27FC236}">
                <a16:creationId xmlns:a16="http://schemas.microsoft.com/office/drawing/2014/main" id="{07708870-59D1-4C7B-9C4D-C4A6DEC1E28D}"/>
              </a:ext>
            </a:extLst>
          </p:cNvPr>
          <p:cNvSpPr txBox="1"/>
          <p:nvPr/>
        </p:nvSpPr>
        <p:spPr>
          <a:xfrm>
            <a:off x="6096000" y="2952750"/>
            <a:ext cx="5143500" cy="2381250"/>
          </a:xfrm>
        </p:spPr>
        <p:txBody>
          <a:bodyPr wrap="square" rtlCol="0" lIns="0" tIns="0" rIns="0" bIns="0" anchor="t"/>
          <a:lstStyle/>
          <a:p>
            <a:pPr>
              <a:lnSpc>
                <a:spcPct val="118000"/>
              </a:lnSpc>
              <a:spcAft>
                <a:spcPts val="700"/>
              </a:spcAft>
            </a:pPr>
            <a:r>
              <a:rPr sz="1200" b="1">
                <a:solidFill>
                  <a:srgbClr val="243B45"/>
                </a:solidFill>
              </a:rPr>
              <a:t>MoSCoW — </a:t>
            </a:r>
            <a:r>
              <a:rPr sz="1150">
                <a:solidFill>
                  <a:srgbClr val="6B7C82"/>
                </a:solidFill>
              </a:rPr>
              <a:t>priorisation du backlog et arbitrage du périmètre MVP sous contrôle sponsor</a:t>
            </a:r>
          </a:p>
          <a:p>
            <a:pPr>
              <a:lnSpc>
                <a:spcPct val="118000"/>
              </a:lnSpc>
              <a:spcAft>
                <a:spcPts val="700"/>
              </a:spcAft>
            </a:pPr>
            <a:r>
              <a:rPr sz="1200" b="1">
                <a:solidFill>
                  <a:srgbClr val="243B45"/>
                </a:solidFill>
              </a:rPr>
              <a:t>RACI — </a:t>
            </a:r>
            <a:r>
              <a:rPr sz="1150">
                <a:solidFill>
                  <a:srgbClr val="6B7C82"/>
                </a:solidFill>
              </a:rPr>
              <a:t>responsables du cadrage à la décision : un seul pilote par livrable</a:t>
            </a:r>
          </a:p>
          <a:p>
            <a:pPr>
              <a:lnSpc>
                <a:spcPct val="118000"/>
              </a:lnSpc>
              <a:spcAft>
                <a:spcPts val="700"/>
              </a:spcAft>
            </a:pPr>
            <a:r>
              <a:rPr sz="1200" b="1">
                <a:solidFill>
                  <a:srgbClr val="243B45"/>
                </a:solidFill>
              </a:rPr>
              <a:t>Référentiel PMI-BA — </a:t>
            </a:r>
            <a:r>
              <a:rPr sz="1150">
                <a:solidFill>
                  <a:srgbClr val="6B7C82"/>
                </a:solidFill>
              </a:rPr>
              <a:t>chaque livrable correspond à un deliverable du modèle de compétence</a:t>
            </a:r>
          </a:p>
        </p:txBody>
      </p:sp>
      <p:sp>
        <p:nvSpPr>
          <p:cNvPr id="20" name="TextBox 20">
            <a:extLst>
              <a:ext uri="{FF2B5EF4-FFF2-40B4-BE49-F238E27FC236}">
                <a16:creationId xmlns:a16="http://schemas.microsoft.com/office/drawing/2014/main" id="{EE58194A-6A35-49D7-B424-DFBEC474687C}"/>
              </a:ext>
            </a:extLst>
          </p:cNvPr>
          <p:cNvSpPr txBox="1"/>
          <p:nvPr/>
        </p:nvSpPr>
        <p:spPr>
          <a:xfrm>
            <a:off x="571500" y="5524500"/>
            <a:ext cx="10668000" cy="609600"/>
          </a:xfrm>
        </p:spPr>
        <p:txBody>
          <a:bodyPr wrap="square" rtlCol="0" lIns="0" tIns="0" rIns="0" bIns="0" anchor="t"/>
          <a:lstStyle/>
          <a:p>
            <a:pPr>
              <a:lnSpc>
                <a:spcPct val="115000"/>
              </a:lnSpc>
            </a:pPr>
            <a:r>
              <a:rPr sz="1200" b="1">
                <a:solidFill>
                  <a:srgbClr val="2E7D8C"/>
                </a:solidFill>
              </a:rPr>
              <a:t>Lecture conseil : </a:t>
            </a:r>
            <a:r>
              <a:rPr sz="1200">
                <a:solidFill>
                  <a:srgbClr val="243B45"/>
                </a:solidFill>
              </a:rPr>
              <a:t>la valeur n'est pas dans les documents produits mais dans la chaîne qui les relie — aucun chiffre de ce deck n'existe sans sa source et son hypothèse associée.</a:t>
            </a:r>
          </a:p>
        </p:txBody>
      </p:sp>
      <p:sp>
        <p:nvSpPr>
          <p:cNvPr id="21" name="TextBox 21">
            <a:extLst>
              <a:ext uri="{FF2B5EF4-FFF2-40B4-BE49-F238E27FC236}">
                <a16:creationId xmlns:a16="http://schemas.microsoft.com/office/drawing/2014/main" id="{E5658195-18D5-48A3-B4EB-3B068C72B7C4}"/>
              </a:ext>
            </a:extLst>
          </p:cNvPr>
          <p:cNvSpPr txBox="1"/>
          <p:nvPr/>
        </p:nvSpPr>
        <p:spPr>
          <a:xfrm>
            <a:off x="571500" y="6362700"/>
            <a:ext cx="8572500" cy="190500"/>
          </a:xfrm>
        </p:spPr>
        <p:txBody>
          <a:bodyPr wrap="square" rtlCol="0" lIns="0" tIns="0" rIns="0" bIns="0" anchor="t"/>
          <a:lstStyle/>
          <a:p>
            <a:r>
              <a:rPr sz="1000" i="1">
                <a:solidFill>
                  <a:srgbClr val="9AA6AC"/>
                </a:solidFill>
              </a:rPr>
              <a:t>Sources : README du dépôt, livrables S1–S6 — E. Kanzari, 20 novembre 2026.</a:t>
            </a:r>
          </a:p>
        </p:txBody>
      </p:sp>
      <p:sp>
        <p:nvSpPr>
          <p:cNvPr id="22" name="TextBox 22">
            <a:extLst>
              <a:ext uri="{FF2B5EF4-FFF2-40B4-BE49-F238E27FC236}">
                <a16:creationId xmlns:a16="http://schemas.microsoft.com/office/drawing/2014/main" id="{A402D969-DD3A-4849-9B20-B0B505371250}"/>
              </a:ext>
            </a:extLst>
          </p:cNvPr>
          <p:cNvSpPr txBox="1"/>
          <p:nvPr/>
        </p:nvSpPr>
        <p:spPr>
          <a:xfrm>
            <a:off x="11239500" y="6362700"/>
            <a:ext cx="381000" cy="190500"/>
          </a:xfrm>
        </p:spPr>
        <p:txBody>
          <a:bodyPr wrap="square" rtlCol="0" lIns="0" tIns="0" rIns="0" bIns="0" anchor="t"/>
          <a:lstStyle/>
          <a:p>
            <a:pPr algn="r"/>
            <a:r>
              <a:rPr sz="1000">
                <a:solidFill>
                  <a:srgbClr val="9AA6AC"/>
                </a:solidFill>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1C483D0B-990A-4525-85A4-CA3B107A2E2E}"/>
              </a:ext>
            </a:extLst>
          </p:cNvPr>
          <p:cNvSpPr txBox="1"/>
          <p:nvPr/>
        </p:nvSpPr>
        <p:spPr>
          <a:xfrm>
            <a:off x="571500" y="304800"/>
            <a:ext cx="3810000" cy="209550"/>
          </a:xfrm>
        </p:spPr>
        <p:txBody>
          <a:bodyPr wrap="square" rtlCol="0" lIns="0" tIns="0" rIns="0" bIns="0" anchor="t"/>
          <a:lstStyle/>
          <a:p>
            <a:r>
              <a:rPr sz="1100" b="1">
                <a:solidFill>
                  <a:srgbClr val="2E7D8C"/>
                </a:solidFill>
              </a:rPr>
              <a:t>DIAGNOSTIC</a:t>
            </a:r>
          </a:p>
        </p:txBody>
      </p:sp>
      <p:sp>
        <p:nvSpPr>
          <p:cNvPr id="4" name="TextBox 4">
            <a:extLst>
              <a:ext uri="{FF2B5EF4-FFF2-40B4-BE49-F238E27FC236}">
                <a16:creationId xmlns:a16="http://schemas.microsoft.com/office/drawing/2014/main" id="{DF48F6D5-FC2C-458E-B464-16331D6C79AA}"/>
              </a:ext>
            </a:extLst>
          </p:cNvPr>
          <p:cNvSpPr txBox="1"/>
          <p:nvPr/>
        </p:nvSpPr>
        <p:spPr>
          <a:xfrm>
            <a:off x="571500" y="590550"/>
            <a:ext cx="10477500" cy="438150"/>
          </a:xfrm>
        </p:spPr>
        <p:txBody>
          <a:bodyPr wrap="square" rtlCol="0" lIns="0" tIns="0" rIns="0" bIns="0" anchor="t"/>
          <a:lstStyle/>
          <a:p>
            <a:r>
              <a:rPr sz="2300" b="1">
                <a:solidFill>
                  <a:srgbClr val="243B45"/>
                </a:solidFill>
              </a:rPr>
              <a:t>≈ 325 h/semaine récupérables, soit 390 000 DT/an</a:t>
            </a:r>
          </a:p>
        </p:txBody>
      </p:sp>
      <p:sp>
        <p:nvSpPr>
          <p:cNvPr id="5" name="Shape 5">
            <a:extLst>
              <a:ext uri="{FF2B5EF4-FFF2-40B4-BE49-F238E27FC236}">
                <a16:creationId xmlns:a16="http://schemas.microsoft.com/office/drawing/2014/main" id="{ACF66C46-ACD4-4475-93EB-F60CC4EBF93A}"/>
              </a:ext>
            </a:extLst>
          </p:cNvPr>
          <p:cNvSpPr/>
          <p:nvPr/>
        </p:nvSpPr>
        <p:spPr>
          <a:xfrm>
            <a:off x="571500" y="1219200"/>
            <a:ext cx="11049000" cy="323850"/>
          </a:xfrm>
          <a:prstGeom prst="rect">
            <a:avLst/>
          </a:prstGeom>
          <a:solidFill>
            <a:srgbClr val="1F4E5F"/>
          </a:solidFill>
        </p:spPr>
        <p:txBody>
          <a:bodyPr wrap="square" rtlCol="0"/>
          <a:lstStyle/>
          <a:p>
            <a:r>
              <a:rPr/>
              <a:t/>
            </a:r>
          </a:p>
        </p:txBody>
      </p:sp>
      <p:sp>
        <p:nvSpPr>
          <p:cNvPr id="6" name="TextBox 6">
            <a:extLst>
              <a:ext uri="{FF2B5EF4-FFF2-40B4-BE49-F238E27FC236}">
                <a16:creationId xmlns:a16="http://schemas.microsoft.com/office/drawing/2014/main" id="{CE3D0D0D-39F8-4A62-97AE-178112E555BF}"/>
              </a:ext>
            </a:extLst>
          </p:cNvPr>
          <p:cNvSpPr txBox="1"/>
          <p:nvPr/>
        </p:nvSpPr>
        <p:spPr>
          <a:xfrm>
            <a:off x="666750" y="1276350"/>
            <a:ext cx="1905000" cy="209550"/>
          </a:xfrm>
        </p:spPr>
        <p:txBody>
          <a:bodyPr wrap="square" rtlCol="0" lIns="0" tIns="0" rIns="0" bIns="0" anchor="t"/>
          <a:lstStyle/>
          <a:p>
            <a:r>
              <a:rPr sz="1050" b="1">
                <a:solidFill>
                  <a:srgbClr val="FFFFFF"/>
                </a:solidFill>
              </a:rPr>
              <a:t>DOULEUR</a:t>
            </a:r>
          </a:p>
        </p:txBody>
      </p:sp>
      <p:sp>
        <p:nvSpPr>
          <p:cNvPr id="7" name="TextBox 7">
            <a:extLst>
              <a:ext uri="{FF2B5EF4-FFF2-40B4-BE49-F238E27FC236}">
                <a16:creationId xmlns:a16="http://schemas.microsoft.com/office/drawing/2014/main" id="{533BD30B-FDA9-4755-87F5-65CD53D612C4}"/>
              </a:ext>
            </a:extLst>
          </p:cNvPr>
          <p:cNvSpPr txBox="1"/>
          <p:nvPr/>
        </p:nvSpPr>
        <p:spPr>
          <a:xfrm>
            <a:off x="2762250" y="1276350"/>
            <a:ext cx="2286000" cy="209550"/>
          </a:xfrm>
        </p:spPr>
        <p:txBody>
          <a:bodyPr wrap="square" rtlCol="0" lIns="0" tIns="0" rIns="0" bIns="0" anchor="t"/>
          <a:lstStyle/>
          <a:p>
            <a:r>
              <a:rPr sz="1050" b="1">
                <a:solidFill>
                  <a:srgbClr val="FFFFFF"/>
                </a:solidFill>
              </a:rPr>
              <a:t>OBSERVATION</a:t>
            </a:r>
          </a:p>
        </p:txBody>
      </p:sp>
      <p:sp>
        <p:nvSpPr>
          <p:cNvPr id="8" name="TextBox 8">
            <a:extLst>
              <a:ext uri="{FF2B5EF4-FFF2-40B4-BE49-F238E27FC236}">
                <a16:creationId xmlns:a16="http://schemas.microsoft.com/office/drawing/2014/main" id="{42188494-D5CD-47C3-AFA2-C8E236C37100}"/>
              </a:ext>
            </a:extLst>
          </p:cNvPr>
          <p:cNvSpPr txBox="1"/>
          <p:nvPr/>
        </p:nvSpPr>
        <p:spPr>
          <a:xfrm>
            <a:off x="5238750" y="1276350"/>
            <a:ext cx="2571750" cy="209550"/>
          </a:xfrm>
        </p:spPr>
        <p:txBody>
          <a:bodyPr wrap="square" rtlCol="0" lIns="0" tIns="0" rIns="0" bIns="0" anchor="t"/>
          <a:lstStyle/>
          <a:p>
            <a:r>
              <a:rPr sz="1050" b="1">
                <a:solidFill>
                  <a:srgbClr val="FFFFFF"/>
                </a:solidFill>
              </a:rPr>
              <a:t>BASE HEBDOMADAIRE</a:t>
            </a:r>
          </a:p>
        </p:txBody>
      </p:sp>
      <p:sp>
        <p:nvSpPr>
          <p:cNvPr id="9" name="TextBox 9">
            <a:extLst>
              <a:ext uri="{FF2B5EF4-FFF2-40B4-BE49-F238E27FC236}">
                <a16:creationId xmlns:a16="http://schemas.microsoft.com/office/drawing/2014/main" id="{3960E6D2-005D-49E8-B0B3-7E1F16F5A277}"/>
              </a:ext>
            </a:extLst>
          </p:cNvPr>
          <p:cNvSpPr txBox="1"/>
          <p:nvPr/>
        </p:nvSpPr>
        <p:spPr>
          <a:xfrm>
            <a:off x="8001000" y="1276350"/>
            <a:ext cx="2190750" cy="209550"/>
          </a:xfrm>
        </p:spPr>
        <p:txBody>
          <a:bodyPr wrap="square" rtlCol="0" lIns="0" tIns="0" rIns="0" bIns="0" anchor="t"/>
          <a:lstStyle/>
          <a:p>
            <a:r>
              <a:rPr sz="1050" b="1">
                <a:solidFill>
                  <a:srgbClr val="FFFFFF"/>
                </a:solidFill>
              </a:rPr>
              <a:t>MECANISME TO-BE</a:t>
            </a:r>
          </a:p>
        </p:txBody>
      </p:sp>
      <p:sp>
        <p:nvSpPr>
          <p:cNvPr id="10" name="TextBox 10">
            <a:extLst>
              <a:ext uri="{FF2B5EF4-FFF2-40B4-BE49-F238E27FC236}">
                <a16:creationId xmlns:a16="http://schemas.microsoft.com/office/drawing/2014/main" id="{98269C5D-538C-43A7-9BBF-12EF0643AB30}"/>
              </a:ext>
            </a:extLst>
          </p:cNvPr>
          <p:cNvSpPr txBox="1"/>
          <p:nvPr/>
        </p:nvSpPr>
        <p:spPr>
          <a:xfrm>
            <a:off x="10287000" y="1276350"/>
            <a:ext cx="571500" cy="209550"/>
          </a:xfrm>
        </p:spPr>
        <p:txBody>
          <a:bodyPr wrap="square" rtlCol="0" lIns="0" tIns="0" rIns="0" bIns="0" anchor="t"/>
          <a:lstStyle/>
          <a:p>
            <a:pPr algn="r"/>
            <a:r>
              <a:rPr sz="1050" b="1">
                <a:solidFill>
                  <a:srgbClr val="FFFFFF"/>
                </a:solidFill>
              </a:rPr>
              <a:t>RECUP.</a:t>
            </a:r>
          </a:p>
        </p:txBody>
      </p:sp>
      <p:sp>
        <p:nvSpPr>
          <p:cNvPr id="11" name="TextBox 11">
            <a:extLst>
              <a:ext uri="{FF2B5EF4-FFF2-40B4-BE49-F238E27FC236}">
                <a16:creationId xmlns:a16="http://schemas.microsoft.com/office/drawing/2014/main" id="{92C28132-C068-4F77-8132-05A30AD8D5D3}"/>
              </a:ext>
            </a:extLst>
          </p:cNvPr>
          <p:cNvSpPr txBox="1"/>
          <p:nvPr/>
        </p:nvSpPr>
        <p:spPr>
          <a:xfrm>
            <a:off x="10906125" y="1276350"/>
            <a:ext cx="762000" cy="209550"/>
          </a:xfrm>
        </p:spPr>
        <p:txBody>
          <a:bodyPr wrap="square" rtlCol="0" lIns="0" tIns="0" rIns="0" bIns="0" anchor="t"/>
          <a:lstStyle/>
          <a:p>
            <a:pPr algn="r"/>
            <a:r>
              <a:rPr sz="1050" b="1">
                <a:solidFill>
                  <a:srgbClr val="FFFFFF"/>
                </a:solidFill>
              </a:rPr>
              <a:t>GAGNE/SEM.</a:t>
            </a:r>
          </a:p>
        </p:txBody>
      </p:sp>
      <p:sp>
        <p:nvSpPr>
          <p:cNvPr id="12" name="Shape 12">
            <a:extLst>
              <a:ext uri="{FF2B5EF4-FFF2-40B4-BE49-F238E27FC236}">
                <a16:creationId xmlns:a16="http://schemas.microsoft.com/office/drawing/2014/main" id="{0573EDD1-5CE1-425F-A108-DE7E4D5C95DB}"/>
              </a:ext>
            </a:extLst>
          </p:cNvPr>
          <p:cNvSpPr/>
          <p:nvPr/>
        </p:nvSpPr>
        <p:spPr>
          <a:xfrm>
            <a:off x="571500" y="1543050"/>
            <a:ext cx="11049000" cy="647700"/>
          </a:xfrm>
          <a:prstGeom prst="rect">
            <a:avLst/>
          </a:prstGeom>
          <a:solidFill>
            <a:srgbClr val="F7F2E7"/>
          </a:solidFill>
        </p:spPr>
        <p:txBody>
          <a:bodyPr wrap="square" rtlCol="0"/>
          <a:lstStyle/>
          <a:p>
            <a:r>
              <a:rPr/>
              <a:t/>
            </a:r>
          </a:p>
        </p:txBody>
      </p:sp>
      <p:sp>
        <p:nvSpPr>
          <p:cNvPr id="13" name="TextBox 13">
            <a:extLst>
              <a:ext uri="{FF2B5EF4-FFF2-40B4-BE49-F238E27FC236}">
                <a16:creationId xmlns:a16="http://schemas.microsoft.com/office/drawing/2014/main" id="{5642265C-2AA2-48A3-810C-5E899720BFBF}"/>
              </a:ext>
            </a:extLst>
          </p:cNvPr>
          <p:cNvSpPr txBox="1"/>
          <p:nvPr/>
        </p:nvSpPr>
        <p:spPr>
          <a:xfrm>
            <a:off x="666750" y="1638300"/>
            <a:ext cx="2000250" cy="495300"/>
          </a:xfrm>
        </p:spPr>
        <p:txBody>
          <a:bodyPr wrap="square" rtlCol="0" lIns="0" tIns="0" rIns="0" bIns="0" anchor="t"/>
          <a:lstStyle/>
          <a:p>
            <a:pPr>
              <a:lnSpc>
                <a:spcPct val="108000"/>
              </a:lnSpc>
            </a:pPr>
            <a:r>
              <a:rPr sz="1100" b="1">
                <a:solidFill>
                  <a:srgbClr val="243B45"/>
                </a:solidFill>
              </a:rPr>
              <a:t>D3 — double / triple saisie</a:t>
            </a:r>
          </a:p>
        </p:txBody>
      </p:sp>
      <p:sp>
        <p:nvSpPr>
          <p:cNvPr id="14" name="TextBox 14">
            <a:extLst>
              <a:ext uri="{FF2B5EF4-FFF2-40B4-BE49-F238E27FC236}">
                <a16:creationId xmlns:a16="http://schemas.microsoft.com/office/drawing/2014/main" id="{60E44A0C-7AB8-4B27-9C44-64D88EE2D6F5}"/>
              </a:ext>
            </a:extLst>
          </p:cNvPr>
          <p:cNvSpPr txBox="1"/>
          <p:nvPr/>
        </p:nvSpPr>
        <p:spPr>
          <a:xfrm>
            <a:off x="2762250" y="1638300"/>
            <a:ext cx="2333625" cy="495300"/>
          </a:xfrm>
        </p:spPr>
        <p:txBody>
          <a:bodyPr wrap="square" rtlCol="0" lIns="0" tIns="0" rIns="0" bIns="0" anchor="t"/>
          <a:lstStyle/>
          <a:p>
            <a:pPr>
              <a:lnSpc>
                <a:spcPct val="108000"/>
              </a:lnSpc>
            </a:pPr>
            <a:r>
              <a:rPr sz="1050">
                <a:solidFill>
                  <a:srgbClr val="243B45"/>
                </a:solidFill>
              </a:rPr>
              <a:t>le même dossier recopié 3 fois</a:t>
            </a:r>
          </a:p>
        </p:txBody>
      </p:sp>
      <p:sp>
        <p:nvSpPr>
          <p:cNvPr id="15" name="TextBox 15">
            <a:extLst>
              <a:ext uri="{FF2B5EF4-FFF2-40B4-BE49-F238E27FC236}">
                <a16:creationId xmlns:a16="http://schemas.microsoft.com/office/drawing/2014/main" id="{B99BB6EA-D8F1-4502-BB2B-2A510284B4B4}"/>
              </a:ext>
            </a:extLst>
          </p:cNvPr>
          <p:cNvSpPr txBox="1"/>
          <p:nvPr/>
        </p:nvSpPr>
        <p:spPr>
          <a:xfrm>
            <a:off x="5238750" y="1638300"/>
            <a:ext cx="2619375" cy="495300"/>
          </a:xfrm>
        </p:spPr>
        <p:txBody>
          <a:bodyPr wrap="square" rtlCol="0" lIns="0" tIns="0" rIns="0" bIns="0" anchor="t"/>
          <a:lstStyle/>
          <a:p>
            <a:pPr>
              <a:lnSpc>
                <a:spcPct val="108000"/>
              </a:lnSpc>
            </a:pPr>
            <a:r>
              <a:rPr sz="1050">
                <a:solidFill>
                  <a:srgbClr val="243B45"/>
                </a:solidFill>
              </a:rPr>
              <a:t>480 fiches × 8 min ≈ 64 h</a:t>
            </a:r>
          </a:p>
        </p:txBody>
      </p:sp>
      <p:sp>
        <p:nvSpPr>
          <p:cNvPr id="16" name="TextBox 16">
            <a:extLst>
              <a:ext uri="{FF2B5EF4-FFF2-40B4-BE49-F238E27FC236}">
                <a16:creationId xmlns:a16="http://schemas.microsoft.com/office/drawing/2014/main" id="{C62E0139-D025-4746-A37F-950587935162}"/>
              </a:ext>
            </a:extLst>
          </p:cNvPr>
          <p:cNvSpPr txBox="1"/>
          <p:nvPr/>
        </p:nvSpPr>
        <p:spPr>
          <a:xfrm>
            <a:off x="8001000" y="1638300"/>
            <a:ext cx="2238375" cy="495300"/>
          </a:xfrm>
        </p:spPr>
        <p:txBody>
          <a:bodyPr wrap="square" rtlCol="0" lIns="0" tIns="0" rIns="0" bIns="0" anchor="t"/>
          <a:lstStyle/>
          <a:p>
            <a:pPr>
              <a:lnSpc>
                <a:spcPct val="108000"/>
              </a:lnSpc>
            </a:pPr>
            <a:r>
              <a:rPr sz="1050">
                <a:solidFill>
                  <a:srgbClr val="243B45"/>
                </a:solidFill>
              </a:rPr>
              <a:t>dossier unique, une seule saisie (RG-02)</a:t>
            </a:r>
          </a:p>
        </p:txBody>
      </p:sp>
      <p:sp>
        <p:nvSpPr>
          <p:cNvPr id="17" name="TextBox 17">
            <a:extLst>
              <a:ext uri="{FF2B5EF4-FFF2-40B4-BE49-F238E27FC236}">
                <a16:creationId xmlns:a16="http://schemas.microsoft.com/office/drawing/2014/main" id="{84F0D2F8-7CEA-4DAA-BDF0-D29C93D5FDDB}"/>
              </a:ext>
            </a:extLst>
          </p:cNvPr>
          <p:cNvSpPr txBox="1"/>
          <p:nvPr/>
        </p:nvSpPr>
        <p:spPr>
          <a:xfrm>
            <a:off x="10287000" y="1638300"/>
            <a:ext cx="571500" cy="495300"/>
          </a:xfrm>
        </p:spPr>
        <p:txBody>
          <a:bodyPr wrap="square" rtlCol="0" lIns="0" tIns="0" rIns="0" bIns="0" anchor="t"/>
          <a:lstStyle/>
          <a:p>
            <a:pPr algn="r">
              <a:lnSpc>
                <a:spcPct val="108000"/>
              </a:lnSpc>
            </a:pPr>
            <a:r>
              <a:rPr sz="1050">
                <a:solidFill>
                  <a:srgbClr val="243B45"/>
                </a:solidFill>
              </a:rPr>
              <a:t>~90 %</a:t>
            </a:r>
          </a:p>
        </p:txBody>
      </p:sp>
      <p:sp>
        <p:nvSpPr>
          <p:cNvPr id="18" name="TextBox 18">
            <a:extLst>
              <a:ext uri="{FF2B5EF4-FFF2-40B4-BE49-F238E27FC236}">
                <a16:creationId xmlns:a16="http://schemas.microsoft.com/office/drawing/2014/main" id="{B38AC217-4F49-40BD-95A3-2A0DF4A87B74}"/>
              </a:ext>
            </a:extLst>
          </p:cNvPr>
          <p:cNvSpPr txBox="1"/>
          <p:nvPr/>
        </p:nvSpPr>
        <p:spPr>
          <a:xfrm>
            <a:off x="10906125" y="1638300"/>
            <a:ext cx="762000" cy="495300"/>
          </a:xfrm>
        </p:spPr>
        <p:txBody>
          <a:bodyPr wrap="square" rtlCol="0" lIns="0" tIns="0" rIns="0" bIns="0" anchor="t"/>
          <a:lstStyle/>
          <a:p>
            <a:pPr algn="r">
              <a:lnSpc>
                <a:spcPct val="108000"/>
              </a:lnSpc>
            </a:pPr>
            <a:r>
              <a:rPr sz="1200" b="1">
                <a:solidFill>
                  <a:srgbClr val="2E7D8C"/>
                </a:solidFill>
              </a:rPr>
              <a:t>58 h</a:t>
            </a:r>
          </a:p>
        </p:txBody>
      </p:sp>
      <p:sp>
        <p:nvSpPr>
          <p:cNvPr id="19" name="Shape 19">
            <a:extLst>
              <a:ext uri="{FF2B5EF4-FFF2-40B4-BE49-F238E27FC236}">
                <a16:creationId xmlns:a16="http://schemas.microsoft.com/office/drawing/2014/main" id="{AFE8525C-6A92-41BF-BEC2-3C3EA9927CB1}"/>
              </a:ext>
            </a:extLst>
          </p:cNvPr>
          <p:cNvSpPr/>
          <p:nvPr/>
        </p:nvSpPr>
        <p:spPr>
          <a:xfrm>
            <a:off x="571500" y="2190750"/>
            <a:ext cx="11049000" cy="647700"/>
          </a:xfrm>
          <a:prstGeom prst="rect">
            <a:avLst/>
          </a:prstGeom>
          <a:solidFill>
            <a:srgbClr val="FFFFFF"/>
          </a:solidFill>
        </p:spPr>
        <p:txBody>
          <a:bodyPr wrap="square" rtlCol="0"/>
          <a:lstStyle/>
          <a:p>
            <a:r>
              <a:rPr/>
              <a:t/>
            </a:r>
          </a:p>
        </p:txBody>
      </p:sp>
      <p:sp>
        <p:nvSpPr>
          <p:cNvPr id="20" name="TextBox 20">
            <a:extLst>
              <a:ext uri="{FF2B5EF4-FFF2-40B4-BE49-F238E27FC236}">
                <a16:creationId xmlns:a16="http://schemas.microsoft.com/office/drawing/2014/main" id="{AE0D448D-6BB4-4F80-A634-2714C8D82BD3}"/>
              </a:ext>
            </a:extLst>
          </p:cNvPr>
          <p:cNvSpPr txBox="1"/>
          <p:nvPr/>
        </p:nvSpPr>
        <p:spPr>
          <a:xfrm>
            <a:off x="666750" y="2286000"/>
            <a:ext cx="2000250" cy="495300"/>
          </a:xfrm>
        </p:spPr>
        <p:txBody>
          <a:bodyPr wrap="square" rtlCol="0" lIns="0" tIns="0" rIns="0" bIns="0" anchor="t"/>
          <a:lstStyle/>
          <a:p>
            <a:pPr>
              <a:lnSpc>
                <a:spcPct val="108000"/>
              </a:lnSpc>
            </a:pPr>
            <a:r>
              <a:rPr sz="1100" b="1">
                <a:solidFill>
                  <a:srgbClr val="243B45"/>
                </a:solidFill>
              </a:rPr>
              <a:t>D4 — recherche d'historique</a:t>
            </a:r>
          </a:p>
        </p:txBody>
      </p:sp>
      <p:sp>
        <p:nvSpPr>
          <p:cNvPr id="21" name="TextBox 21">
            <a:extLst>
              <a:ext uri="{FF2B5EF4-FFF2-40B4-BE49-F238E27FC236}">
                <a16:creationId xmlns:a16="http://schemas.microsoft.com/office/drawing/2014/main" id="{EB6C4291-1946-4380-96BD-8D8792CFA77D}"/>
              </a:ext>
            </a:extLst>
          </p:cNvPr>
          <p:cNvSpPr txBox="1"/>
          <p:nvPr/>
        </p:nvSpPr>
        <p:spPr>
          <a:xfrm>
            <a:off x="2762250" y="2286000"/>
            <a:ext cx="2333625" cy="495300"/>
          </a:xfrm>
        </p:spPr>
        <p:txBody>
          <a:bodyPr wrap="square" rtlCol="0" lIns="0" tIns="0" rIns="0" bIns="0" anchor="t"/>
          <a:lstStyle/>
          <a:p>
            <a:pPr>
              <a:lnSpc>
                <a:spcPct val="108000"/>
              </a:lnSpc>
            </a:pPr>
            <a:r>
              <a:rPr sz="1050">
                <a:solidFill>
                  <a:srgbClr val="243B45"/>
                </a:solidFill>
              </a:rPr>
              <a:t>archives papier consultées à la main</a:t>
            </a:r>
          </a:p>
        </p:txBody>
      </p:sp>
      <p:sp>
        <p:nvSpPr>
          <p:cNvPr id="22" name="TextBox 22">
            <a:extLst>
              <a:ext uri="{FF2B5EF4-FFF2-40B4-BE49-F238E27FC236}">
                <a16:creationId xmlns:a16="http://schemas.microsoft.com/office/drawing/2014/main" id="{18DF4D84-F43D-47C1-87D7-AEC3885872E2}"/>
              </a:ext>
            </a:extLst>
          </p:cNvPr>
          <p:cNvSpPr txBox="1"/>
          <p:nvPr/>
        </p:nvSpPr>
        <p:spPr>
          <a:xfrm>
            <a:off x="5238750" y="2286000"/>
            <a:ext cx="2619375" cy="495300"/>
          </a:xfrm>
        </p:spPr>
        <p:txBody>
          <a:bodyPr wrap="square" rtlCol="0" lIns="0" tIns="0" rIns="0" bIns="0" anchor="t"/>
          <a:lstStyle/>
          <a:p>
            <a:pPr>
              <a:lnSpc>
                <a:spcPct val="108000"/>
              </a:lnSpc>
            </a:pPr>
            <a:r>
              <a:rPr sz="1050">
                <a:solidFill>
                  <a:srgbClr val="243B45"/>
                </a:solidFill>
              </a:rPr>
              <a:t>20 min × volume ≈ 160 h</a:t>
            </a:r>
          </a:p>
        </p:txBody>
      </p:sp>
      <p:sp>
        <p:nvSpPr>
          <p:cNvPr id="23" name="TextBox 23">
            <a:extLst>
              <a:ext uri="{FF2B5EF4-FFF2-40B4-BE49-F238E27FC236}">
                <a16:creationId xmlns:a16="http://schemas.microsoft.com/office/drawing/2014/main" id="{DEB71A79-3CAC-49C9-9D9B-4BC4CAA53286}"/>
              </a:ext>
            </a:extLst>
          </p:cNvPr>
          <p:cNvSpPr txBox="1"/>
          <p:nvPr/>
        </p:nvSpPr>
        <p:spPr>
          <a:xfrm>
            <a:off x="8001000" y="2286000"/>
            <a:ext cx="2238375" cy="495300"/>
          </a:xfrm>
        </p:spPr>
        <p:txBody>
          <a:bodyPr wrap="square" rtlCol="0" lIns="0" tIns="0" rIns="0" bIns="0" anchor="t"/>
          <a:lstStyle/>
          <a:p>
            <a:pPr>
              <a:lnSpc>
                <a:spcPct val="108000"/>
              </a:lnSpc>
            </a:pPr>
            <a:r>
              <a:rPr sz="1050">
                <a:solidFill>
                  <a:srgbClr val="243B45"/>
                </a:solidFill>
              </a:rPr>
              <a:t>historique intégré à l'écran (EF-06)</a:t>
            </a:r>
          </a:p>
        </p:txBody>
      </p:sp>
      <p:sp>
        <p:nvSpPr>
          <p:cNvPr id="24" name="TextBox 24">
            <a:extLst>
              <a:ext uri="{FF2B5EF4-FFF2-40B4-BE49-F238E27FC236}">
                <a16:creationId xmlns:a16="http://schemas.microsoft.com/office/drawing/2014/main" id="{8CB37F4E-20E3-45BC-BA95-CA6F8DDFB648}"/>
              </a:ext>
            </a:extLst>
          </p:cNvPr>
          <p:cNvSpPr txBox="1"/>
          <p:nvPr/>
        </p:nvSpPr>
        <p:spPr>
          <a:xfrm>
            <a:off x="10287000" y="2286000"/>
            <a:ext cx="571500" cy="495300"/>
          </a:xfrm>
        </p:spPr>
        <p:txBody>
          <a:bodyPr wrap="square" rtlCol="0" lIns="0" tIns="0" rIns="0" bIns="0" anchor="t"/>
          <a:lstStyle/>
          <a:p>
            <a:pPr algn="r">
              <a:lnSpc>
                <a:spcPct val="108000"/>
              </a:lnSpc>
            </a:pPr>
            <a:r>
              <a:rPr sz="1050">
                <a:solidFill>
                  <a:srgbClr val="243B45"/>
                </a:solidFill>
              </a:rPr>
              <a:t>~75 %</a:t>
            </a:r>
          </a:p>
        </p:txBody>
      </p:sp>
      <p:sp>
        <p:nvSpPr>
          <p:cNvPr id="25" name="TextBox 25">
            <a:extLst>
              <a:ext uri="{FF2B5EF4-FFF2-40B4-BE49-F238E27FC236}">
                <a16:creationId xmlns:a16="http://schemas.microsoft.com/office/drawing/2014/main" id="{4F5C61C6-B5D2-452A-BF02-A3EB0F75CD49}"/>
              </a:ext>
            </a:extLst>
          </p:cNvPr>
          <p:cNvSpPr txBox="1"/>
          <p:nvPr/>
        </p:nvSpPr>
        <p:spPr>
          <a:xfrm>
            <a:off x="10906125" y="2286000"/>
            <a:ext cx="762000" cy="495300"/>
          </a:xfrm>
        </p:spPr>
        <p:txBody>
          <a:bodyPr wrap="square" rtlCol="0" lIns="0" tIns="0" rIns="0" bIns="0" anchor="t"/>
          <a:lstStyle/>
          <a:p>
            <a:pPr algn="r">
              <a:lnSpc>
                <a:spcPct val="108000"/>
              </a:lnSpc>
            </a:pPr>
            <a:r>
              <a:rPr sz="1200" b="1">
                <a:solidFill>
                  <a:srgbClr val="2E7D8C"/>
                </a:solidFill>
              </a:rPr>
              <a:t>120 h</a:t>
            </a:r>
          </a:p>
        </p:txBody>
      </p:sp>
      <p:sp>
        <p:nvSpPr>
          <p:cNvPr id="26" name="Shape 26">
            <a:extLst>
              <a:ext uri="{FF2B5EF4-FFF2-40B4-BE49-F238E27FC236}">
                <a16:creationId xmlns:a16="http://schemas.microsoft.com/office/drawing/2014/main" id="{2D169335-DC5F-4DAC-8A8B-7490B866DC4E}"/>
              </a:ext>
            </a:extLst>
          </p:cNvPr>
          <p:cNvSpPr/>
          <p:nvPr/>
        </p:nvSpPr>
        <p:spPr>
          <a:xfrm>
            <a:off x="571500" y="2838450"/>
            <a:ext cx="11049000" cy="647700"/>
          </a:xfrm>
          <a:prstGeom prst="rect">
            <a:avLst/>
          </a:prstGeom>
          <a:solidFill>
            <a:srgbClr val="F7F2E7"/>
          </a:solidFill>
        </p:spPr>
        <p:txBody>
          <a:bodyPr wrap="square" rtlCol="0"/>
          <a:lstStyle/>
          <a:p>
            <a:r>
              <a:rPr/>
              <a:t/>
            </a:r>
          </a:p>
        </p:txBody>
      </p:sp>
      <p:sp>
        <p:nvSpPr>
          <p:cNvPr id="27" name="TextBox 27">
            <a:extLst>
              <a:ext uri="{FF2B5EF4-FFF2-40B4-BE49-F238E27FC236}">
                <a16:creationId xmlns:a16="http://schemas.microsoft.com/office/drawing/2014/main" id="{F5BAB42E-3F67-457D-A12C-DC541B8E9857}"/>
              </a:ext>
            </a:extLst>
          </p:cNvPr>
          <p:cNvSpPr txBox="1"/>
          <p:nvPr/>
        </p:nvSpPr>
        <p:spPr>
          <a:xfrm>
            <a:off x="666750" y="2933700"/>
            <a:ext cx="2000250" cy="495300"/>
          </a:xfrm>
        </p:spPr>
        <p:txBody>
          <a:bodyPr wrap="square" rtlCol="0" lIns="0" tIns="0" rIns="0" bIns="0" anchor="t"/>
          <a:lstStyle/>
          <a:p>
            <a:pPr>
              <a:lnSpc>
                <a:spcPct val="108000"/>
              </a:lnSpc>
            </a:pPr>
            <a:r>
              <a:rPr sz="1100" b="1">
                <a:solidFill>
                  <a:srgbClr val="243B45"/>
                </a:solidFill>
              </a:rPr>
              <a:t>D1 / D5 — appels de suivi</a:t>
            </a:r>
          </a:p>
        </p:txBody>
      </p:sp>
      <p:sp>
        <p:nvSpPr>
          <p:cNvPr id="28" name="TextBox 28">
            <a:extLst>
              <a:ext uri="{FF2B5EF4-FFF2-40B4-BE49-F238E27FC236}">
                <a16:creationId xmlns:a16="http://schemas.microsoft.com/office/drawing/2014/main" id="{BBA400F0-CFFD-424D-BFC9-621A03415F9F}"/>
              </a:ext>
            </a:extLst>
          </p:cNvPr>
          <p:cNvSpPr txBox="1"/>
          <p:nvPr/>
        </p:nvSpPr>
        <p:spPr>
          <a:xfrm>
            <a:off x="2762250" y="2933700"/>
            <a:ext cx="2333625" cy="495300"/>
          </a:xfrm>
        </p:spPr>
        <p:txBody>
          <a:bodyPr wrap="square" rtlCol="0" lIns="0" tIns="0" rIns="0" bIns="0" anchor="t"/>
          <a:lstStyle/>
          <a:p>
            <a:pPr>
              <a:lnSpc>
                <a:spcPct val="108000"/>
              </a:lnSpc>
            </a:pPr>
            <a:r>
              <a:rPr sz="1050">
                <a:solidFill>
                  <a:srgbClr val="243B45"/>
                </a:solidFill>
              </a:rPr>
              <a:t>« où en est mon dossier ? »</a:t>
            </a:r>
          </a:p>
        </p:txBody>
      </p:sp>
      <p:sp>
        <p:nvSpPr>
          <p:cNvPr id="29" name="TextBox 29">
            <a:extLst>
              <a:ext uri="{FF2B5EF4-FFF2-40B4-BE49-F238E27FC236}">
                <a16:creationId xmlns:a16="http://schemas.microsoft.com/office/drawing/2014/main" id="{59D38B78-A559-4B8A-91D6-E33C0905D2E8}"/>
              </a:ext>
            </a:extLst>
          </p:cNvPr>
          <p:cNvSpPr txBox="1"/>
          <p:nvPr/>
        </p:nvSpPr>
        <p:spPr>
          <a:xfrm>
            <a:off x="5238750" y="2933700"/>
            <a:ext cx="2619375" cy="495300"/>
          </a:xfrm>
        </p:spPr>
        <p:txBody>
          <a:bodyPr wrap="square" rtlCol="0" lIns="0" tIns="0" rIns="0" bIns="0" anchor="t"/>
          <a:lstStyle/>
          <a:p>
            <a:pPr>
              <a:lnSpc>
                <a:spcPct val="108000"/>
              </a:lnSpc>
            </a:pPr>
            <a:r>
              <a:rPr sz="1050">
                <a:solidFill>
                  <a:srgbClr val="243B45"/>
                </a:solidFill>
              </a:rPr>
              <a:t>2 200 appels × 3 min ≈ 110 h</a:t>
            </a:r>
          </a:p>
        </p:txBody>
      </p:sp>
      <p:sp>
        <p:nvSpPr>
          <p:cNvPr id="30" name="TextBox 30">
            <a:extLst>
              <a:ext uri="{FF2B5EF4-FFF2-40B4-BE49-F238E27FC236}">
                <a16:creationId xmlns:a16="http://schemas.microsoft.com/office/drawing/2014/main" id="{478815F6-5EF2-4E74-91F6-F05510240E71}"/>
              </a:ext>
            </a:extLst>
          </p:cNvPr>
          <p:cNvSpPr txBox="1"/>
          <p:nvPr/>
        </p:nvSpPr>
        <p:spPr>
          <a:xfrm>
            <a:off x="8001000" y="2933700"/>
            <a:ext cx="2238375" cy="495300"/>
          </a:xfrm>
        </p:spPr>
        <p:txBody>
          <a:bodyPr wrap="square" rtlCol="0" lIns="0" tIns="0" rIns="0" bIns="0" anchor="t"/>
          <a:lstStyle/>
          <a:p>
            <a:pPr>
              <a:lnSpc>
                <a:spcPct val="108000"/>
              </a:lnSpc>
            </a:pPr>
            <a:r>
              <a:rPr sz="1050">
                <a:solidFill>
                  <a:srgbClr val="243B45"/>
                </a:solidFill>
              </a:rPr>
              <a:t>portail + notifications auto (EF-07, RG-04)</a:t>
            </a:r>
          </a:p>
        </p:txBody>
      </p:sp>
      <p:sp>
        <p:nvSpPr>
          <p:cNvPr id="31" name="TextBox 31">
            <a:extLst>
              <a:ext uri="{FF2B5EF4-FFF2-40B4-BE49-F238E27FC236}">
                <a16:creationId xmlns:a16="http://schemas.microsoft.com/office/drawing/2014/main" id="{62000156-BA34-4F38-8016-5BE4AC5C3B33}"/>
              </a:ext>
            </a:extLst>
          </p:cNvPr>
          <p:cNvSpPr txBox="1"/>
          <p:nvPr/>
        </p:nvSpPr>
        <p:spPr>
          <a:xfrm>
            <a:off x="10287000" y="2933700"/>
            <a:ext cx="571500" cy="495300"/>
          </a:xfrm>
        </p:spPr>
        <p:txBody>
          <a:bodyPr wrap="square" rtlCol="0" lIns="0" tIns="0" rIns="0" bIns="0" anchor="t"/>
          <a:lstStyle/>
          <a:p>
            <a:pPr algn="r">
              <a:lnSpc>
                <a:spcPct val="108000"/>
              </a:lnSpc>
            </a:pPr>
            <a:r>
              <a:rPr sz="1050">
                <a:solidFill>
                  <a:srgbClr val="243B45"/>
                </a:solidFill>
              </a:rPr>
              <a:t>~80 %</a:t>
            </a:r>
          </a:p>
        </p:txBody>
      </p:sp>
      <p:sp>
        <p:nvSpPr>
          <p:cNvPr id="32" name="TextBox 32">
            <a:extLst>
              <a:ext uri="{FF2B5EF4-FFF2-40B4-BE49-F238E27FC236}">
                <a16:creationId xmlns:a16="http://schemas.microsoft.com/office/drawing/2014/main" id="{BEB001DF-A0E5-4F56-A569-75389741821F}"/>
              </a:ext>
            </a:extLst>
          </p:cNvPr>
          <p:cNvSpPr txBox="1"/>
          <p:nvPr/>
        </p:nvSpPr>
        <p:spPr>
          <a:xfrm>
            <a:off x="10906125" y="2933700"/>
            <a:ext cx="762000" cy="495300"/>
          </a:xfrm>
        </p:spPr>
        <p:txBody>
          <a:bodyPr wrap="square" rtlCol="0" lIns="0" tIns="0" rIns="0" bIns="0" anchor="t"/>
          <a:lstStyle/>
          <a:p>
            <a:pPr algn="r">
              <a:lnSpc>
                <a:spcPct val="108000"/>
              </a:lnSpc>
            </a:pPr>
            <a:r>
              <a:rPr sz="1200" b="1">
                <a:solidFill>
                  <a:srgbClr val="2E7D8C"/>
                </a:solidFill>
              </a:rPr>
              <a:t>88 h</a:t>
            </a:r>
          </a:p>
        </p:txBody>
      </p:sp>
      <p:sp>
        <p:nvSpPr>
          <p:cNvPr id="33" name="Shape 33">
            <a:extLst>
              <a:ext uri="{FF2B5EF4-FFF2-40B4-BE49-F238E27FC236}">
                <a16:creationId xmlns:a16="http://schemas.microsoft.com/office/drawing/2014/main" id="{1852BDE9-C3F7-462B-851F-5DAAE3A20895}"/>
              </a:ext>
            </a:extLst>
          </p:cNvPr>
          <p:cNvSpPr/>
          <p:nvPr/>
        </p:nvSpPr>
        <p:spPr>
          <a:xfrm>
            <a:off x="571500" y="3486150"/>
            <a:ext cx="11049000" cy="647700"/>
          </a:xfrm>
          <a:prstGeom prst="rect">
            <a:avLst/>
          </a:prstGeom>
          <a:solidFill>
            <a:srgbClr val="FFFFFF"/>
          </a:solidFill>
        </p:spPr>
        <p:txBody>
          <a:bodyPr wrap="square" rtlCol="0"/>
          <a:lstStyle/>
          <a:p>
            <a:r>
              <a:rPr/>
              <a:t/>
            </a:r>
          </a:p>
        </p:txBody>
      </p:sp>
      <p:sp>
        <p:nvSpPr>
          <p:cNvPr id="34" name="TextBox 34">
            <a:extLst>
              <a:ext uri="{FF2B5EF4-FFF2-40B4-BE49-F238E27FC236}">
                <a16:creationId xmlns:a16="http://schemas.microsoft.com/office/drawing/2014/main" id="{EC850A61-A0AA-4DC1-808A-1B9945967B28}"/>
              </a:ext>
            </a:extLst>
          </p:cNvPr>
          <p:cNvSpPr txBox="1"/>
          <p:nvPr/>
        </p:nvSpPr>
        <p:spPr>
          <a:xfrm>
            <a:off x="666750" y="3581400"/>
            <a:ext cx="2000250" cy="495300"/>
          </a:xfrm>
        </p:spPr>
        <p:txBody>
          <a:bodyPr wrap="square" rtlCol="0" lIns="0" tIns="0" rIns="0" bIns="0" anchor="t"/>
          <a:lstStyle/>
          <a:p>
            <a:pPr>
              <a:lnSpc>
                <a:spcPct val="108000"/>
              </a:lnSpc>
            </a:pPr>
            <a:r>
              <a:rPr sz="1100" b="1">
                <a:solidFill>
                  <a:srgbClr val="243B45"/>
                </a:solidFill>
              </a:rPr>
              <a:t>D2 — retouche incomplets</a:t>
            </a:r>
          </a:p>
        </p:txBody>
      </p:sp>
      <p:sp>
        <p:nvSpPr>
          <p:cNvPr id="35" name="TextBox 35">
            <a:extLst>
              <a:ext uri="{FF2B5EF4-FFF2-40B4-BE49-F238E27FC236}">
                <a16:creationId xmlns:a16="http://schemas.microsoft.com/office/drawing/2014/main" id="{A8A643EF-8301-4482-A558-D5D456AF2DFD}"/>
              </a:ext>
            </a:extLst>
          </p:cNvPr>
          <p:cNvSpPr txBox="1"/>
          <p:nvPr/>
        </p:nvSpPr>
        <p:spPr>
          <a:xfrm>
            <a:off x="2762250" y="3581400"/>
            <a:ext cx="2333625" cy="495300"/>
          </a:xfrm>
        </p:spPr>
        <p:txBody>
          <a:bodyPr wrap="square" rtlCol="0" lIns="0" tIns="0" rIns="0" bIns="0" anchor="t"/>
          <a:lstStyle/>
          <a:p>
            <a:pPr>
              <a:lnSpc>
                <a:spcPct val="108000"/>
              </a:lnSpc>
            </a:pPr>
            <a:r>
              <a:rPr sz="1050">
                <a:solidFill>
                  <a:srgbClr val="243B45"/>
                </a:solidFill>
              </a:rPr>
              <a:t>35 % arrivent incomplets au siège</a:t>
            </a:r>
          </a:p>
        </p:txBody>
      </p:sp>
      <p:sp>
        <p:nvSpPr>
          <p:cNvPr id="36" name="TextBox 36">
            <a:extLst>
              <a:ext uri="{FF2B5EF4-FFF2-40B4-BE49-F238E27FC236}">
                <a16:creationId xmlns:a16="http://schemas.microsoft.com/office/drawing/2014/main" id="{CC9E2276-874C-4E72-8C49-36E3CEF82BAA}"/>
              </a:ext>
            </a:extLst>
          </p:cNvPr>
          <p:cNvSpPr txBox="1"/>
          <p:nvPr/>
        </p:nvSpPr>
        <p:spPr>
          <a:xfrm>
            <a:off x="5238750" y="3581400"/>
            <a:ext cx="2619375" cy="495300"/>
          </a:xfrm>
        </p:spPr>
        <p:txBody>
          <a:bodyPr wrap="square" rtlCol="0" lIns="0" tIns="0" rIns="0" bIns="0" anchor="t"/>
          <a:lstStyle/>
          <a:p>
            <a:pPr>
              <a:lnSpc>
                <a:spcPct val="108000"/>
              </a:lnSpc>
            </a:pPr>
            <a:r>
              <a:rPr sz="1050">
                <a:solidFill>
                  <a:srgbClr val="243B45"/>
                </a:solidFill>
              </a:rPr>
              <a:t>168 dossiers × 30 min ≈ 84 h</a:t>
            </a:r>
          </a:p>
        </p:txBody>
      </p:sp>
      <p:sp>
        <p:nvSpPr>
          <p:cNvPr id="37" name="TextBox 37">
            <a:extLst>
              <a:ext uri="{FF2B5EF4-FFF2-40B4-BE49-F238E27FC236}">
                <a16:creationId xmlns:a16="http://schemas.microsoft.com/office/drawing/2014/main" id="{566F2687-9372-41AF-8EB1-4E0A44C36DD0}"/>
              </a:ext>
            </a:extLst>
          </p:cNvPr>
          <p:cNvSpPr txBox="1"/>
          <p:nvPr/>
        </p:nvSpPr>
        <p:spPr>
          <a:xfrm>
            <a:off x="8001000" y="3581400"/>
            <a:ext cx="2238375" cy="495300"/>
          </a:xfrm>
        </p:spPr>
        <p:txBody>
          <a:bodyPr wrap="square" rtlCol="0" lIns="0" tIns="0" rIns="0" bIns="0" anchor="t"/>
          <a:lstStyle/>
          <a:p>
            <a:pPr>
              <a:lnSpc>
                <a:spcPct val="108000"/>
              </a:lnSpc>
            </a:pPr>
            <a:r>
              <a:rPr sz="1050">
                <a:solidFill>
                  <a:srgbClr val="243B45"/>
                </a:solidFill>
              </a:rPr>
              <a:t>contrôle bloquant à la soumission (EF-04)</a:t>
            </a:r>
          </a:p>
        </p:txBody>
      </p:sp>
      <p:sp>
        <p:nvSpPr>
          <p:cNvPr id="38" name="TextBox 38">
            <a:extLst>
              <a:ext uri="{FF2B5EF4-FFF2-40B4-BE49-F238E27FC236}">
                <a16:creationId xmlns:a16="http://schemas.microsoft.com/office/drawing/2014/main" id="{0B62970C-C1A6-4B1D-BB8B-66406D37C935}"/>
              </a:ext>
            </a:extLst>
          </p:cNvPr>
          <p:cNvSpPr txBox="1"/>
          <p:nvPr/>
        </p:nvSpPr>
        <p:spPr>
          <a:xfrm>
            <a:off x="10287000" y="3581400"/>
            <a:ext cx="571500" cy="495300"/>
          </a:xfrm>
        </p:spPr>
        <p:txBody>
          <a:bodyPr wrap="square" rtlCol="0" lIns="0" tIns="0" rIns="0" bIns="0" anchor="t"/>
          <a:lstStyle/>
          <a:p>
            <a:pPr algn="r">
              <a:lnSpc>
                <a:spcPct val="108000"/>
              </a:lnSpc>
            </a:pPr>
            <a:r>
              <a:rPr sz="1050">
                <a:solidFill>
                  <a:srgbClr val="243B45"/>
                </a:solidFill>
              </a:rPr>
              <a:t>~70 %</a:t>
            </a:r>
          </a:p>
        </p:txBody>
      </p:sp>
      <p:sp>
        <p:nvSpPr>
          <p:cNvPr id="39" name="TextBox 39">
            <a:extLst>
              <a:ext uri="{FF2B5EF4-FFF2-40B4-BE49-F238E27FC236}">
                <a16:creationId xmlns:a16="http://schemas.microsoft.com/office/drawing/2014/main" id="{E2818B5C-CC51-45FF-8258-05487FFF2DC1}"/>
              </a:ext>
            </a:extLst>
          </p:cNvPr>
          <p:cNvSpPr txBox="1"/>
          <p:nvPr/>
        </p:nvSpPr>
        <p:spPr>
          <a:xfrm>
            <a:off x="10906125" y="3581400"/>
            <a:ext cx="762000" cy="495300"/>
          </a:xfrm>
        </p:spPr>
        <p:txBody>
          <a:bodyPr wrap="square" rtlCol="0" lIns="0" tIns="0" rIns="0" bIns="0" anchor="t"/>
          <a:lstStyle/>
          <a:p>
            <a:pPr algn="r">
              <a:lnSpc>
                <a:spcPct val="108000"/>
              </a:lnSpc>
            </a:pPr>
            <a:r>
              <a:rPr sz="1200" b="1">
                <a:solidFill>
                  <a:srgbClr val="2E7D8C"/>
                </a:solidFill>
              </a:rPr>
              <a:t>59 h</a:t>
            </a:r>
          </a:p>
        </p:txBody>
      </p:sp>
      <p:sp>
        <p:nvSpPr>
          <p:cNvPr id="40" name="Shape 40">
            <a:extLst>
              <a:ext uri="{FF2B5EF4-FFF2-40B4-BE49-F238E27FC236}">
                <a16:creationId xmlns:a16="http://schemas.microsoft.com/office/drawing/2014/main" id="{8FD9F08D-5472-46B9-9D5E-22C9C308B8AF}"/>
              </a:ext>
            </a:extLst>
          </p:cNvPr>
          <p:cNvSpPr/>
          <p:nvPr/>
        </p:nvSpPr>
        <p:spPr>
          <a:xfrm>
            <a:off x="571500" y="4133850"/>
            <a:ext cx="11049000" cy="419100"/>
          </a:xfrm>
          <a:prstGeom prst="rect">
            <a:avLst/>
          </a:prstGeom>
          <a:solidFill>
            <a:srgbClr val="EAF3F5"/>
          </a:solidFill>
        </p:spPr>
        <p:txBody>
          <a:bodyPr wrap="square" rtlCol="0"/>
          <a:lstStyle/>
          <a:p>
            <a:r>
              <a:rPr/>
              <a:t/>
            </a:r>
          </a:p>
        </p:txBody>
      </p:sp>
      <p:sp>
        <p:nvSpPr>
          <p:cNvPr id="41" name="TextBox 41">
            <a:extLst>
              <a:ext uri="{FF2B5EF4-FFF2-40B4-BE49-F238E27FC236}">
                <a16:creationId xmlns:a16="http://schemas.microsoft.com/office/drawing/2014/main" id="{2749B511-074C-41E2-92B9-5F8DCCF923D1}"/>
              </a:ext>
            </a:extLst>
          </p:cNvPr>
          <p:cNvSpPr txBox="1"/>
          <p:nvPr/>
        </p:nvSpPr>
        <p:spPr>
          <a:xfrm>
            <a:off x="666750" y="4210050"/>
            <a:ext cx="2857500" cy="266700"/>
          </a:xfrm>
        </p:spPr>
        <p:txBody>
          <a:bodyPr wrap="square" rtlCol="0" lIns="0" tIns="0" rIns="0" bIns="0" anchor="t"/>
          <a:lstStyle/>
          <a:p>
            <a:r>
              <a:rPr sz="1200" b="1">
                <a:solidFill>
                  <a:srgbClr val="1F4E5F"/>
                </a:solidFill>
              </a:rPr>
              <a:t>Total récupérable</a:t>
            </a:r>
          </a:p>
        </p:txBody>
      </p:sp>
      <p:sp>
        <p:nvSpPr>
          <p:cNvPr id="42" name="TextBox 42">
            <a:extLst>
              <a:ext uri="{FF2B5EF4-FFF2-40B4-BE49-F238E27FC236}">
                <a16:creationId xmlns:a16="http://schemas.microsoft.com/office/drawing/2014/main" id="{A283F226-76BD-4020-98C9-E2997AF16AEE}"/>
              </a:ext>
            </a:extLst>
          </p:cNvPr>
          <p:cNvSpPr txBox="1"/>
          <p:nvPr/>
        </p:nvSpPr>
        <p:spPr>
          <a:xfrm>
            <a:off x="8763000" y="4210050"/>
            <a:ext cx="2857500" cy="266700"/>
          </a:xfrm>
        </p:spPr>
        <p:txBody>
          <a:bodyPr wrap="square" rtlCol="0" lIns="0" tIns="0" rIns="0" bIns="0" anchor="t"/>
          <a:lstStyle/>
          <a:p>
            <a:pPr algn="r"/>
            <a:r>
              <a:rPr sz="1400" b="1">
                <a:solidFill>
                  <a:srgbClr val="1F4E5F"/>
                </a:solidFill>
              </a:rPr>
              <a:t>≈ 325 h / semaine</a:t>
            </a:r>
          </a:p>
        </p:txBody>
      </p:sp>
      <p:sp>
        <p:nvSpPr>
          <p:cNvPr id="43" name="TextBox 43">
            <a:extLst>
              <a:ext uri="{FF2B5EF4-FFF2-40B4-BE49-F238E27FC236}">
                <a16:creationId xmlns:a16="http://schemas.microsoft.com/office/drawing/2014/main" id="{DDD1B24E-FFFD-4ECD-9340-46DECC85AA34}"/>
              </a:ext>
            </a:extLst>
          </p:cNvPr>
          <p:cNvSpPr txBox="1"/>
          <p:nvPr/>
        </p:nvSpPr>
        <p:spPr>
          <a:xfrm>
            <a:off x="571500" y="4724400"/>
            <a:ext cx="8572500" cy="266700"/>
          </a:xfrm>
        </p:spPr>
        <p:txBody>
          <a:bodyPr wrap="square" rtlCol="0" lIns="0" tIns="0" rIns="0" bIns="0" anchor="t"/>
          <a:lstStyle/>
          <a:p>
            <a:r>
              <a:rPr sz="1150">
                <a:solidFill>
                  <a:srgbClr val="243B45"/>
                </a:solidFill>
              </a:rPr>
              <a:t>325 h × 48 semaines × 25 DT/h = ≈ 390 000 DT par an. Base : 23 040 demandes/an, 48 semaines travaillées.</a:t>
            </a:r>
          </a:p>
        </p:txBody>
      </p:sp>
      <p:sp>
        <p:nvSpPr>
          <p:cNvPr id="44" name="TextBox 44">
            <a:extLst>
              <a:ext uri="{FF2B5EF4-FFF2-40B4-BE49-F238E27FC236}">
                <a16:creationId xmlns:a16="http://schemas.microsoft.com/office/drawing/2014/main" id="{672F7CD6-945E-4B1A-BD89-01E5A5E03576}"/>
              </a:ext>
            </a:extLst>
          </p:cNvPr>
          <p:cNvSpPr txBox="1"/>
          <p:nvPr/>
        </p:nvSpPr>
        <p:spPr>
          <a:xfrm>
            <a:off x="571500" y="5067300"/>
            <a:ext cx="10668000" cy="571500"/>
          </a:xfrm>
        </p:spPr>
        <p:txBody>
          <a:bodyPr wrap="square" rtlCol="0" lIns="0" tIns="0" rIns="0" bIns="0" anchor="t"/>
          <a:lstStyle/>
          <a:p>
            <a:pPr>
              <a:lnSpc>
                <a:spcPct val="115000"/>
              </a:lnSpc>
            </a:pPr>
            <a:r>
              <a:rPr sz="1150" b="1">
                <a:solidFill>
                  <a:srgbClr val="2E7D8C"/>
                </a:solidFill>
              </a:rPr>
              <a:t>Hypothèses de chiffrage : </a:t>
            </a:r>
            <a:r>
              <a:rPr sz="1100">
                <a:solidFill>
                  <a:srgbClr val="6B7C82"/>
                </a:solidFill>
              </a:rPr>
              <a:t>coût horaire interne moyen 25 DT chargé (market back-office) · taux de récupération prudent par douleur (60–90 %) · gains non productivité (délai 12→5 j, risque D7 neutralisé, qualité d'analyse D6, pilotage D8) non monétarisés.</a:t>
            </a:r>
          </a:p>
        </p:txBody>
      </p:sp>
      <p:sp>
        <p:nvSpPr>
          <p:cNvPr id="45" name="TextBox 45">
            <a:extLst>
              <a:ext uri="{FF2B5EF4-FFF2-40B4-BE49-F238E27FC236}">
                <a16:creationId xmlns:a16="http://schemas.microsoft.com/office/drawing/2014/main" id="{73982B2D-A1B8-4DE8-B70B-74CC2CD2DC61}"/>
              </a:ext>
            </a:extLst>
          </p:cNvPr>
          <p:cNvSpPr txBox="1"/>
          <p:nvPr/>
        </p:nvSpPr>
        <p:spPr>
          <a:xfrm>
            <a:off x="571500" y="6362700"/>
            <a:ext cx="8572500" cy="190500"/>
          </a:xfrm>
        </p:spPr>
        <p:txBody>
          <a:bodyPr wrap="square" rtlCol="0" lIns="0" tIns="0" rIns="0" bIns="0" anchor="t"/>
          <a:lstStyle/>
          <a:p>
            <a:r>
              <a:rPr sz="1000" i="1">
                <a:solidFill>
                  <a:srgbClr val="9AA6AC"/>
                </a:solidFill>
              </a:rPr>
              <a:t>Sources : matrice des douleurs (17 nov. 2026) · business case §2–§3 (20 nov. 2026).</a:t>
            </a:r>
          </a:p>
        </p:txBody>
      </p:sp>
      <p:sp>
        <p:nvSpPr>
          <p:cNvPr id="46" name="TextBox 46">
            <a:extLst>
              <a:ext uri="{FF2B5EF4-FFF2-40B4-BE49-F238E27FC236}">
                <a16:creationId xmlns:a16="http://schemas.microsoft.com/office/drawing/2014/main" id="{26F1CFA4-0A9A-4C95-AEEC-DC2764192411}"/>
              </a:ext>
            </a:extLst>
          </p:cNvPr>
          <p:cNvSpPr txBox="1"/>
          <p:nvPr/>
        </p:nvSpPr>
        <p:spPr>
          <a:xfrm>
            <a:off x="11239500" y="6362700"/>
            <a:ext cx="381000" cy="190500"/>
          </a:xfrm>
        </p:spPr>
        <p:txBody>
          <a:bodyPr wrap="square" rtlCol="0" lIns="0" tIns="0" rIns="0" bIns="0" anchor="t"/>
          <a:lstStyle/>
          <a:p>
            <a:pPr algn="r"/>
            <a:r>
              <a:rPr sz="1000">
                <a:solidFill>
                  <a:srgbClr val="9AA6AC"/>
                </a:solidFill>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5C487D2E-11D6-4B1B-9ED5-CF1BC4A34DEB}"/>
              </a:ext>
            </a:extLst>
          </p:cNvPr>
          <p:cNvSpPr txBox="1"/>
          <p:nvPr/>
        </p:nvSpPr>
        <p:spPr>
          <a:xfrm>
            <a:off x="571500" y="304800"/>
            <a:ext cx="4762500" cy="209550"/>
          </a:xfrm>
        </p:spPr>
        <p:txBody>
          <a:bodyPr wrap="square" rtlCol="0" lIns="0" tIns="0" rIns="0" bIns="0" anchor="t"/>
          <a:lstStyle/>
          <a:p>
            <a:r>
              <a:rPr sz="1100" b="1">
                <a:solidFill>
                  <a:srgbClr val="2E7D8C"/>
                </a:solidFill>
              </a:rPr>
              <a:t>CAUSES RACINES · METHODE 5 POURQUOI</a:t>
            </a:r>
          </a:p>
        </p:txBody>
      </p:sp>
      <p:sp>
        <p:nvSpPr>
          <p:cNvPr id="4" name="TextBox 4">
            <a:extLst>
              <a:ext uri="{FF2B5EF4-FFF2-40B4-BE49-F238E27FC236}">
                <a16:creationId xmlns:a16="http://schemas.microsoft.com/office/drawing/2014/main" id="{0CAD7803-AB37-42DF-8526-6862B3D13D1B}"/>
              </a:ext>
            </a:extLst>
          </p:cNvPr>
          <p:cNvSpPr txBox="1"/>
          <p:nvPr/>
        </p:nvSpPr>
        <p:spPr>
          <a:xfrm>
            <a:off x="571500" y="571500"/>
            <a:ext cx="10477500" cy="438150"/>
          </a:xfrm>
        </p:spPr>
        <p:txBody>
          <a:bodyPr wrap="square" rtlCol="0" lIns="0" tIns="0" rIns="0" bIns="0" anchor="t"/>
          <a:lstStyle/>
          <a:p>
            <a:r>
              <a:rPr sz="2300" b="1">
                <a:solidFill>
                  <a:srgbClr val="243B45"/>
                </a:solidFill>
              </a:rPr>
              <a:t>Traiter trois causes structureles, pas huit symptômes</a:t>
            </a:r>
          </a:p>
        </p:txBody>
      </p:sp>
      <p:sp>
        <p:nvSpPr>
          <p:cNvPr id="5" name="TextBox 5">
            <a:extLst>
              <a:ext uri="{FF2B5EF4-FFF2-40B4-BE49-F238E27FC236}">
                <a16:creationId xmlns:a16="http://schemas.microsoft.com/office/drawing/2014/main" id="{46BA9707-FAE5-4129-B249-DFEBD7C07C50}"/>
              </a:ext>
            </a:extLst>
          </p:cNvPr>
          <p:cNvSpPr txBox="1"/>
          <p:nvPr/>
        </p:nvSpPr>
        <p:spPr>
          <a:xfrm>
            <a:off x="571500" y="1162050"/>
            <a:ext cx="4476750" cy="228600"/>
          </a:xfrm>
        </p:spPr>
        <p:txBody>
          <a:bodyPr wrap="square" rtlCol="0" lIns="0" tIns="0" rIns="0" bIns="0" anchor="t"/>
          <a:lstStyle/>
          <a:p>
            <a:r>
              <a:rPr sz="1200" b="1">
                <a:solidFill>
                  <a:srgbClr val="2E7D8C"/>
                </a:solidFill>
              </a:rPr>
              <a:t>REMONTÉE COMPLETE SUR LA DOULEUR D2 — DOSSIER INCOMPLET</a:t>
            </a:r>
          </a:p>
        </p:txBody>
      </p:sp>
      <p:sp>
        <p:nvSpPr>
          <p:cNvPr id="6" name="Shape 6">
            <a:extLst>
              <a:ext uri="{FF2B5EF4-FFF2-40B4-BE49-F238E27FC236}">
                <a16:creationId xmlns:a16="http://schemas.microsoft.com/office/drawing/2014/main" id="{45D6E9E3-D8DE-436D-93A0-063BEFA8F666}"/>
              </a:ext>
            </a:extLst>
          </p:cNvPr>
          <p:cNvSpPr/>
          <p:nvPr/>
        </p:nvSpPr>
        <p:spPr>
          <a:xfrm>
            <a:off x="571500" y="1466850"/>
            <a:ext cx="4476750" cy="628650"/>
          </a:xfrm>
          <a:prstGeom prst="rect">
            <a:avLst/>
          </a:prstGeom>
          <a:solidFill>
            <a:srgbClr val="EAF3F5"/>
          </a:solidFill>
        </p:spPr>
        <p:txBody>
          <a:bodyPr wrap="square" rtlCol="0"/>
          <a:lstStyle/>
          <a:p>
            <a:r>
              <a:rPr/>
              <a:t/>
            </a:r>
          </a:p>
        </p:txBody>
      </p:sp>
      <p:sp>
        <p:nvSpPr>
          <p:cNvPr id="7" name="Shape 7">
            <a:extLst>
              <a:ext uri="{FF2B5EF4-FFF2-40B4-BE49-F238E27FC236}">
                <a16:creationId xmlns:a16="http://schemas.microsoft.com/office/drawing/2014/main" id="{B0F949C7-6AE1-468A-AF0C-5D950DD9F8B6}"/>
              </a:ext>
            </a:extLst>
          </p:cNvPr>
          <p:cNvSpPr/>
          <p:nvPr/>
        </p:nvSpPr>
        <p:spPr>
          <a:xfrm>
            <a:off x="571500" y="2171700"/>
            <a:ext cx="4210050" cy="628650"/>
          </a:xfrm>
          <a:prstGeom prst="rect">
            <a:avLst/>
          </a:prstGeom>
          <a:solidFill>
            <a:srgbClr val="EAF3F5"/>
          </a:solidFill>
        </p:spPr>
        <p:txBody>
          <a:bodyPr wrap="square" rtlCol="0"/>
          <a:lstStyle/>
          <a:p>
            <a:r>
              <a:rPr/>
              <a:t/>
            </a:r>
          </a:p>
        </p:txBody>
      </p:sp>
      <p:sp>
        <p:nvSpPr>
          <p:cNvPr id="8" name="Shape 8">
            <a:extLst>
              <a:ext uri="{FF2B5EF4-FFF2-40B4-BE49-F238E27FC236}">
                <a16:creationId xmlns:a16="http://schemas.microsoft.com/office/drawing/2014/main" id="{D1946CB5-FC5E-40AD-91E0-CC2D6C0BECD9}"/>
              </a:ext>
            </a:extLst>
          </p:cNvPr>
          <p:cNvSpPr/>
          <p:nvPr/>
        </p:nvSpPr>
        <p:spPr>
          <a:xfrm>
            <a:off x="571500" y="2876550"/>
            <a:ext cx="3943350" cy="628650"/>
          </a:xfrm>
          <a:prstGeom prst="rect">
            <a:avLst/>
          </a:prstGeom>
          <a:solidFill>
            <a:srgbClr val="EAF3F5"/>
          </a:solidFill>
        </p:spPr>
        <p:txBody>
          <a:bodyPr wrap="square" rtlCol="0"/>
          <a:lstStyle/>
          <a:p>
            <a:r>
              <a:rPr/>
              <a:t/>
            </a:r>
          </a:p>
        </p:txBody>
      </p:sp>
      <p:sp>
        <p:nvSpPr>
          <p:cNvPr id="9" name="Shape 9">
            <a:extLst>
              <a:ext uri="{FF2B5EF4-FFF2-40B4-BE49-F238E27FC236}">
                <a16:creationId xmlns:a16="http://schemas.microsoft.com/office/drawing/2014/main" id="{B9F8D0D5-763A-4FEC-9D64-6199EBC86754}"/>
              </a:ext>
            </a:extLst>
          </p:cNvPr>
          <p:cNvSpPr/>
          <p:nvPr/>
        </p:nvSpPr>
        <p:spPr>
          <a:xfrm>
            <a:off x="571500" y="3581400"/>
            <a:ext cx="3676650" cy="628650"/>
          </a:xfrm>
          <a:prstGeom prst="rect">
            <a:avLst/>
          </a:prstGeom>
          <a:solidFill>
            <a:srgbClr val="EAF3F5"/>
          </a:solidFill>
        </p:spPr>
        <p:txBody>
          <a:bodyPr wrap="square" rtlCol="0"/>
          <a:lstStyle/>
          <a:p>
            <a:r>
              <a:rPr/>
              <a:t/>
            </a:r>
          </a:p>
        </p:txBody>
      </p:sp>
      <p:sp>
        <p:nvSpPr>
          <p:cNvPr id="10" name="Shape 10">
            <a:extLst>
              <a:ext uri="{FF2B5EF4-FFF2-40B4-BE49-F238E27FC236}">
                <a16:creationId xmlns:a16="http://schemas.microsoft.com/office/drawing/2014/main" id="{3B9F9A44-6743-43A8-92DC-3BB7867352BC}"/>
              </a:ext>
            </a:extLst>
          </p:cNvPr>
          <p:cNvSpPr/>
          <p:nvPr/>
        </p:nvSpPr>
        <p:spPr>
          <a:xfrm>
            <a:off x="571500" y="4286250"/>
            <a:ext cx="3409950" cy="723900"/>
          </a:xfrm>
          <a:prstGeom prst="rect">
            <a:avLst/>
          </a:prstGeom>
          <a:solidFill>
            <a:srgbClr val="2E7D8C"/>
          </a:solidFill>
        </p:spPr>
        <p:txBody>
          <a:bodyPr wrap="square" rtlCol="0"/>
          <a:lstStyle/>
          <a:p>
            <a:r>
              <a:rPr/>
              <a:t/>
            </a:r>
          </a:p>
        </p:txBody>
      </p:sp>
      <p:sp>
        <p:nvSpPr>
          <p:cNvPr id="11" name="TextBox 11">
            <a:extLst>
              <a:ext uri="{FF2B5EF4-FFF2-40B4-BE49-F238E27FC236}">
                <a16:creationId xmlns:a16="http://schemas.microsoft.com/office/drawing/2014/main" id="{3622C596-B550-4FF3-9EA2-6A01EACA1825}"/>
              </a:ext>
            </a:extLst>
          </p:cNvPr>
          <p:cNvSpPr txBox="1"/>
          <p:nvPr/>
        </p:nvSpPr>
        <p:spPr>
          <a:xfrm>
            <a:off x="685800" y="1562100"/>
            <a:ext cx="3143250" cy="476250"/>
          </a:xfrm>
        </p:spPr>
        <p:txBody>
          <a:bodyPr wrap="square" rtlCol="0" lIns="0" tIns="0" rIns="0" bIns="0" anchor="t"/>
          <a:lstStyle/>
          <a:p>
            <a:pPr>
              <a:lnSpc>
                <a:spcPct val="108000"/>
              </a:lnSpc>
            </a:pPr>
            <a:r>
              <a:rPr sz="1000" b="1">
                <a:solidFill>
                  <a:srgbClr val="6B7C82"/>
                </a:solidFill>
              </a:rPr>
              <a:t>1 · POURQUOI ? </a:t>
            </a:r>
          </a:p>
          <a:p>
            <a:pPr>
              <a:lnSpc>
                <a:spcPct val="110000"/>
              </a:lnSpc>
            </a:pPr>
            <a:r>
              <a:rPr sz="1100">
                <a:solidFill>
                  <a:srgbClr val="243B45"/>
                </a:solidFill>
              </a:rPr>
              <a:t>les pièces exigées varient selon qui vérifie</a:t>
            </a:r>
          </a:p>
        </p:txBody>
      </p:sp>
      <p:sp>
        <p:nvSpPr>
          <p:cNvPr id="12" name="TextBox 12">
            <a:extLst>
              <a:ext uri="{FF2B5EF4-FFF2-40B4-BE49-F238E27FC236}">
                <a16:creationId xmlns:a16="http://schemas.microsoft.com/office/drawing/2014/main" id="{1C7774AA-F141-44EE-BB32-732A924266B6}"/>
              </a:ext>
            </a:extLst>
          </p:cNvPr>
          <p:cNvSpPr txBox="1"/>
          <p:nvPr/>
        </p:nvSpPr>
        <p:spPr>
          <a:xfrm>
            <a:off x="685800" y="2266950"/>
            <a:ext cx="2905125" cy="533400"/>
          </a:xfrm>
        </p:spPr>
        <p:txBody>
          <a:bodyPr wrap="square" rtlCol="0" lIns="0" tIns="0" rIns="0" bIns="0" anchor="t"/>
          <a:lstStyle/>
          <a:p>
            <a:pPr>
              <a:lnSpc>
                <a:spcPct val="108000"/>
              </a:lnSpc>
            </a:pPr>
            <a:r>
              <a:rPr sz="1000" b="1">
                <a:solidFill>
                  <a:srgbClr val="6B7C82"/>
                </a:solidFill>
              </a:rPr>
              <a:t>2 · POURQUOI ? </a:t>
            </a:r>
          </a:p>
          <a:p>
            <a:pPr>
              <a:lnSpc>
                <a:spcPct val="110000"/>
              </a:lnSpc>
            </a:pPr>
            <a:r>
              <a:rPr sz="1100">
                <a:solidFill>
                  <a:srgbClr val="243B45"/>
                </a:solidFill>
              </a:rPr>
              <a:t>règles transmises oralement, sans référentiel partagé</a:t>
            </a:r>
          </a:p>
        </p:txBody>
      </p:sp>
      <p:sp>
        <p:nvSpPr>
          <p:cNvPr id="13" name="TextBox 13">
            <a:extLst>
              <a:ext uri="{FF2B5EF4-FFF2-40B4-BE49-F238E27FC236}">
                <a16:creationId xmlns:a16="http://schemas.microsoft.com/office/drawing/2014/main" id="{91C66BB2-37DA-4E95-8BFE-3204FE69F287}"/>
              </a:ext>
            </a:extLst>
          </p:cNvPr>
          <p:cNvSpPr txBox="1"/>
          <p:nvPr/>
        </p:nvSpPr>
        <p:spPr>
          <a:xfrm>
            <a:off x="685800" y="2971800"/>
            <a:ext cx="2647950" cy="533400"/>
          </a:xfrm>
        </p:spPr>
        <p:txBody>
          <a:bodyPr wrap="square" rtlCol="0" lIns="0" tIns="0" rIns="0" bIns="0" anchor="t"/>
          <a:lstStyle/>
          <a:p>
            <a:pPr>
              <a:lnSpc>
                <a:spcPct val="108000"/>
              </a:lnSpc>
            </a:pPr>
            <a:r>
              <a:rPr sz="1000" b="1">
                <a:solidFill>
                  <a:srgbClr val="6B7C82"/>
                </a:solidFill>
              </a:rPr>
              <a:t>3 · POURQUOI ? </a:t>
            </a:r>
          </a:p>
          <a:p>
            <a:pPr>
              <a:lnSpc>
                <a:spcPct val="110000"/>
              </a:lnSpc>
            </a:pPr>
            <a:r>
              <a:rPr sz="1100">
                <a:solidFill>
                  <a:srgbClr val="243B45"/>
                </a:solidFill>
              </a:rPr>
              <a:t>processus jamais formalisé : pas de modèle, pas de propriétaire</a:t>
            </a:r>
          </a:p>
        </p:txBody>
      </p:sp>
      <p:sp>
        <p:nvSpPr>
          <p:cNvPr id="14" name="TextBox 14">
            <a:extLst>
              <a:ext uri="{FF2B5EF4-FFF2-40B4-BE49-F238E27FC236}">
                <a16:creationId xmlns:a16="http://schemas.microsoft.com/office/drawing/2014/main" id="{36628343-9A77-461F-A8F0-29941424C2CC}"/>
              </a:ext>
            </a:extLst>
          </p:cNvPr>
          <p:cNvSpPr txBox="1"/>
          <p:nvPr/>
        </p:nvSpPr>
        <p:spPr>
          <a:xfrm>
            <a:off x="685800" y="3676650"/>
            <a:ext cx="2381250" cy="533400"/>
          </a:xfrm>
        </p:spPr>
        <p:txBody>
          <a:bodyPr wrap="square" rtlCol="0" lIns="0" tIns="0" rIns="0" bIns="0" anchor="t"/>
          <a:lstStyle/>
          <a:p>
            <a:pPr>
              <a:lnSpc>
                <a:spcPct val="108000"/>
              </a:lnSpc>
            </a:pPr>
            <a:r>
              <a:rPr sz="1000" b="1">
                <a:solidFill>
                  <a:srgbClr val="6B7C82"/>
                </a:solidFill>
              </a:rPr>
              <a:t>4 · POURQUOI ? </a:t>
            </a:r>
          </a:p>
          <a:p>
            <a:pPr>
              <a:lnSpc>
                <a:spcPct val="110000"/>
              </a:lnSpc>
            </a:pPr>
            <a:r>
              <a:rPr sz="1100">
                <a:solidFill>
                  <a:srgbClr val="243B45"/>
                </a:solidFill>
              </a:rPr>
              <a:t>priorités historiques commerciales, pas opérationnelles</a:t>
            </a:r>
          </a:p>
        </p:txBody>
      </p:sp>
      <p:sp>
        <p:nvSpPr>
          <p:cNvPr id="15" name="TextBox 15">
            <a:extLst>
              <a:ext uri="{FF2B5EF4-FFF2-40B4-BE49-F238E27FC236}">
                <a16:creationId xmlns:a16="http://schemas.microsoft.com/office/drawing/2014/main" id="{CEF79547-E989-4F2B-A457-4ACFEE73E54A}"/>
              </a:ext>
            </a:extLst>
          </p:cNvPr>
          <p:cNvSpPr txBox="1"/>
          <p:nvPr/>
        </p:nvSpPr>
        <p:spPr>
          <a:xfrm>
            <a:off x="685800" y="4381500"/>
            <a:ext cx="3143250" cy="571500"/>
          </a:xfrm>
        </p:spPr>
        <p:txBody>
          <a:bodyPr wrap="square" rtlCol="0" lIns="0" tIns="0" rIns="0" bIns="0" anchor="t"/>
          <a:lstStyle/>
          <a:p>
            <a:pPr>
              <a:lnSpc>
                <a:spcPct val="108000"/>
              </a:lnSpc>
            </a:pPr>
            <a:r>
              <a:rPr sz="1000" b="1">
                <a:solidFill>
                  <a:srgbClr val="B8D4DC"/>
                </a:solidFill>
              </a:rPr>
              <a:t>5 · POURQUOI ? </a:t>
            </a:r>
          </a:p>
          <a:p>
            <a:pPr>
              <a:lnSpc>
                <a:spcPct val="110000"/>
              </a:lnSpc>
            </a:pPr>
            <a:r>
              <a:rPr sz="1200" b="1">
                <a:solidFill>
                  <a:srgbClr val="FFFFFF"/>
                </a:solidFill>
              </a:rPr>
              <a:t>le coût des allers-retours n'a jamais été quantifié</a:t>
            </a:r>
          </a:p>
          <a:p>
            <a:pPr>
              <a:lnSpc>
                <a:spcPct val="108000"/>
              </a:lnSpc>
            </a:pPr>
            <a:r>
              <a:rPr sz="1000">
                <a:solidFill>
                  <a:srgbClr val="D8E6EA"/>
                </a:solidFill>
              </a:rPr>
              <a:t>→ CAUSE RACINE : pas de référentiel de complétude</a:t>
            </a:r>
          </a:p>
        </p:txBody>
      </p:sp>
      <p:sp>
        <p:nvSpPr>
          <p:cNvPr id="16" name="Shape 16">
            <a:extLst>
              <a:ext uri="{FF2B5EF4-FFF2-40B4-BE49-F238E27FC236}">
                <a16:creationId xmlns:a16="http://schemas.microsoft.com/office/drawing/2014/main" id="{FD79B42A-B29D-48E1-A1B3-79A004858CD4}"/>
              </a:ext>
            </a:extLst>
          </p:cNvPr>
          <p:cNvSpPr/>
          <p:nvPr/>
        </p:nvSpPr>
        <p:spPr>
          <a:xfrm>
            <a:off x="5334000" y="1466850"/>
            <a:ext cx="6286500" cy="304800"/>
          </a:xfrm>
          <a:prstGeom prst="rect">
            <a:avLst/>
          </a:prstGeom>
          <a:solidFill>
            <a:srgbClr val="1F4E5F"/>
          </a:solidFill>
        </p:spPr>
        <p:txBody>
          <a:bodyPr wrap="square" rtlCol="0"/>
          <a:lstStyle/>
          <a:p>
            <a:r>
              <a:rPr/>
              <a:t/>
            </a:r>
          </a:p>
        </p:txBody>
      </p:sp>
      <p:sp>
        <p:nvSpPr>
          <p:cNvPr id="17" name="TextBox 17">
            <a:extLst>
              <a:ext uri="{FF2B5EF4-FFF2-40B4-BE49-F238E27FC236}">
                <a16:creationId xmlns:a16="http://schemas.microsoft.com/office/drawing/2014/main" id="{E10DAC4D-72EA-47B9-951C-984E8B710FA9}"/>
              </a:ext>
            </a:extLst>
          </p:cNvPr>
          <p:cNvSpPr txBox="1"/>
          <p:nvPr/>
        </p:nvSpPr>
        <p:spPr>
          <a:xfrm>
            <a:off x="5429250" y="1514475"/>
            <a:ext cx="2190750" cy="209550"/>
          </a:xfrm>
        </p:spPr>
        <p:txBody>
          <a:bodyPr wrap="square" rtlCol="0" lIns="0" tIns="0" rIns="0" bIns="0" anchor="t"/>
          <a:lstStyle/>
          <a:p>
            <a:r>
              <a:rPr sz="1050" b="1">
                <a:solidFill>
                  <a:srgbClr val="FFFFFF"/>
                </a:solidFill>
              </a:rPr>
              <a:t>CAUSE RACINE</a:t>
            </a:r>
          </a:p>
        </p:txBody>
      </p:sp>
      <p:sp>
        <p:nvSpPr>
          <p:cNvPr id="18" name="TextBox 18">
            <a:extLst>
              <a:ext uri="{FF2B5EF4-FFF2-40B4-BE49-F238E27FC236}">
                <a16:creationId xmlns:a16="http://schemas.microsoft.com/office/drawing/2014/main" id="{141C54F1-66CC-46A6-83CC-8477B15E9172}"/>
              </a:ext>
            </a:extLst>
          </p:cNvPr>
          <p:cNvSpPr txBox="1"/>
          <p:nvPr/>
        </p:nvSpPr>
        <p:spPr>
          <a:xfrm>
            <a:off x="7715250" y="1514475"/>
            <a:ext cx="1905000" cy="209550"/>
          </a:xfrm>
        </p:spPr>
        <p:txBody>
          <a:bodyPr wrap="square" rtlCol="0" lIns="0" tIns="0" rIns="0" bIns="0" anchor="t"/>
          <a:lstStyle/>
          <a:p>
            <a:r>
              <a:rPr sz="1050" b="1">
                <a:solidFill>
                  <a:srgbClr val="FFFFFF"/>
                </a:solidFill>
              </a:rPr>
              <a:t>PRINCIPE DIRECTEUR</a:t>
            </a:r>
          </a:p>
        </p:txBody>
      </p:sp>
      <p:sp>
        <p:nvSpPr>
          <p:cNvPr id="19" name="TextBox 19">
            <a:extLst>
              <a:ext uri="{FF2B5EF4-FFF2-40B4-BE49-F238E27FC236}">
                <a16:creationId xmlns:a16="http://schemas.microsoft.com/office/drawing/2014/main" id="{AD58F690-3CC6-4A80-BD12-771BE50B84FC}"/>
              </a:ext>
            </a:extLst>
          </p:cNvPr>
          <p:cNvSpPr txBox="1"/>
          <p:nvPr/>
        </p:nvSpPr>
        <p:spPr>
          <a:xfrm>
            <a:off x="9620250" y="1514475"/>
            <a:ext cx="1905000" cy="209550"/>
          </a:xfrm>
        </p:spPr>
        <p:txBody>
          <a:bodyPr wrap="square" rtlCol="0" lIns="0" tIns="0" rIns="0" bIns="0" anchor="t"/>
          <a:lstStyle/>
          <a:p>
            <a:r>
              <a:rPr sz="1050" b="1">
                <a:solidFill>
                  <a:srgbClr val="FFFFFF"/>
                </a:solidFill>
              </a:rPr>
              <a:t>EXIGENCES NEES</a:t>
            </a:r>
          </a:p>
        </p:txBody>
      </p:sp>
      <p:sp>
        <p:nvSpPr>
          <p:cNvPr id="20" name="Shape 20">
            <a:extLst>
              <a:ext uri="{FF2B5EF4-FFF2-40B4-BE49-F238E27FC236}">
                <a16:creationId xmlns:a16="http://schemas.microsoft.com/office/drawing/2014/main" id="{6522B901-DF94-4F2D-808D-F1CDBEAC4E44}"/>
              </a:ext>
            </a:extLst>
          </p:cNvPr>
          <p:cNvSpPr/>
          <p:nvPr/>
        </p:nvSpPr>
        <p:spPr>
          <a:xfrm>
            <a:off x="5334000" y="1771650"/>
            <a:ext cx="6286500" cy="876300"/>
          </a:xfrm>
          <a:prstGeom prst="rect">
            <a:avLst/>
          </a:prstGeom>
          <a:solidFill>
            <a:srgbClr val="F7F2E7"/>
          </a:solidFill>
        </p:spPr>
        <p:txBody>
          <a:bodyPr wrap="square" rtlCol="0"/>
          <a:lstStyle/>
          <a:p>
            <a:r>
              <a:rPr/>
              <a:t/>
            </a:r>
          </a:p>
        </p:txBody>
      </p:sp>
      <p:sp>
        <p:nvSpPr>
          <p:cNvPr id="21" name="TextBox 21">
            <a:extLst>
              <a:ext uri="{FF2B5EF4-FFF2-40B4-BE49-F238E27FC236}">
                <a16:creationId xmlns:a16="http://schemas.microsoft.com/office/drawing/2014/main" id="{5A8C5FD7-9BA4-4838-9036-0BE552AA08C6}"/>
              </a:ext>
            </a:extLst>
          </p:cNvPr>
          <p:cNvSpPr txBox="1"/>
          <p:nvPr/>
        </p:nvSpPr>
        <p:spPr>
          <a:xfrm>
            <a:off x="5429250" y="1866900"/>
            <a:ext cx="2133600" cy="666750"/>
          </a:xfrm>
        </p:spPr>
        <p:txBody>
          <a:bodyPr wrap="square" rtlCol="0" lIns="0" tIns="0" rIns="0" bIns="0" anchor="t"/>
          <a:lstStyle/>
          <a:p>
            <a:pPr>
              <a:lnSpc>
                <a:spcPct val="110000"/>
              </a:lnSpc>
            </a:pPr>
            <a:r>
              <a:rPr sz="1100" b="1">
                <a:solidFill>
                  <a:srgbClr val="243B45"/>
                </a:solidFill>
              </a:rPr>
              <a:t>Absence de gouvernance processus</a:t>
            </a:r>
          </a:p>
        </p:txBody>
      </p:sp>
      <p:sp>
        <p:nvSpPr>
          <p:cNvPr id="22" name="TextBox 22">
            <a:extLst>
              <a:ext uri="{FF2B5EF4-FFF2-40B4-BE49-F238E27FC236}">
                <a16:creationId xmlns:a16="http://schemas.microsoft.com/office/drawing/2014/main" id="{1E0A982D-D413-4866-934E-29DF00E691D1}"/>
              </a:ext>
            </a:extLst>
          </p:cNvPr>
          <p:cNvSpPr txBox="1"/>
          <p:nvPr/>
        </p:nvSpPr>
        <p:spPr>
          <a:xfrm>
            <a:off x="7715250" y="1866900"/>
            <a:ext cx="1809750" cy="666750"/>
          </a:xfrm>
        </p:spPr>
        <p:txBody>
          <a:bodyPr wrap="square" rtlCol="0" lIns="0" tIns="0" rIns="0" bIns="0" anchor="t"/>
          <a:lstStyle/>
          <a:p>
            <a:pPr>
              <a:lnSpc>
                <a:spcPct val="110000"/>
              </a:lnSpc>
            </a:pPr>
            <a:r>
              <a:rPr sz="1100">
                <a:solidFill>
                  <a:srgbClr val="243B45"/>
                </a:solidFill>
              </a:rPr>
              <a:t>Mesurer par défaut : l'outil calcule les indicateurs</a:t>
            </a:r>
          </a:p>
        </p:txBody>
      </p:sp>
      <p:sp>
        <p:nvSpPr>
          <p:cNvPr id="23" name="TextBox 23">
            <a:extLst>
              <a:ext uri="{FF2B5EF4-FFF2-40B4-BE49-F238E27FC236}">
                <a16:creationId xmlns:a16="http://schemas.microsoft.com/office/drawing/2014/main" id="{66C25DAA-CED0-4CC3-91D1-3536328BF056}"/>
              </a:ext>
            </a:extLst>
          </p:cNvPr>
          <p:cNvSpPr txBox="1"/>
          <p:nvPr/>
        </p:nvSpPr>
        <p:spPr>
          <a:xfrm>
            <a:off x="9620250" y="1866900"/>
            <a:ext cx="1905000" cy="666750"/>
          </a:xfrm>
        </p:spPr>
        <p:txBody>
          <a:bodyPr wrap="square" rtlCol="0" lIns="0" tIns="0" rIns="0" bIns="0" anchor="t"/>
          <a:lstStyle/>
          <a:p>
            <a:pPr>
              <a:lnSpc>
                <a:spcPct val="110000"/>
              </a:lnSpc>
            </a:pPr>
            <a:r>
              <a:rPr sz="1100">
                <a:solidFill>
                  <a:srgbClr val="243B45"/>
                </a:solidFill>
              </a:rPr>
              <a:t>EF-09 pilotage · RG-04 notifications automatiques</a:t>
            </a:r>
          </a:p>
        </p:txBody>
      </p:sp>
      <p:sp>
        <p:nvSpPr>
          <p:cNvPr id="24" name="Shape 24">
            <a:extLst>
              <a:ext uri="{FF2B5EF4-FFF2-40B4-BE49-F238E27FC236}">
                <a16:creationId xmlns:a16="http://schemas.microsoft.com/office/drawing/2014/main" id="{05A67BF1-3685-4791-821F-644679E25551}"/>
              </a:ext>
            </a:extLst>
          </p:cNvPr>
          <p:cNvSpPr/>
          <p:nvPr/>
        </p:nvSpPr>
        <p:spPr>
          <a:xfrm>
            <a:off x="5334000" y="2647950"/>
            <a:ext cx="6286500" cy="876300"/>
          </a:xfrm>
          <a:prstGeom prst="rect">
            <a:avLst/>
          </a:prstGeom>
          <a:solidFill>
            <a:srgbClr val="FFFFFF"/>
          </a:solidFill>
        </p:spPr>
        <p:txBody>
          <a:bodyPr wrap="square" rtlCol="0"/>
          <a:lstStyle/>
          <a:p>
            <a:r>
              <a:rPr/>
              <a:t/>
            </a:r>
          </a:p>
        </p:txBody>
      </p:sp>
      <p:sp>
        <p:nvSpPr>
          <p:cNvPr id="25" name="TextBox 25">
            <a:extLst>
              <a:ext uri="{FF2B5EF4-FFF2-40B4-BE49-F238E27FC236}">
                <a16:creationId xmlns:a16="http://schemas.microsoft.com/office/drawing/2014/main" id="{2310D7D6-1E8C-4CDC-94DA-6A09C5D7E593}"/>
              </a:ext>
            </a:extLst>
          </p:cNvPr>
          <p:cNvSpPr txBox="1"/>
          <p:nvPr/>
        </p:nvSpPr>
        <p:spPr>
          <a:xfrm>
            <a:off x="5429250" y="2743200"/>
            <a:ext cx="2133600" cy="666750"/>
          </a:xfrm>
        </p:spPr>
        <p:txBody>
          <a:bodyPr wrap="square" rtlCol="0" lIns="0" tIns="0" rIns="0" bIns="0" anchor="t"/>
          <a:lstStyle/>
          <a:p>
            <a:pPr>
              <a:lnSpc>
                <a:spcPct val="110000"/>
              </a:lnSpc>
            </a:pPr>
            <a:r>
              <a:rPr sz="1100" b="1">
                <a:solidFill>
                  <a:srgbClr val="243B45"/>
                </a:solidFill>
              </a:rPr>
              <a:t>Pas de référentiel de complétude</a:t>
            </a:r>
          </a:p>
        </p:txBody>
      </p:sp>
      <p:sp>
        <p:nvSpPr>
          <p:cNvPr id="26" name="TextBox 26">
            <a:extLst>
              <a:ext uri="{FF2B5EF4-FFF2-40B4-BE49-F238E27FC236}">
                <a16:creationId xmlns:a16="http://schemas.microsoft.com/office/drawing/2014/main" id="{2E9E068A-81DC-413B-8268-D6315A70B013}"/>
              </a:ext>
            </a:extLst>
          </p:cNvPr>
          <p:cNvSpPr txBox="1"/>
          <p:nvPr/>
        </p:nvSpPr>
        <p:spPr>
          <a:xfrm>
            <a:off x="7715250" y="2743200"/>
            <a:ext cx="1809750" cy="666750"/>
          </a:xfrm>
        </p:spPr>
        <p:txBody>
          <a:bodyPr wrap="square" rtlCol="0" lIns="0" tIns="0" rIns="0" bIns="0" anchor="t"/>
          <a:lstStyle/>
          <a:p>
            <a:pPr>
              <a:lnSpc>
                <a:spcPct val="110000"/>
              </a:lnSpc>
            </a:pPr>
            <a:r>
              <a:rPr sz="1100">
                <a:solidFill>
                  <a:srgbClr val="243B45"/>
                </a:solidFill>
              </a:rPr>
              <a:t>Un référentiel unique et vivant, paramétrable sans dév</a:t>
            </a:r>
          </a:p>
        </p:txBody>
      </p:sp>
      <p:sp>
        <p:nvSpPr>
          <p:cNvPr id="27" name="TextBox 27">
            <a:extLst>
              <a:ext uri="{FF2B5EF4-FFF2-40B4-BE49-F238E27FC236}">
                <a16:creationId xmlns:a16="http://schemas.microsoft.com/office/drawing/2014/main" id="{A47F5B62-81F3-4865-85D4-85672BA63822}"/>
              </a:ext>
            </a:extLst>
          </p:cNvPr>
          <p:cNvSpPr txBox="1"/>
          <p:nvPr/>
        </p:nvSpPr>
        <p:spPr>
          <a:xfrm>
            <a:off x="9620250" y="2743200"/>
            <a:ext cx="1905000" cy="666750"/>
          </a:xfrm>
        </p:spPr>
        <p:txBody>
          <a:bodyPr wrap="square" rtlCol="0" lIns="0" tIns="0" rIns="0" bIns="0" anchor="t"/>
          <a:lstStyle/>
          <a:p>
            <a:pPr>
              <a:lnSpc>
                <a:spcPct val="110000"/>
              </a:lnSpc>
            </a:pPr>
            <a:r>
              <a:rPr sz="1100">
                <a:solidFill>
                  <a:srgbClr val="243B45"/>
                </a:solidFill>
              </a:rPr>
              <a:t>EF-04 contrôle bloquant · US-05 revue semestrielle</a:t>
            </a:r>
          </a:p>
        </p:txBody>
      </p:sp>
      <p:sp>
        <p:nvSpPr>
          <p:cNvPr id="28" name="Shape 28">
            <a:extLst>
              <a:ext uri="{FF2B5EF4-FFF2-40B4-BE49-F238E27FC236}">
                <a16:creationId xmlns:a16="http://schemas.microsoft.com/office/drawing/2014/main" id="{E3042BAB-6DE8-46D4-B981-BDD12CD2E37C}"/>
              </a:ext>
            </a:extLst>
          </p:cNvPr>
          <p:cNvSpPr/>
          <p:nvPr/>
        </p:nvSpPr>
        <p:spPr>
          <a:xfrm>
            <a:off x="5334000" y="3524250"/>
            <a:ext cx="6286500" cy="876300"/>
          </a:xfrm>
          <a:prstGeom prst="rect">
            <a:avLst/>
          </a:prstGeom>
          <a:solidFill>
            <a:srgbClr val="F7F2E7"/>
          </a:solidFill>
        </p:spPr>
        <p:txBody>
          <a:bodyPr wrap="square" rtlCol="0"/>
          <a:lstStyle/>
          <a:p>
            <a:r>
              <a:rPr/>
              <a:t/>
            </a:r>
          </a:p>
        </p:txBody>
      </p:sp>
      <p:sp>
        <p:nvSpPr>
          <p:cNvPr id="29" name="TextBox 29">
            <a:extLst>
              <a:ext uri="{FF2B5EF4-FFF2-40B4-BE49-F238E27FC236}">
                <a16:creationId xmlns:a16="http://schemas.microsoft.com/office/drawing/2014/main" id="{5E7A32BB-F6B6-4046-AAA3-128D7ED52928}"/>
              </a:ext>
            </a:extLst>
          </p:cNvPr>
          <p:cNvSpPr txBox="1"/>
          <p:nvPr/>
        </p:nvSpPr>
        <p:spPr>
          <a:xfrm>
            <a:off x="5429250" y="3619500"/>
            <a:ext cx="2133600" cy="666750"/>
          </a:xfrm>
        </p:spPr>
        <p:txBody>
          <a:bodyPr wrap="square" rtlCol="0" lIns="0" tIns="0" rIns="0" bIns="0" anchor="t"/>
          <a:lstStyle/>
          <a:p>
            <a:pPr>
              <a:lnSpc>
                <a:spcPct val="110000"/>
              </a:lnSpc>
            </a:pPr>
            <a:r>
              <a:rPr sz="1100" b="1">
                <a:solidFill>
                  <a:srgbClr val="243B45"/>
                </a:solidFill>
              </a:rPr>
              <a:t>Temps opérationnel jamais mesuré</a:t>
            </a:r>
          </a:p>
        </p:txBody>
      </p:sp>
      <p:sp>
        <p:nvSpPr>
          <p:cNvPr id="30" name="TextBox 30">
            <a:extLst>
              <a:ext uri="{FF2B5EF4-FFF2-40B4-BE49-F238E27FC236}">
                <a16:creationId xmlns:a16="http://schemas.microsoft.com/office/drawing/2014/main" id="{D75D7D62-DF51-413D-A7E8-60D95D2BBC86}"/>
              </a:ext>
            </a:extLst>
          </p:cNvPr>
          <p:cNvSpPr txBox="1"/>
          <p:nvPr/>
        </p:nvSpPr>
        <p:spPr>
          <a:xfrm>
            <a:off x="7715250" y="3619500"/>
            <a:ext cx="1809750" cy="666750"/>
          </a:xfrm>
        </p:spPr>
        <p:txBody>
          <a:bodyPr wrap="square" rtlCol="0" lIns="0" tIns="0" rIns="0" bIns="0" anchor="t"/>
          <a:lstStyle/>
          <a:p>
            <a:pPr>
              <a:lnSpc>
                <a:spcPct val="110000"/>
              </a:lnSpc>
            </a:pPr>
            <a:r>
              <a:rPr sz="1100">
                <a:solidFill>
                  <a:srgbClr val="243B45"/>
                </a:solidFill>
              </a:rPr>
              <a:t>Traçabilité native : qui, quoi, quand, par construction</a:t>
            </a:r>
          </a:p>
        </p:txBody>
      </p:sp>
      <p:sp>
        <p:nvSpPr>
          <p:cNvPr id="31" name="TextBox 31">
            <a:extLst>
              <a:ext uri="{FF2B5EF4-FFF2-40B4-BE49-F238E27FC236}">
                <a16:creationId xmlns:a16="http://schemas.microsoft.com/office/drawing/2014/main" id="{C4F771E2-E347-48C8-9E07-D5B921C462A9}"/>
              </a:ext>
            </a:extLst>
          </p:cNvPr>
          <p:cNvSpPr txBox="1"/>
          <p:nvPr/>
        </p:nvSpPr>
        <p:spPr>
          <a:xfrm>
            <a:off x="9620250" y="3619500"/>
            <a:ext cx="1905000" cy="666750"/>
          </a:xfrm>
        </p:spPr>
        <p:txBody>
          <a:bodyPr wrap="square" rtlCol="0" lIns="0" tIns="0" rIns="0" bIns="0" anchor="t"/>
          <a:lstStyle/>
          <a:p>
            <a:pPr>
              <a:lnSpc>
                <a:spcPct val="110000"/>
              </a:lnSpc>
            </a:pPr>
            <a:r>
              <a:rPr sz="1100">
                <a:solidFill>
                  <a:srgbClr val="243B45"/>
                </a:solidFill>
              </a:rPr>
              <a:t>EF-06 historique intégré · RG-05 journal 10 ans</a:t>
            </a:r>
          </a:p>
        </p:txBody>
      </p:sp>
      <p:sp>
        <p:nvSpPr>
          <p:cNvPr id="32" name="Shape 32">
            <a:extLst>
              <a:ext uri="{FF2B5EF4-FFF2-40B4-BE49-F238E27FC236}">
                <a16:creationId xmlns:a16="http://schemas.microsoft.com/office/drawing/2014/main" id="{6ACA4D68-4ED7-401C-A3A0-79F33BC9772E}"/>
              </a:ext>
            </a:extLst>
          </p:cNvPr>
          <p:cNvSpPr/>
          <p:nvPr/>
        </p:nvSpPr>
        <p:spPr>
          <a:xfrm>
            <a:off x="5334000" y="4495800"/>
            <a:ext cx="6286500" cy="704850"/>
          </a:xfrm>
          <a:prstGeom prst="roundRect">
            <a:avLst/>
          </a:prstGeom>
          <a:solidFill>
            <a:srgbClr val="EAF3F5"/>
          </a:solidFill>
        </p:spPr>
        <p:txBody>
          <a:bodyPr wrap="square" rtlCol="0"/>
          <a:lstStyle/>
          <a:p>
            <a:r>
              <a:rPr/>
              <a:t/>
            </a:r>
          </a:p>
        </p:txBody>
      </p:sp>
      <p:sp>
        <p:nvSpPr>
          <p:cNvPr id="33" name="TextBox 33">
            <a:extLst>
              <a:ext uri="{FF2B5EF4-FFF2-40B4-BE49-F238E27FC236}">
                <a16:creationId xmlns:a16="http://schemas.microsoft.com/office/drawing/2014/main" id="{AE144C07-6FBF-4228-A21E-8F3461E34174}"/>
              </a:ext>
            </a:extLst>
          </p:cNvPr>
          <p:cNvSpPr txBox="1"/>
          <p:nvPr/>
        </p:nvSpPr>
        <p:spPr>
          <a:xfrm>
            <a:off x="5505450" y="4591050"/>
            <a:ext cx="5905500" cy="552450"/>
          </a:xfrm>
        </p:spPr>
        <p:txBody>
          <a:bodyPr wrap="square" rtlCol="0" lIns="0" tIns="0" rIns="0" bIns="0" anchor="t"/>
          <a:lstStyle/>
          <a:p>
            <a:pPr>
              <a:lnSpc>
                <a:spcPct val="112000"/>
              </a:lnSpc>
            </a:pPr>
            <a:r>
              <a:rPr sz="1150" b="1">
                <a:solidFill>
                  <a:srgbClr val="1F4E5F"/>
                </a:solidFill>
              </a:rPr>
              <a:t>Lecture conseil : </a:t>
            </a:r>
            <a:r>
              <a:rPr sz="1100">
                <a:solidFill>
                  <a:srgbClr val="243B45"/>
                </a:solidFill>
              </a:rPr>
              <a:t>les trois principes sont devenus des exigences transverses du BRD, vérifiables indépendamment des fonctionnalités — c'est ce qui évite « numériser le papier ».</a:t>
            </a:r>
          </a:p>
        </p:txBody>
      </p:sp>
      <p:sp>
        <p:nvSpPr>
          <p:cNvPr id="34" name="TextBox 34">
            <a:extLst>
              <a:ext uri="{FF2B5EF4-FFF2-40B4-BE49-F238E27FC236}">
                <a16:creationId xmlns:a16="http://schemas.microsoft.com/office/drawing/2014/main" id="{06F1F18D-7DC5-41D3-A7A8-940654B72958}"/>
              </a:ext>
            </a:extLst>
          </p:cNvPr>
          <p:cNvSpPr txBox="1"/>
          <p:nvPr/>
        </p:nvSpPr>
        <p:spPr>
          <a:xfrm>
            <a:off x="571500" y="6362700"/>
            <a:ext cx="8572500" cy="190500"/>
          </a:xfrm>
        </p:spPr>
        <p:txBody>
          <a:bodyPr wrap="square" rtlCol="0" lIns="0" tIns="0" rIns="0" bIns="0" anchor="t"/>
          <a:lstStyle/>
          <a:p>
            <a:r>
              <a:rPr sz="1000" i="1">
                <a:solidFill>
                  <a:srgbClr val="9AA6AC"/>
                </a:solidFill>
              </a:rPr>
              <a:t>Sources : analyse des causes racines (2 nov. 2026) · BRD §5–§7 (16 nov. 2026).</a:t>
            </a:r>
          </a:p>
        </p:txBody>
      </p:sp>
      <p:sp>
        <p:nvSpPr>
          <p:cNvPr id="35" name="TextBox 35">
            <a:extLst>
              <a:ext uri="{FF2B5EF4-FFF2-40B4-BE49-F238E27FC236}">
                <a16:creationId xmlns:a16="http://schemas.microsoft.com/office/drawing/2014/main" id="{18E4C3C0-0411-4600-9C36-53E12C1EBB76}"/>
              </a:ext>
            </a:extLst>
          </p:cNvPr>
          <p:cNvSpPr txBox="1"/>
          <p:nvPr/>
        </p:nvSpPr>
        <p:spPr>
          <a:xfrm>
            <a:off x="11239500" y="6362700"/>
            <a:ext cx="381000" cy="190500"/>
          </a:xfrm>
        </p:spPr>
        <p:txBody>
          <a:bodyPr wrap="square" rtlCol="0" lIns="0" tIns="0" rIns="0" bIns="0" anchor="t"/>
          <a:lstStyle/>
          <a:p>
            <a:pPr algn="r"/>
            <a:r>
              <a:rPr sz="1000">
                <a:solidFill>
                  <a:srgbClr val="9AA6AC"/>
                </a:solidFill>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289E3293-8997-426F-B43C-54DE151EC9D4}"/>
              </a:ext>
            </a:extLst>
          </p:cNvPr>
          <p:cNvSpPr txBox="1"/>
          <p:nvPr/>
        </p:nvSpPr>
        <p:spPr>
          <a:xfrm>
            <a:off x="571500" y="304800"/>
            <a:ext cx="4762500" cy="209550"/>
          </a:xfrm>
        </p:spPr>
        <p:txBody>
          <a:bodyPr wrap="square" rtlCol="0" lIns="0" tIns="0" rIns="0" bIns="0" anchor="t"/>
          <a:lstStyle/>
          <a:p>
            <a:r>
              <a:rPr sz="1100" b="1">
                <a:solidFill>
                  <a:srgbClr val="2E7D8C"/>
                </a:solidFill>
              </a:rPr>
              <a:t>PROCESSUS CIBLE · TO-BE</a:t>
            </a:r>
          </a:p>
        </p:txBody>
      </p:sp>
      <p:sp>
        <p:nvSpPr>
          <p:cNvPr id="4" name="TextBox 4">
            <a:extLst>
              <a:ext uri="{FF2B5EF4-FFF2-40B4-BE49-F238E27FC236}">
                <a16:creationId xmlns:a16="http://schemas.microsoft.com/office/drawing/2014/main" id="{F938A434-FAAC-4E81-8604-5B568C07F723}"/>
              </a:ext>
            </a:extLst>
          </p:cNvPr>
          <p:cNvSpPr txBox="1"/>
          <p:nvPr/>
        </p:nvSpPr>
        <p:spPr>
          <a:xfrm>
            <a:off x="571500" y="571500"/>
            <a:ext cx="11049000" cy="419100"/>
          </a:xfrm>
        </p:spPr>
        <p:txBody>
          <a:bodyPr wrap="square" rtlCol="0" lIns="0" tIns="0" rIns="0" bIns="0" anchor="t"/>
          <a:lstStyle/>
          <a:p>
            <a:r>
              <a:rPr sz="2100" b="1">
                <a:solidFill>
                  <a:srgbClr val="243B45"/>
                </a:solidFill>
              </a:rPr>
              <a:t>Six temps, un seul dossier : chaque jour gagné repose sur un mécanisme identifié</a:t>
            </a:r>
          </a:p>
        </p:txBody>
      </p:sp>
      <p:sp>
        <p:nvSpPr>
          <p:cNvPr id="5" name="Shape 5">
            <a:extLst>
              <a:ext uri="{FF2B5EF4-FFF2-40B4-BE49-F238E27FC236}">
                <a16:creationId xmlns:a16="http://schemas.microsoft.com/office/drawing/2014/main" id="{6C796EF4-5F91-4C3C-BC24-C5314369B464}"/>
              </a:ext>
            </a:extLst>
          </p:cNvPr>
          <p:cNvSpPr/>
          <p:nvPr/>
        </p:nvSpPr>
        <p:spPr>
          <a:xfrm>
            <a:off x="571500" y="1219200"/>
            <a:ext cx="5715000" cy="4876800"/>
          </a:xfrm>
          <a:prstGeom prst="roundRect">
            <a:avLst/>
          </a:prstGeom>
          <a:solidFill>
            <a:srgbClr val="F7F2E7"/>
          </a:solidFill>
        </p:spPr>
        <p:txBody>
          <a:bodyPr wrap="square" rtlCol="0"/>
          <a:lstStyle/>
          <a:p>
            <a:r>
              <a:rPr/>
              <a:t/>
            </a:r>
          </a:p>
        </p:txBody>
      </p:sp>
      <p:sp>
        <p:nvSpPr>
          <p:cNvPr id="6" name="TextBox 6">
            <a:extLst>
              <a:ext uri="{FF2B5EF4-FFF2-40B4-BE49-F238E27FC236}">
                <a16:creationId xmlns:a16="http://schemas.microsoft.com/office/drawing/2014/main" id="{722722F7-5D8A-496E-86E8-4C7BC919EE11}"/>
              </a:ext>
            </a:extLst>
          </p:cNvPr>
          <p:cNvSpPr txBox="1"/>
          <p:nvPr/>
        </p:nvSpPr>
        <p:spPr>
          <a:xfrm>
            <a:off x="800100" y="1409700"/>
            <a:ext cx="5238750" cy="704850"/>
          </a:xfrm>
        </p:spPr>
        <p:txBody>
          <a:bodyPr wrap="square" rtlCol="0" lIns="0" tIns="0" rIns="0" bIns="0" anchor="t"/>
          <a:lstStyle/>
          <a:p>
            <a:pPr>
              <a:spcAft>
                <a:spcPts val="300"/>
              </a:spcAft>
            </a:pPr>
            <a:r>
              <a:rPr sz="1300" b="1">
                <a:solidFill>
                  <a:srgbClr val="2E7D8C"/>
                </a:solidFill>
              </a:rPr>
              <a:t>1  </a:t>
            </a:r>
            <a:r>
              <a:rPr sz="1200" b="1">
                <a:solidFill>
                  <a:srgbClr val="1F4E5F"/>
                </a:solidFill>
              </a:rPr>
              <a:t>Dépôt — deux canaux convergents</a:t>
            </a:r>
          </a:p>
          <a:p>
            <a:pPr>
              <a:lnSpc>
                <a:spcPct val="112000"/>
              </a:lnSpc>
            </a:pPr>
            <a:r>
              <a:rPr sz="1050">
                <a:solidFill>
                  <a:srgbClr val="243B45"/>
                </a:solidFill>
              </a:rPr>
              <a:t>En ligne ou assisté en agence : même formulaire, une seule saisie (RG-02).</a:t>
            </a:r>
          </a:p>
        </p:txBody>
      </p:sp>
      <p:sp>
        <p:nvSpPr>
          <p:cNvPr id="7" name="TextBox 7">
            <a:extLst>
              <a:ext uri="{FF2B5EF4-FFF2-40B4-BE49-F238E27FC236}">
                <a16:creationId xmlns:a16="http://schemas.microsoft.com/office/drawing/2014/main" id="{F000AF83-536A-4633-874C-EFA621981CE4}"/>
              </a:ext>
            </a:extLst>
          </p:cNvPr>
          <p:cNvSpPr txBox="1"/>
          <p:nvPr/>
        </p:nvSpPr>
        <p:spPr>
          <a:xfrm>
            <a:off x="800100" y="2190750"/>
            <a:ext cx="5238750" cy="704850"/>
          </a:xfrm>
        </p:spPr>
        <p:txBody>
          <a:bodyPr wrap="square" rtlCol="0" lIns="0" tIns="0" rIns="0" bIns="0" anchor="t"/>
          <a:lstStyle/>
          <a:p>
            <a:pPr>
              <a:spcAft>
                <a:spcPts val="300"/>
              </a:spcAft>
            </a:pPr>
            <a:r>
              <a:rPr sz="1300" b="1">
                <a:solidFill>
                  <a:srgbClr val="2E7D8C"/>
                </a:solidFill>
              </a:rPr>
              <a:t>2  </a:t>
            </a:r>
            <a:r>
              <a:rPr sz="1200" b="1">
                <a:solidFill>
                  <a:srgbClr val="1F4E5F"/>
                </a:solidFill>
              </a:rPr>
              <a:t>Dossier unique + récépissé immédiat</a:t>
            </a:r>
          </a:p>
          <a:p>
            <a:pPr>
              <a:lnSpc>
                <a:spcPct val="112000"/>
              </a:lnSpc>
            </a:pPr>
            <a:r>
              <a:rPr sz="1050">
                <a:solidFill>
                  <a:srgbClr val="243B45"/>
                </a:solidFill>
              </a:rPr>
              <a:t>Le système crée le dossier, notifie le client, horodate chaque action (RG-05).</a:t>
            </a:r>
          </a:p>
        </p:txBody>
      </p:sp>
      <p:sp>
        <p:nvSpPr>
          <p:cNvPr id="8" name="TextBox 8">
            <a:extLst>
              <a:ext uri="{FF2B5EF4-FFF2-40B4-BE49-F238E27FC236}">
                <a16:creationId xmlns:a16="http://schemas.microsoft.com/office/drawing/2014/main" id="{6D7E3BC4-4FDE-4282-A5CE-9B351E0E2FD2}"/>
              </a:ext>
            </a:extLst>
          </p:cNvPr>
          <p:cNvSpPr txBox="1"/>
          <p:nvPr/>
        </p:nvSpPr>
        <p:spPr>
          <a:xfrm>
            <a:off x="800100" y="2971800"/>
            <a:ext cx="5238750" cy="704850"/>
          </a:xfrm>
        </p:spPr>
        <p:txBody>
          <a:bodyPr wrap="square" rtlCol="0" lIns="0" tIns="0" rIns="0" bIns="0" anchor="t"/>
          <a:lstStyle/>
          <a:p>
            <a:pPr>
              <a:spcAft>
                <a:spcPts val="300"/>
              </a:spcAft>
            </a:pPr>
            <a:r>
              <a:rPr sz="1300" b="1">
                <a:solidFill>
                  <a:srgbClr val="2E7D8C"/>
                </a:solidFill>
              </a:rPr>
              <a:t>3  </a:t>
            </a:r>
            <a:r>
              <a:rPr sz="1200" b="1">
                <a:solidFill>
                  <a:srgbClr val="1F4E5F"/>
                </a:solidFill>
              </a:rPr>
              <a:t>Contrôle de complétude bloquant</a:t>
            </a:r>
          </a:p>
          <a:p>
            <a:pPr>
              <a:lnSpc>
                <a:spcPct val="112000"/>
              </a:lnSpc>
            </a:pPr>
            <a:r>
              <a:rPr sz="1050">
                <a:solidFill>
                  <a:srgbClr val="243B45"/>
                </a:solidFill>
              </a:rPr>
              <a:t>Contre le référentiel paramétré : liste exacte des manquants, re-contrôle auto (EF-04).</a:t>
            </a:r>
          </a:p>
        </p:txBody>
      </p:sp>
      <p:sp>
        <p:nvSpPr>
          <p:cNvPr id="9" name="TextBox 9">
            <a:extLst>
              <a:ext uri="{FF2B5EF4-FFF2-40B4-BE49-F238E27FC236}">
                <a16:creationId xmlns:a16="http://schemas.microsoft.com/office/drawing/2014/main" id="{E2EF2388-FA2E-4C9A-9EEE-8B29A7CF94E2}"/>
              </a:ext>
            </a:extLst>
          </p:cNvPr>
          <p:cNvSpPr txBox="1"/>
          <p:nvPr/>
        </p:nvSpPr>
        <p:spPr>
          <a:xfrm>
            <a:off x="800100" y="3752850"/>
            <a:ext cx="5238750" cy="704850"/>
          </a:xfrm>
        </p:spPr>
        <p:txBody>
          <a:bodyPr wrap="square" rtlCol="0" lIns="0" tIns="0" rIns="0" bIns="0" anchor="t"/>
          <a:lstStyle/>
          <a:p>
            <a:pPr>
              <a:spcAft>
                <a:spcPts val="300"/>
              </a:spcAft>
            </a:pPr>
            <a:r>
              <a:rPr sz="1300" b="1">
                <a:solidFill>
                  <a:srgbClr val="2E7D8C"/>
                </a:solidFill>
              </a:rPr>
              <a:t>4  </a:t>
            </a:r>
            <a:r>
              <a:rPr sz="1200" b="1">
                <a:solidFill>
                  <a:srgbClr val="1F4E5F"/>
                </a:solidFill>
              </a:rPr>
              <a:t>Instruction sur dossier unique</a:t>
            </a:r>
          </a:p>
          <a:p>
            <a:pPr>
              <a:lnSpc>
                <a:spcPct val="112000"/>
              </a:lnSpc>
            </a:pPr>
            <a:r>
              <a:rPr sz="1050">
                <a:solidFill>
                  <a:srgbClr val="243B45"/>
                </a:solidFill>
              </a:rPr>
              <a:t>Historique client intégré à l'écran (EF-06) ; le client est notifié à chaque étape.</a:t>
            </a:r>
          </a:p>
        </p:txBody>
      </p:sp>
      <p:sp>
        <p:nvSpPr>
          <p:cNvPr id="10" name="TextBox 10">
            <a:extLst>
              <a:ext uri="{FF2B5EF4-FFF2-40B4-BE49-F238E27FC236}">
                <a16:creationId xmlns:a16="http://schemas.microsoft.com/office/drawing/2014/main" id="{4B78A573-008C-40E4-A523-48156F135592}"/>
              </a:ext>
            </a:extLst>
          </p:cNvPr>
          <p:cNvSpPr txBox="1"/>
          <p:nvPr/>
        </p:nvSpPr>
        <p:spPr>
          <a:xfrm>
            <a:off x="800100" y="4533900"/>
            <a:ext cx="5238750" cy="704850"/>
          </a:xfrm>
        </p:spPr>
        <p:txBody>
          <a:bodyPr wrap="square" rtlCol="0" lIns="0" tIns="0" rIns="0" bIns="0" anchor="t"/>
          <a:lstStyle/>
          <a:p>
            <a:pPr>
              <a:spcAft>
                <a:spcPts val="300"/>
              </a:spcAft>
            </a:pPr>
            <a:r>
              <a:rPr sz="1300" b="1">
                <a:solidFill>
                  <a:srgbClr val="2E7D8C"/>
                </a:solidFill>
              </a:rPr>
              <a:t>5  </a:t>
            </a:r>
            <a:r>
              <a:rPr sz="1200" b="1">
                <a:solidFill>
                  <a:srgbClr val="1F4E5F"/>
                </a:solidFill>
              </a:rPr>
              <a:t>Comité — décision humaine inchangée</a:t>
            </a:r>
          </a:p>
          <a:p>
            <a:pPr>
              <a:lnSpc>
                <a:spcPct val="112000"/>
              </a:lnSpc>
            </a:pPr>
            <a:r>
              <a:rPr sz="1050">
                <a:solidFill>
                  <a:srgbClr val="243B45"/>
                </a:solidFill>
              </a:rPr>
              <a:t>Transmission automatique du dossier complet. Le décisionnel reste manuel : contrainte métier.</a:t>
            </a:r>
          </a:p>
        </p:txBody>
      </p:sp>
      <p:sp>
        <p:nvSpPr>
          <p:cNvPr id="11" name="TextBox 11">
            <a:extLst>
              <a:ext uri="{FF2B5EF4-FFF2-40B4-BE49-F238E27FC236}">
                <a16:creationId xmlns:a16="http://schemas.microsoft.com/office/drawing/2014/main" id="{DBBB68ED-F0B0-4E59-990A-1AC8A7167BD2}"/>
              </a:ext>
            </a:extLst>
          </p:cNvPr>
          <p:cNvSpPr txBox="1"/>
          <p:nvPr/>
        </p:nvSpPr>
        <p:spPr>
          <a:xfrm>
            <a:off x="800100" y="5314950"/>
            <a:ext cx="5238750" cy="704850"/>
          </a:xfrm>
        </p:spPr>
        <p:txBody>
          <a:bodyPr wrap="square" rtlCol="0" lIns="0" tIns="0" rIns="0" bIns="0" anchor="t"/>
          <a:lstStyle/>
          <a:p>
            <a:pPr>
              <a:spcAft>
                <a:spcPts val="300"/>
              </a:spcAft>
            </a:pPr>
            <a:r>
              <a:rPr sz="1300" b="1">
                <a:solidFill>
                  <a:srgbClr val="2E7D8C"/>
                </a:solidFill>
              </a:rPr>
              <a:t>6  </a:t>
            </a:r>
            <a:r>
              <a:rPr sz="1200" b="1">
                <a:solidFill>
                  <a:srgbClr val="1F4E5F"/>
                </a:solidFill>
              </a:rPr>
              <a:t>Notification de la décision</a:t>
            </a:r>
          </a:p>
          <a:p>
            <a:pPr>
              <a:lnSpc>
                <a:spcPct val="112000"/>
              </a:lnSpc>
            </a:pPr>
            <a:r>
              <a:rPr sz="1050">
                <a:solidFill>
                  <a:srgbClr val="243B45"/>
                </a:solidFill>
              </a:rPr>
              <a:t>Automatique, avec motif de refus et prochaines étapes en cas d'accord.</a:t>
            </a:r>
          </a:p>
        </p:txBody>
      </p:sp>
      <p:sp>
        <p:nvSpPr>
          <p:cNvPr id="12" name="Shape 12">
            <a:extLst>
              <a:ext uri="{FF2B5EF4-FFF2-40B4-BE49-F238E27FC236}">
                <a16:creationId xmlns:a16="http://schemas.microsoft.com/office/drawing/2014/main" id="{8D6AAAA1-711C-42B9-888B-D6BE5E6DFB02}"/>
              </a:ext>
            </a:extLst>
          </p:cNvPr>
          <p:cNvSpPr/>
          <p:nvPr/>
        </p:nvSpPr>
        <p:spPr>
          <a:xfrm>
            <a:off x="6667500" y="1219200"/>
            <a:ext cx="5334000" cy="304800"/>
          </a:xfrm>
          <a:prstGeom prst="rect">
            <a:avLst/>
          </a:prstGeom>
          <a:solidFill>
            <a:srgbClr val="1F4E5F"/>
          </a:solidFill>
        </p:spPr>
        <p:txBody>
          <a:bodyPr wrap="square" rtlCol="0"/>
          <a:lstStyle/>
          <a:p>
            <a:r>
              <a:rPr/>
              <a:t/>
            </a:r>
          </a:p>
        </p:txBody>
      </p:sp>
      <p:sp>
        <p:nvSpPr>
          <p:cNvPr id="13" name="TextBox 13">
            <a:extLst>
              <a:ext uri="{FF2B5EF4-FFF2-40B4-BE49-F238E27FC236}">
                <a16:creationId xmlns:a16="http://schemas.microsoft.com/office/drawing/2014/main" id="{A48D3947-1D90-477B-A719-101D8531A8B0}"/>
              </a:ext>
            </a:extLst>
          </p:cNvPr>
          <p:cNvSpPr txBox="1"/>
          <p:nvPr/>
        </p:nvSpPr>
        <p:spPr>
          <a:xfrm>
            <a:off x="6762750" y="1266825"/>
            <a:ext cx="2038350" cy="209550"/>
          </a:xfrm>
        </p:spPr>
        <p:txBody>
          <a:bodyPr wrap="square" rtlCol="0" lIns="0" tIns="0" rIns="0" bIns="0" anchor="t"/>
          <a:lstStyle/>
          <a:p>
            <a:r>
              <a:rPr sz="1050" b="1">
                <a:solidFill>
                  <a:srgbClr val="FFFFFF"/>
                </a:solidFill>
              </a:rPr>
              <a:t>ETAPE</a:t>
            </a:r>
          </a:p>
        </p:txBody>
      </p:sp>
      <p:sp>
        <p:nvSpPr>
          <p:cNvPr id="14" name="TextBox 14">
            <a:extLst>
              <a:ext uri="{FF2B5EF4-FFF2-40B4-BE49-F238E27FC236}">
                <a16:creationId xmlns:a16="http://schemas.microsoft.com/office/drawing/2014/main" id="{50871980-60BC-4E44-8A03-EE3D0F7CA103}"/>
              </a:ext>
            </a:extLst>
          </p:cNvPr>
          <p:cNvSpPr txBox="1"/>
          <p:nvPr/>
        </p:nvSpPr>
        <p:spPr>
          <a:xfrm>
            <a:off x="8896350" y="1266825"/>
            <a:ext cx="1000125" cy="209550"/>
          </a:xfrm>
        </p:spPr>
        <p:txBody>
          <a:bodyPr wrap="square" rtlCol="0" lIns="0" tIns="0" rIns="0" bIns="0" anchor="t"/>
          <a:lstStyle/>
          <a:p>
            <a:pPr algn="ctr"/>
            <a:r>
              <a:rPr sz="1050" b="1">
                <a:solidFill>
                  <a:srgbClr val="FFFFFF"/>
                </a:solidFill>
              </a:rPr>
              <a:t>AS-IS</a:t>
            </a:r>
          </a:p>
        </p:txBody>
      </p:sp>
      <p:sp>
        <p:nvSpPr>
          <p:cNvPr id="15" name="TextBox 15">
            <a:extLst>
              <a:ext uri="{FF2B5EF4-FFF2-40B4-BE49-F238E27FC236}">
                <a16:creationId xmlns:a16="http://schemas.microsoft.com/office/drawing/2014/main" id="{D7B95CE1-5D90-4AE4-A4AA-A23E379388EF}"/>
              </a:ext>
            </a:extLst>
          </p:cNvPr>
          <p:cNvSpPr txBox="1"/>
          <p:nvPr/>
        </p:nvSpPr>
        <p:spPr>
          <a:xfrm>
            <a:off x="9944100" y="1266825"/>
            <a:ext cx="1000125" cy="209550"/>
          </a:xfrm>
        </p:spPr>
        <p:txBody>
          <a:bodyPr wrap="square" rtlCol="0" lIns="0" tIns="0" rIns="0" bIns="0" anchor="t"/>
          <a:lstStyle/>
          <a:p>
            <a:pPr algn="ctr"/>
            <a:r>
              <a:rPr sz="1050" b="1">
                <a:solidFill>
                  <a:srgbClr val="FFFFFF"/>
                </a:solidFill>
              </a:rPr>
              <a:t>TO-BE</a:t>
            </a:r>
          </a:p>
        </p:txBody>
      </p:sp>
      <p:sp>
        <p:nvSpPr>
          <p:cNvPr id="16" name="TextBox 16">
            <a:extLst>
              <a:ext uri="{FF2B5EF4-FFF2-40B4-BE49-F238E27FC236}">
                <a16:creationId xmlns:a16="http://schemas.microsoft.com/office/drawing/2014/main" id="{B2EABCD7-ABED-47B9-A7ED-8657A3093127}"/>
              </a:ext>
            </a:extLst>
          </p:cNvPr>
          <p:cNvSpPr txBox="1"/>
          <p:nvPr/>
        </p:nvSpPr>
        <p:spPr>
          <a:xfrm>
            <a:off x="10991850" y="1266825"/>
            <a:ext cx="914400" cy="209550"/>
          </a:xfrm>
        </p:spPr>
        <p:txBody>
          <a:bodyPr wrap="square" rtlCol="0" lIns="0" tIns="0" rIns="0" bIns="0" anchor="t"/>
          <a:lstStyle/>
          <a:p>
            <a:pPr algn="ctr"/>
            <a:r>
              <a:rPr sz="1050" b="1">
                <a:solidFill>
                  <a:srgbClr val="7FB6C4"/>
                </a:solidFill>
              </a:rPr>
              <a:t>GAIN</a:t>
            </a:r>
          </a:p>
        </p:txBody>
      </p:sp>
      <p:sp>
        <p:nvSpPr>
          <p:cNvPr id="17" name="Shape 17">
            <a:extLst>
              <a:ext uri="{FF2B5EF4-FFF2-40B4-BE49-F238E27FC236}">
                <a16:creationId xmlns:a16="http://schemas.microsoft.com/office/drawing/2014/main" id="{8EB73FE6-F193-43AD-BA0B-8D1D465D4422}"/>
              </a:ext>
            </a:extLst>
          </p:cNvPr>
          <p:cNvSpPr/>
          <p:nvPr/>
        </p:nvSpPr>
        <p:spPr>
          <a:xfrm>
            <a:off x="6667500" y="1524000"/>
            <a:ext cx="5334000" cy="685800"/>
          </a:xfrm>
          <a:prstGeom prst="rect">
            <a:avLst/>
          </a:prstGeom>
          <a:solidFill>
            <a:srgbClr val="F7F2E7"/>
          </a:solidFill>
        </p:spPr>
        <p:txBody>
          <a:bodyPr wrap="square" rtlCol="0"/>
          <a:lstStyle/>
          <a:p>
            <a:r>
              <a:rPr/>
              <a:t/>
            </a:r>
          </a:p>
        </p:txBody>
      </p:sp>
      <p:sp>
        <p:nvSpPr>
          <p:cNvPr id="18" name="TextBox 18">
            <a:extLst>
              <a:ext uri="{FF2B5EF4-FFF2-40B4-BE49-F238E27FC236}">
                <a16:creationId xmlns:a16="http://schemas.microsoft.com/office/drawing/2014/main" id="{C455DB01-CD63-496B-AE99-DE80627F70AA}"/>
              </a:ext>
            </a:extLst>
          </p:cNvPr>
          <p:cNvSpPr txBox="1"/>
          <p:nvPr/>
        </p:nvSpPr>
        <p:spPr>
          <a:xfrm>
            <a:off x="6762750" y="1619250"/>
            <a:ext cx="1981200" cy="476250"/>
          </a:xfrm>
        </p:spPr>
        <p:txBody>
          <a:bodyPr wrap="square" rtlCol="0" lIns="0" tIns="0" rIns="0" bIns="0" anchor="t"/>
          <a:lstStyle/>
          <a:p>
            <a:pPr>
              <a:lnSpc>
                <a:spcPct val="108000"/>
              </a:lnSpc>
            </a:pPr>
            <a:r>
              <a:rPr sz="1100" b="1">
                <a:solidFill>
                  <a:srgbClr val="243B45"/>
                </a:solidFill>
              </a:rPr>
              <a:t>Dépôt → dossier conforme</a:t>
            </a:r>
          </a:p>
        </p:txBody>
      </p:sp>
      <p:sp>
        <p:nvSpPr>
          <p:cNvPr id="19" name="TextBox 19">
            <a:extLst>
              <a:ext uri="{FF2B5EF4-FFF2-40B4-BE49-F238E27FC236}">
                <a16:creationId xmlns:a16="http://schemas.microsoft.com/office/drawing/2014/main" id="{BBF1E8CC-776F-400B-A04C-3EE3C873B856}"/>
              </a:ext>
            </a:extLst>
          </p:cNvPr>
          <p:cNvSpPr txBox="1"/>
          <p:nvPr/>
        </p:nvSpPr>
        <p:spPr>
          <a:xfrm>
            <a:off x="8896350" y="1714500"/>
            <a:ext cx="1000125" cy="228600"/>
          </a:xfrm>
        </p:spPr>
        <p:txBody>
          <a:bodyPr wrap="square" rtlCol="0" lIns="0" tIns="0" rIns="0" bIns="0" anchor="t"/>
          <a:lstStyle/>
          <a:p>
            <a:pPr algn="ctr"/>
            <a:r>
              <a:rPr sz="1100">
                <a:solidFill>
                  <a:srgbClr val="243B45"/>
                </a:solidFill>
              </a:rPr>
              <a:t>3 à 7 j</a:t>
            </a:r>
          </a:p>
        </p:txBody>
      </p:sp>
      <p:sp>
        <p:nvSpPr>
          <p:cNvPr id="20" name="TextBox 20">
            <a:extLst>
              <a:ext uri="{FF2B5EF4-FFF2-40B4-BE49-F238E27FC236}">
                <a16:creationId xmlns:a16="http://schemas.microsoft.com/office/drawing/2014/main" id="{56D63433-2AC9-4928-B851-CE47CDE61D15}"/>
              </a:ext>
            </a:extLst>
          </p:cNvPr>
          <p:cNvSpPr txBox="1"/>
          <p:nvPr/>
        </p:nvSpPr>
        <p:spPr>
          <a:xfrm>
            <a:off x="9944100" y="1714500"/>
            <a:ext cx="1000125" cy="228600"/>
          </a:xfrm>
        </p:spPr>
        <p:txBody>
          <a:bodyPr wrap="square" rtlCol="0" lIns="0" tIns="0" rIns="0" bIns="0" anchor="t"/>
          <a:lstStyle/>
          <a:p>
            <a:pPr algn="ctr"/>
            <a:r>
              <a:rPr sz="1100" b="1">
                <a:solidFill>
                  <a:srgbClr val="1F4E5F"/>
                </a:solidFill>
              </a:rPr>
              <a:t>J0 → J+1</a:t>
            </a:r>
          </a:p>
        </p:txBody>
      </p:sp>
      <p:sp>
        <p:nvSpPr>
          <p:cNvPr id="21" name="TextBox 21">
            <a:extLst>
              <a:ext uri="{FF2B5EF4-FFF2-40B4-BE49-F238E27FC236}">
                <a16:creationId xmlns:a16="http://schemas.microsoft.com/office/drawing/2014/main" id="{99A3D8E1-32D2-4B2A-AA08-8EE0B8AE5A4E}"/>
              </a:ext>
            </a:extLst>
          </p:cNvPr>
          <p:cNvSpPr txBox="1"/>
          <p:nvPr/>
        </p:nvSpPr>
        <p:spPr>
          <a:xfrm>
            <a:off x="10991850" y="1714500"/>
            <a:ext cx="914400" cy="228600"/>
          </a:xfrm>
        </p:spPr>
        <p:txBody>
          <a:bodyPr wrap="square" rtlCol="0" lIns="0" tIns="0" rIns="0" bIns="0" anchor="t"/>
          <a:lstStyle/>
          <a:p>
            <a:pPr algn="ctr"/>
            <a:r>
              <a:rPr sz="1100" b="1">
                <a:solidFill>
                  <a:srgbClr val="2F7D57"/>
                </a:solidFill>
              </a:rPr>
              <a:t>−3 à −6 j</a:t>
            </a:r>
          </a:p>
        </p:txBody>
      </p:sp>
      <p:sp>
        <p:nvSpPr>
          <p:cNvPr id="22" name="Shape 22">
            <a:extLst>
              <a:ext uri="{FF2B5EF4-FFF2-40B4-BE49-F238E27FC236}">
                <a16:creationId xmlns:a16="http://schemas.microsoft.com/office/drawing/2014/main" id="{106EAB5F-04B5-4AEF-945C-99886B36DD0D}"/>
              </a:ext>
            </a:extLst>
          </p:cNvPr>
          <p:cNvSpPr/>
          <p:nvPr/>
        </p:nvSpPr>
        <p:spPr>
          <a:xfrm>
            <a:off x="6667500" y="2209800"/>
            <a:ext cx="5334000" cy="685800"/>
          </a:xfrm>
          <a:prstGeom prst="rect">
            <a:avLst/>
          </a:prstGeom>
          <a:solidFill>
            <a:srgbClr val="FFFFFF"/>
          </a:solidFill>
        </p:spPr>
        <p:txBody>
          <a:bodyPr wrap="square" rtlCol="0"/>
          <a:lstStyle/>
          <a:p>
            <a:r>
              <a:rPr/>
              <a:t/>
            </a:r>
          </a:p>
        </p:txBody>
      </p:sp>
      <p:sp>
        <p:nvSpPr>
          <p:cNvPr id="23" name="TextBox 23">
            <a:extLst>
              <a:ext uri="{FF2B5EF4-FFF2-40B4-BE49-F238E27FC236}">
                <a16:creationId xmlns:a16="http://schemas.microsoft.com/office/drawing/2014/main" id="{3D2DBEC4-7CFD-45A6-933D-AE8B4E6B5783}"/>
              </a:ext>
            </a:extLst>
          </p:cNvPr>
          <p:cNvSpPr txBox="1"/>
          <p:nvPr/>
        </p:nvSpPr>
        <p:spPr>
          <a:xfrm>
            <a:off x="6762750" y="2305050"/>
            <a:ext cx="1981200" cy="476250"/>
          </a:xfrm>
        </p:spPr>
        <p:txBody>
          <a:bodyPr wrap="square" rtlCol="0" lIns="0" tIns="0" rIns="0" bIns="0" anchor="t"/>
          <a:lstStyle/>
          <a:p>
            <a:pPr>
              <a:lnSpc>
                <a:spcPct val="108000"/>
              </a:lnSpc>
            </a:pPr>
            <a:r>
              <a:rPr sz="1100" b="1">
                <a:solidFill>
                  <a:srgbClr val="243B45"/>
                </a:solidFill>
              </a:rPr>
              <a:t>Étude / instruction</a:t>
            </a:r>
          </a:p>
        </p:txBody>
      </p:sp>
      <p:sp>
        <p:nvSpPr>
          <p:cNvPr id="24" name="TextBox 24">
            <a:extLst>
              <a:ext uri="{FF2B5EF4-FFF2-40B4-BE49-F238E27FC236}">
                <a16:creationId xmlns:a16="http://schemas.microsoft.com/office/drawing/2014/main" id="{3B4A649A-63A8-4ECA-95A9-11207D8795A3}"/>
              </a:ext>
            </a:extLst>
          </p:cNvPr>
          <p:cNvSpPr txBox="1"/>
          <p:nvPr/>
        </p:nvSpPr>
        <p:spPr>
          <a:xfrm>
            <a:off x="8896350" y="2400300"/>
            <a:ext cx="1000125" cy="228600"/>
          </a:xfrm>
        </p:spPr>
        <p:txBody>
          <a:bodyPr wrap="square" rtlCol="0" lIns="0" tIns="0" rIns="0" bIns="0" anchor="t"/>
          <a:lstStyle/>
          <a:p>
            <a:pPr algn="ctr"/>
            <a:r>
              <a:rPr sz="1100">
                <a:solidFill>
                  <a:srgbClr val="243B45"/>
                </a:solidFill>
              </a:rPr>
              <a:t>2 à 3 j</a:t>
            </a:r>
          </a:p>
        </p:txBody>
      </p:sp>
      <p:sp>
        <p:nvSpPr>
          <p:cNvPr id="25" name="TextBox 25">
            <a:extLst>
              <a:ext uri="{FF2B5EF4-FFF2-40B4-BE49-F238E27FC236}">
                <a16:creationId xmlns:a16="http://schemas.microsoft.com/office/drawing/2014/main" id="{00B382FF-270F-4038-B455-6FD802926EFF}"/>
              </a:ext>
            </a:extLst>
          </p:cNvPr>
          <p:cNvSpPr txBox="1"/>
          <p:nvPr/>
        </p:nvSpPr>
        <p:spPr>
          <a:xfrm>
            <a:off x="9944100" y="2400300"/>
            <a:ext cx="1000125" cy="228600"/>
          </a:xfrm>
        </p:spPr>
        <p:txBody>
          <a:bodyPr wrap="square" rtlCol="0" lIns="0" tIns="0" rIns="0" bIns="0" anchor="t"/>
          <a:lstStyle/>
          <a:p>
            <a:pPr algn="ctr"/>
            <a:r>
              <a:rPr sz="1100" b="1">
                <a:solidFill>
                  <a:srgbClr val="1F4E5F"/>
                </a:solidFill>
              </a:rPr>
              <a:t>1 à 2 j</a:t>
            </a:r>
          </a:p>
        </p:txBody>
      </p:sp>
      <p:sp>
        <p:nvSpPr>
          <p:cNvPr id="26" name="TextBox 26">
            <a:extLst>
              <a:ext uri="{FF2B5EF4-FFF2-40B4-BE49-F238E27FC236}">
                <a16:creationId xmlns:a16="http://schemas.microsoft.com/office/drawing/2014/main" id="{AC1F9444-FD31-4677-A540-C75F7E5D5E0F}"/>
              </a:ext>
            </a:extLst>
          </p:cNvPr>
          <p:cNvSpPr txBox="1"/>
          <p:nvPr/>
        </p:nvSpPr>
        <p:spPr>
          <a:xfrm>
            <a:off x="10991850" y="2400300"/>
            <a:ext cx="914400" cy="228600"/>
          </a:xfrm>
        </p:spPr>
        <p:txBody>
          <a:bodyPr wrap="square" rtlCol="0" lIns="0" tIns="0" rIns="0" bIns="0" anchor="t"/>
          <a:lstStyle/>
          <a:p>
            <a:pPr algn="ctr"/>
            <a:r>
              <a:rPr sz="1100" b="1">
                <a:solidFill>
                  <a:srgbClr val="2F7D57"/>
                </a:solidFill>
              </a:rPr>
              <a:t>−1 j</a:t>
            </a:r>
          </a:p>
        </p:txBody>
      </p:sp>
      <p:sp>
        <p:nvSpPr>
          <p:cNvPr id="27" name="Shape 27">
            <a:extLst>
              <a:ext uri="{FF2B5EF4-FFF2-40B4-BE49-F238E27FC236}">
                <a16:creationId xmlns:a16="http://schemas.microsoft.com/office/drawing/2014/main" id="{FDF3617A-7C99-49B1-B27C-0FF870B8A054}"/>
              </a:ext>
            </a:extLst>
          </p:cNvPr>
          <p:cNvSpPr/>
          <p:nvPr/>
        </p:nvSpPr>
        <p:spPr>
          <a:xfrm>
            <a:off x="6667500" y="2895600"/>
            <a:ext cx="5334000" cy="685800"/>
          </a:xfrm>
          <a:prstGeom prst="rect">
            <a:avLst/>
          </a:prstGeom>
          <a:solidFill>
            <a:srgbClr val="F7F2E7"/>
          </a:solidFill>
        </p:spPr>
        <p:txBody>
          <a:bodyPr wrap="square" rtlCol="0"/>
          <a:lstStyle/>
          <a:p>
            <a:r>
              <a:rPr/>
              <a:t/>
            </a:r>
          </a:p>
        </p:txBody>
      </p:sp>
      <p:sp>
        <p:nvSpPr>
          <p:cNvPr id="28" name="TextBox 28">
            <a:extLst>
              <a:ext uri="{FF2B5EF4-FFF2-40B4-BE49-F238E27FC236}">
                <a16:creationId xmlns:a16="http://schemas.microsoft.com/office/drawing/2014/main" id="{B9B57ABA-84E3-4AF2-9123-814EF6594FE5}"/>
              </a:ext>
            </a:extLst>
          </p:cNvPr>
          <p:cNvSpPr txBox="1"/>
          <p:nvPr/>
        </p:nvSpPr>
        <p:spPr>
          <a:xfrm>
            <a:off x="6762750" y="2990850"/>
            <a:ext cx="1981200" cy="476250"/>
          </a:xfrm>
        </p:spPr>
        <p:txBody>
          <a:bodyPr wrap="square" rtlCol="0" lIns="0" tIns="0" rIns="0" bIns="0" anchor="t"/>
          <a:lstStyle/>
          <a:p>
            <a:pPr>
              <a:lnSpc>
                <a:spcPct val="108000"/>
              </a:lnSpc>
            </a:pPr>
            <a:r>
              <a:rPr sz="1100" b="1">
                <a:solidFill>
                  <a:srgbClr val="243B45"/>
                </a:solidFill>
              </a:rPr>
              <a:t>Comité</a:t>
            </a:r>
          </a:p>
        </p:txBody>
      </p:sp>
      <p:sp>
        <p:nvSpPr>
          <p:cNvPr id="29" name="TextBox 29">
            <a:extLst>
              <a:ext uri="{FF2B5EF4-FFF2-40B4-BE49-F238E27FC236}">
                <a16:creationId xmlns:a16="http://schemas.microsoft.com/office/drawing/2014/main" id="{6DEE4763-729F-4908-8194-FEFA6C94BA65}"/>
              </a:ext>
            </a:extLst>
          </p:cNvPr>
          <p:cNvSpPr txBox="1"/>
          <p:nvPr/>
        </p:nvSpPr>
        <p:spPr>
          <a:xfrm>
            <a:off x="8896350" y="3086100"/>
            <a:ext cx="1000125" cy="228600"/>
          </a:xfrm>
        </p:spPr>
        <p:txBody>
          <a:bodyPr wrap="square" rtlCol="0" lIns="0" tIns="0" rIns="0" bIns="0" anchor="t"/>
          <a:lstStyle/>
          <a:p>
            <a:pPr algn="ctr"/>
            <a:r>
              <a:rPr sz="1100">
                <a:solidFill>
                  <a:srgbClr val="243B45"/>
                </a:solidFill>
              </a:rPr>
              <a:t>0 à 7 j</a:t>
            </a:r>
          </a:p>
        </p:txBody>
      </p:sp>
      <p:sp>
        <p:nvSpPr>
          <p:cNvPr id="30" name="TextBox 30">
            <a:extLst>
              <a:ext uri="{FF2B5EF4-FFF2-40B4-BE49-F238E27FC236}">
                <a16:creationId xmlns:a16="http://schemas.microsoft.com/office/drawing/2014/main" id="{8CE70E25-4EF4-45DA-8F75-34D317C06765}"/>
              </a:ext>
            </a:extLst>
          </p:cNvPr>
          <p:cNvSpPr txBox="1"/>
          <p:nvPr/>
        </p:nvSpPr>
        <p:spPr>
          <a:xfrm>
            <a:off x="9944100" y="3086100"/>
            <a:ext cx="1000125" cy="228600"/>
          </a:xfrm>
        </p:spPr>
        <p:txBody>
          <a:bodyPr wrap="square" rtlCol="0" lIns="0" tIns="0" rIns="0" bIns="0" anchor="t"/>
          <a:lstStyle/>
          <a:p>
            <a:pPr algn="ctr"/>
            <a:r>
              <a:rPr sz="1100" b="1">
                <a:solidFill>
                  <a:srgbClr val="1F4E5F"/>
                </a:solidFill>
              </a:rPr>
              <a:t>0 à 3 j</a:t>
            </a:r>
          </a:p>
        </p:txBody>
      </p:sp>
      <p:sp>
        <p:nvSpPr>
          <p:cNvPr id="31" name="TextBox 31">
            <a:extLst>
              <a:ext uri="{FF2B5EF4-FFF2-40B4-BE49-F238E27FC236}">
                <a16:creationId xmlns:a16="http://schemas.microsoft.com/office/drawing/2014/main" id="{251570C7-3B7C-4502-9611-5E5215B4ABB9}"/>
              </a:ext>
            </a:extLst>
          </p:cNvPr>
          <p:cNvSpPr txBox="1"/>
          <p:nvPr/>
        </p:nvSpPr>
        <p:spPr>
          <a:xfrm>
            <a:off x="10991850" y="3086100"/>
            <a:ext cx="914400" cy="228600"/>
          </a:xfrm>
        </p:spPr>
        <p:txBody>
          <a:bodyPr wrap="square" rtlCol="0" lIns="0" tIns="0" rIns="0" bIns="0" anchor="t"/>
          <a:lstStyle/>
          <a:p>
            <a:pPr algn="ctr"/>
            <a:r>
              <a:rPr sz="1100" b="1">
                <a:solidFill>
                  <a:srgbClr val="2F7D57"/>
                </a:solidFill>
              </a:rPr>
              <a:t>−4 j</a:t>
            </a:r>
          </a:p>
        </p:txBody>
      </p:sp>
      <p:sp>
        <p:nvSpPr>
          <p:cNvPr id="32" name="Shape 32">
            <a:extLst>
              <a:ext uri="{FF2B5EF4-FFF2-40B4-BE49-F238E27FC236}">
                <a16:creationId xmlns:a16="http://schemas.microsoft.com/office/drawing/2014/main" id="{C83A61D8-CF17-4BA8-9CA2-FE5B7C7084BA}"/>
              </a:ext>
            </a:extLst>
          </p:cNvPr>
          <p:cNvSpPr/>
          <p:nvPr/>
        </p:nvSpPr>
        <p:spPr>
          <a:xfrm>
            <a:off x="6667500" y="3581400"/>
            <a:ext cx="5334000" cy="685800"/>
          </a:xfrm>
          <a:prstGeom prst="rect">
            <a:avLst/>
          </a:prstGeom>
          <a:solidFill>
            <a:srgbClr val="FFFFFF"/>
          </a:solidFill>
        </p:spPr>
        <p:txBody>
          <a:bodyPr wrap="square" rtlCol="0"/>
          <a:lstStyle/>
          <a:p>
            <a:r>
              <a:rPr/>
              <a:t/>
            </a:r>
          </a:p>
        </p:txBody>
      </p:sp>
      <p:sp>
        <p:nvSpPr>
          <p:cNvPr id="33" name="TextBox 33">
            <a:extLst>
              <a:ext uri="{FF2B5EF4-FFF2-40B4-BE49-F238E27FC236}">
                <a16:creationId xmlns:a16="http://schemas.microsoft.com/office/drawing/2014/main" id="{83146EDF-9D70-4993-9603-FAF37A9271AC}"/>
              </a:ext>
            </a:extLst>
          </p:cNvPr>
          <p:cNvSpPr txBox="1"/>
          <p:nvPr/>
        </p:nvSpPr>
        <p:spPr>
          <a:xfrm>
            <a:off x="6762750" y="3676650"/>
            <a:ext cx="1981200" cy="476250"/>
          </a:xfrm>
        </p:spPr>
        <p:txBody>
          <a:bodyPr wrap="square" rtlCol="0" lIns="0" tIns="0" rIns="0" bIns="0" anchor="t"/>
          <a:lstStyle/>
          <a:p>
            <a:pPr>
              <a:lnSpc>
                <a:spcPct val="108000"/>
              </a:lnSpc>
            </a:pPr>
            <a:r>
              <a:rPr sz="1100" b="1">
                <a:solidFill>
                  <a:srgbClr val="243B45"/>
                </a:solidFill>
              </a:rPr>
              <a:t>Notification</a:t>
            </a:r>
          </a:p>
        </p:txBody>
      </p:sp>
      <p:sp>
        <p:nvSpPr>
          <p:cNvPr id="34" name="TextBox 34">
            <a:extLst>
              <a:ext uri="{FF2B5EF4-FFF2-40B4-BE49-F238E27FC236}">
                <a16:creationId xmlns:a16="http://schemas.microsoft.com/office/drawing/2014/main" id="{EF622313-BDA1-439A-8FAF-2898CE7BB867}"/>
              </a:ext>
            </a:extLst>
          </p:cNvPr>
          <p:cNvSpPr txBox="1"/>
          <p:nvPr/>
        </p:nvSpPr>
        <p:spPr>
          <a:xfrm>
            <a:off x="8896350" y="3771900"/>
            <a:ext cx="1000125" cy="228600"/>
          </a:xfrm>
        </p:spPr>
        <p:txBody>
          <a:bodyPr wrap="square" rtlCol="0" lIns="0" tIns="0" rIns="0" bIns="0" anchor="t"/>
          <a:lstStyle/>
          <a:p>
            <a:pPr algn="ctr"/>
            <a:r>
              <a:rPr sz="1100">
                <a:solidFill>
                  <a:srgbClr val="243B45"/>
                </a:solidFill>
              </a:rPr>
              <a:t>1 à 2 j</a:t>
            </a:r>
          </a:p>
        </p:txBody>
      </p:sp>
      <p:sp>
        <p:nvSpPr>
          <p:cNvPr id="35" name="TextBox 35">
            <a:extLst>
              <a:ext uri="{FF2B5EF4-FFF2-40B4-BE49-F238E27FC236}">
                <a16:creationId xmlns:a16="http://schemas.microsoft.com/office/drawing/2014/main" id="{1D938C87-5762-49B4-9C75-52B0F630686A}"/>
              </a:ext>
            </a:extLst>
          </p:cNvPr>
          <p:cNvSpPr txBox="1"/>
          <p:nvPr/>
        </p:nvSpPr>
        <p:spPr>
          <a:xfrm>
            <a:off x="9944100" y="3771900"/>
            <a:ext cx="1000125" cy="228600"/>
          </a:xfrm>
        </p:spPr>
        <p:txBody>
          <a:bodyPr wrap="square" rtlCol="0" lIns="0" tIns="0" rIns="0" bIns="0" anchor="t"/>
          <a:lstStyle/>
          <a:p>
            <a:pPr algn="ctr"/>
            <a:r>
              <a:rPr sz="1100" b="1">
                <a:solidFill>
                  <a:srgbClr val="1F4E5F"/>
                </a:solidFill>
              </a:rPr>
              <a:t>Instantanée</a:t>
            </a:r>
          </a:p>
        </p:txBody>
      </p:sp>
      <p:sp>
        <p:nvSpPr>
          <p:cNvPr id="36" name="TextBox 36">
            <a:extLst>
              <a:ext uri="{FF2B5EF4-FFF2-40B4-BE49-F238E27FC236}">
                <a16:creationId xmlns:a16="http://schemas.microsoft.com/office/drawing/2014/main" id="{67D9814E-CCEF-4D1D-9701-F1B87A632E9C}"/>
              </a:ext>
            </a:extLst>
          </p:cNvPr>
          <p:cNvSpPr txBox="1"/>
          <p:nvPr/>
        </p:nvSpPr>
        <p:spPr>
          <a:xfrm>
            <a:off x="10991850" y="3771900"/>
            <a:ext cx="914400" cy="228600"/>
          </a:xfrm>
        </p:spPr>
        <p:txBody>
          <a:bodyPr wrap="square" rtlCol="0" lIns="0" tIns="0" rIns="0" bIns="0" anchor="t"/>
          <a:lstStyle/>
          <a:p>
            <a:pPr algn="ctr"/>
            <a:r>
              <a:rPr sz="1100" b="1">
                <a:solidFill>
                  <a:srgbClr val="2F7D57"/>
                </a:solidFill>
              </a:rPr>
              <a:t>−2 j</a:t>
            </a:r>
          </a:p>
        </p:txBody>
      </p:sp>
      <p:sp>
        <p:nvSpPr>
          <p:cNvPr id="37" name="Shape 37">
            <a:extLst>
              <a:ext uri="{FF2B5EF4-FFF2-40B4-BE49-F238E27FC236}">
                <a16:creationId xmlns:a16="http://schemas.microsoft.com/office/drawing/2014/main" id="{A40D1783-1D8B-481D-AF64-BEA8A090D860}"/>
              </a:ext>
            </a:extLst>
          </p:cNvPr>
          <p:cNvSpPr/>
          <p:nvPr/>
        </p:nvSpPr>
        <p:spPr>
          <a:xfrm>
            <a:off x="6667500" y="4267200"/>
            <a:ext cx="5334000" cy="438150"/>
          </a:xfrm>
          <a:prstGeom prst="rect">
            <a:avLst/>
          </a:prstGeom>
          <a:solidFill>
            <a:srgbClr val="EAF3F5"/>
          </a:solidFill>
        </p:spPr>
        <p:txBody>
          <a:bodyPr wrap="square" rtlCol="0"/>
          <a:lstStyle/>
          <a:p>
            <a:r>
              <a:rPr/>
              <a:t/>
            </a:r>
          </a:p>
        </p:txBody>
      </p:sp>
      <p:sp>
        <p:nvSpPr>
          <p:cNvPr id="38" name="TextBox 38">
            <a:extLst>
              <a:ext uri="{FF2B5EF4-FFF2-40B4-BE49-F238E27FC236}">
                <a16:creationId xmlns:a16="http://schemas.microsoft.com/office/drawing/2014/main" id="{BDEF908B-4EDE-4AE8-91D8-9E3BCE81AF25}"/>
              </a:ext>
            </a:extLst>
          </p:cNvPr>
          <p:cNvSpPr txBox="1"/>
          <p:nvPr/>
        </p:nvSpPr>
        <p:spPr>
          <a:xfrm>
            <a:off x="6762750" y="4362450"/>
            <a:ext cx="1905000" cy="247650"/>
          </a:xfrm>
        </p:spPr>
        <p:txBody>
          <a:bodyPr wrap="square" rtlCol="0" lIns="0" tIns="0" rIns="0" bIns="0" anchor="t"/>
          <a:lstStyle/>
          <a:p>
            <a:r>
              <a:rPr sz="1200" b="1">
                <a:solidFill>
                  <a:srgbClr val="1F4E5F"/>
                </a:solidFill>
              </a:rPr>
              <a:t>Total moyen</a:t>
            </a:r>
          </a:p>
        </p:txBody>
      </p:sp>
      <p:sp>
        <p:nvSpPr>
          <p:cNvPr id="39" name="TextBox 39">
            <a:extLst>
              <a:ext uri="{FF2B5EF4-FFF2-40B4-BE49-F238E27FC236}">
                <a16:creationId xmlns:a16="http://schemas.microsoft.com/office/drawing/2014/main" id="{5B104F34-AE0E-4D5C-83B9-0043243A4561}"/>
              </a:ext>
            </a:extLst>
          </p:cNvPr>
          <p:cNvSpPr txBox="1"/>
          <p:nvPr/>
        </p:nvSpPr>
        <p:spPr>
          <a:xfrm>
            <a:off x="8896350" y="4362450"/>
            <a:ext cx="1000125" cy="247650"/>
          </a:xfrm>
        </p:spPr>
        <p:txBody>
          <a:bodyPr wrap="square" rtlCol="0" lIns="0" tIns="0" rIns="0" bIns="0" anchor="t"/>
          <a:lstStyle/>
          <a:p>
            <a:pPr algn="ctr"/>
            <a:r>
              <a:rPr sz="1300" b="1">
                <a:solidFill>
                  <a:srgbClr val="1F4E5F"/>
                </a:solidFill>
              </a:rPr>
              <a:t>≈ 12 j</a:t>
            </a:r>
          </a:p>
        </p:txBody>
      </p:sp>
      <p:sp>
        <p:nvSpPr>
          <p:cNvPr id="40" name="TextBox 40">
            <a:extLst>
              <a:ext uri="{FF2B5EF4-FFF2-40B4-BE49-F238E27FC236}">
                <a16:creationId xmlns:a16="http://schemas.microsoft.com/office/drawing/2014/main" id="{58FB6AF2-D499-4E43-BF27-B4A43E98C209}"/>
              </a:ext>
            </a:extLst>
          </p:cNvPr>
          <p:cNvSpPr txBox="1"/>
          <p:nvPr/>
        </p:nvSpPr>
        <p:spPr>
          <a:xfrm>
            <a:off x="9944100" y="4362450"/>
            <a:ext cx="1000125" cy="247650"/>
          </a:xfrm>
        </p:spPr>
        <p:txBody>
          <a:bodyPr wrap="square" rtlCol="0" lIns="0" tIns="0" rIns="0" bIns="0" anchor="t"/>
          <a:lstStyle/>
          <a:p>
            <a:pPr algn="ctr"/>
            <a:r>
              <a:rPr sz="1300" b="1">
                <a:solidFill>
                  <a:srgbClr val="2E7D8C"/>
                </a:solidFill>
              </a:rPr>
              <a:t>≤ 5 j</a:t>
            </a:r>
          </a:p>
        </p:txBody>
      </p:sp>
      <p:sp>
        <p:nvSpPr>
          <p:cNvPr id="41" name="TextBox 41">
            <a:extLst>
              <a:ext uri="{FF2B5EF4-FFF2-40B4-BE49-F238E27FC236}">
                <a16:creationId xmlns:a16="http://schemas.microsoft.com/office/drawing/2014/main" id="{AA9FCC05-235F-4FD5-8023-A70E98181747}"/>
              </a:ext>
            </a:extLst>
          </p:cNvPr>
          <p:cNvSpPr txBox="1"/>
          <p:nvPr/>
        </p:nvSpPr>
        <p:spPr>
          <a:xfrm>
            <a:off x="10991850" y="4362450"/>
            <a:ext cx="914400" cy="247650"/>
          </a:xfrm>
        </p:spPr>
        <p:txBody>
          <a:bodyPr wrap="square" rtlCol="0" lIns="0" tIns="0" rIns="0" bIns="0" anchor="t"/>
          <a:lstStyle/>
          <a:p>
            <a:pPr algn="ctr"/>
            <a:r>
              <a:rPr sz="1300" b="1">
                <a:solidFill>
                  <a:srgbClr val="2F7D57"/>
                </a:solidFill>
              </a:rPr>
              <a:t>−7 j</a:t>
            </a:r>
          </a:p>
        </p:txBody>
      </p:sp>
      <p:sp>
        <p:nvSpPr>
          <p:cNvPr id="42" name="Shape 42">
            <a:extLst>
              <a:ext uri="{FF2B5EF4-FFF2-40B4-BE49-F238E27FC236}">
                <a16:creationId xmlns:a16="http://schemas.microsoft.com/office/drawing/2014/main" id="{405E24DE-6938-4743-9B67-3AAA35421F64}"/>
              </a:ext>
            </a:extLst>
          </p:cNvPr>
          <p:cNvSpPr/>
          <p:nvPr/>
        </p:nvSpPr>
        <p:spPr>
          <a:xfrm>
            <a:off x="6667500" y="4876800"/>
            <a:ext cx="5334000" cy="952500"/>
          </a:xfrm>
          <a:prstGeom prst="roundRect">
            <a:avLst/>
          </a:prstGeom>
          <a:solidFill>
            <a:srgbClr val="EAF3F5"/>
          </a:solidFill>
        </p:spPr>
        <p:txBody>
          <a:bodyPr wrap="square" rtlCol="0"/>
          <a:lstStyle/>
          <a:p>
            <a:r>
              <a:rPr/>
              <a:t/>
            </a:r>
          </a:p>
        </p:txBody>
      </p:sp>
      <p:sp>
        <p:nvSpPr>
          <p:cNvPr id="43" name="TextBox 43">
            <a:extLst>
              <a:ext uri="{FF2B5EF4-FFF2-40B4-BE49-F238E27FC236}">
                <a16:creationId xmlns:a16="http://schemas.microsoft.com/office/drawing/2014/main" id="{FB92FBDC-0FDF-4131-B64E-F1F23E80190A}"/>
              </a:ext>
            </a:extLst>
          </p:cNvPr>
          <p:cNvSpPr txBox="1"/>
          <p:nvPr/>
        </p:nvSpPr>
        <p:spPr>
          <a:xfrm>
            <a:off x="6819900" y="4972050"/>
            <a:ext cx="4953000" cy="797458"/>
          </a:xfrm>
        </p:spPr>
        <p:txBody>
          <a:bodyPr wrap="square" rtlCol="0" lIns="0" tIns="0" rIns="0" bIns="0" anchor="t"/>
          <a:lstStyle/>
          <a:p>
            <a:pPr>
              <a:lnSpc>
                <a:spcPct val="112000"/>
              </a:lnSpc>
              <a:spcAft>
                <a:spcPts val="500"/>
              </a:spcAft>
            </a:pPr>
            <a:r>
              <a:rPr sz="1150" b="1">
                <a:solidFill>
                  <a:srgbClr val="1F4E5F"/>
                </a:solidFill>
              </a:rPr>
              <a:t>Ce qui ne change pas — et c'est voulu</a:t>
            </a:r>
          </a:p>
          <a:p>
            <a:pPr>
              <a:lnSpc>
                <a:spcPct val="112000"/>
              </a:lnSpc>
            </a:pPr>
            <a:r>
              <a:rPr sz="1050">
                <a:solidFill>
                  <a:srgbClr val="243B45"/>
                </a:solidFill>
              </a:rPr>
              <a:t>Le comité tranche, l'analyste garde la main. Le digital outille et trace, il ne décide pas à la place de l'humain. La boucle d'incomplétude existe encore, mais coûte des minutes au lieu de jours.</a:t>
            </a:r>
          </a:p>
        </p:txBody>
      </p:sp>
      <p:sp>
        <p:nvSpPr>
          <p:cNvPr id="44" name="TextBox 44">
            <a:extLst>
              <a:ext uri="{FF2B5EF4-FFF2-40B4-BE49-F238E27FC236}">
                <a16:creationId xmlns:a16="http://schemas.microsoft.com/office/drawing/2014/main" id="{C7D2CF97-9D43-4EB5-A5B8-88C13A5EBAE2}"/>
              </a:ext>
            </a:extLst>
          </p:cNvPr>
          <p:cNvSpPr txBox="1"/>
          <p:nvPr/>
        </p:nvSpPr>
        <p:spPr>
          <a:xfrm>
            <a:off x="571500" y="6362700"/>
            <a:ext cx="5905500" cy="190500"/>
          </a:xfrm>
        </p:spPr>
        <p:txBody>
          <a:bodyPr wrap="square" rtlCol="0" lIns="0" tIns="0" rIns="0" bIns="0" anchor="t"/>
          <a:lstStyle/>
          <a:p>
            <a:r>
              <a:rPr sz="1000" i="1">
                <a:solidFill>
                  <a:srgbClr val="9AA6AC"/>
                </a:solidFill>
              </a:rPr>
              <a:t>Sources : processus TO-BE (16 nov. 2026) §1–§4 · diagramme BPMN 2.0 joint.</a:t>
            </a:r>
          </a:p>
        </p:txBody>
      </p:sp>
      <p:sp>
        <p:nvSpPr>
          <p:cNvPr id="45" name="TextBox 45">
            <a:extLst>
              <a:ext uri="{FF2B5EF4-FFF2-40B4-BE49-F238E27FC236}">
                <a16:creationId xmlns:a16="http://schemas.microsoft.com/office/drawing/2014/main" id="{51397400-9FDE-401C-A8EA-38DD7DA37CFF}"/>
              </a:ext>
            </a:extLst>
          </p:cNvPr>
          <p:cNvSpPr txBox="1"/>
          <p:nvPr/>
        </p:nvSpPr>
        <p:spPr>
          <a:xfrm>
            <a:off x="11239500" y="6362700"/>
            <a:ext cx="381000" cy="190500"/>
          </a:xfrm>
        </p:spPr>
        <p:txBody>
          <a:bodyPr wrap="square" rtlCol="0" lIns="0" tIns="0" rIns="0" bIns="0" anchor="t"/>
          <a:lstStyle/>
          <a:p>
            <a:pPr algn="r"/>
            <a:r>
              <a:rPr sz="1000">
                <a:solidFill>
                  <a:srgbClr val="9AA6AC"/>
                </a:solidFill>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3B9C066C-F9D1-49FB-A91A-00A65398BDD5}"/>
              </a:ext>
            </a:extLst>
          </p:cNvPr>
          <p:cNvSpPr txBox="1"/>
          <p:nvPr/>
        </p:nvSpPr>
        <p:spPr>
          <a:xfrm>
            <a:off x="571500" y="304800"/>
            <a:ext cx="5334000" cy="209550"/>
          </a:xfrm>
        </p:spPr>
        <p:txBody>
          <a:bodyPr wrap="square" rtlCol="0" lIns="0" tIns="0" rIns="0" bIns="0" anchor="t"/>
          <a:lstStyle/>
          <a:p>
            <a:r>
              <a:rPr sz="1100" b="1">
                <a:solidFill>
                  <a:srgbClr val="2E7D8C"/>
                </a:solidFill>
              </a:rPr>
              <a:t>BACKLOG · 14 USER STORIES · 60 POINTS</a:t>
            </a:r>
          </a:p>
        </p:txBody>
      </p:sp>
      <p:sp>
        <p:nvSpPr>
          <p:cNvPr id="4" name="TextBox 4">
            <a:extLst>
              <a:ext uri="{FF2B5EF4-FFF2-40B4-BE49-F238E27FC236}">
                <a16:creationId xmlns:a16="http://schemas.microsoft.com/office/drawing/2014/main" id="{D1C0A612-6166-467B-AFF9-C4BEA1DB2823}"/>
              </a:ext>
            </a:extLst>
          </p:cNvPr>
          <p:cNvSpPr txBox="1"/>
          <p:nvPr/>
        </p:nvSpPr>
        <p:spPr>
          <a:xfrm>
            <a:off x="571500" y="571500"/>
            <a:ext cx="11049000" cy="419100"/>
          </a:xfrm>
        </p:spPr>
        <p:txBody>
          <a:bodyPr wrap="square" rtlCol="0" lIns="0" tIns="0" rIns="0" bIns="0" anchor="t"/>
          <a:lstStyle/>
          <a:p>
            <a:r>
              <a:rPr sz="2100" b="1">
                <a:solidFill>
                  <a:srgbClr val="243B45"/>
                </a:solidFill>
              </a:rPr>
              <a:t>Le MVP tient en 23 points : déposer un dossier complet, quel que soit le canal</a:t>
            </a:r>
          </a:p>
        </p:txBody>
      </p:sp>
      <p:sp>
        <p:nvSpPr>
          <p:cNvPr id="5" name="TextBox 5">
            <a:extLst>
              <a:ext uri="{FF2B5EF4-FFF2-40B4-BE49-F238E27FC236}">
                <a16:creationId xmlns:a16="http://schemas.microsoft.com/office/drawing/2014/main" id="{C63EC527-1778-4A71-B55C-ACB32C6D0702}"/>
              </a:ext>
            </a:extLst>
          </p:cNvPr>
          <p:cNvSpPr txBox="1"/>
          <p:nvPr/>
        </p:nvSpPr>
        <p:spPr>
          <a:xfrm>
            <a:off x="571500" y="1104900"/>
            <a:ext cx="3810000" cy="228600"/>
          </a:xfrm>
        </p:spPr>
        <p:txBody>
          <a:bodyPr wrap="square" rtlCol="0" lIns="0" tIns="0" rIns="0" bIns="0" anchor="t"/>
          <a:lstStyle/>
          <a:p>
            <a:r>
              <a:rPr sz="1200" b="1">
                <a:solidFill>
                  <a:srgbClr val="2E7D8C"/>
                </a:solidFill>
              </a:rPr>
              <a:t>REPARTITION MoSCoW DES 60 POINTS</a:t>
            </a:r>
          </a:p>
        </p:txBody>
      </p:sp>
      <p:sp>
        <p:nvSpPr>
          <p:cNvPr id="6" name="Shape 6">
            <a:extLst>
              <a:ext uri="{FF2B5EF4-FFF2-40B4-BE49-F238E27FC236}">
                <a16:creationId xmlns:a16="http://schemas.microsoft.com/office/drawing/2014/main" id="{3EE10F33-E8DD-4620-9D5D-704D24168DD2}"/>
              </a:ext>
            </a:extLst>
          </p:cNvPr>
          <p:cNvSpPr/>
          <p:nvPr/>
        </p:nvSpPr>
        <p:spPr>
          <a:xfrm>
            <a:off x="571500" y="1371600"/>
            <a:ext cx="9210675" cy="419100"/>
          </a:xfrm>
          <a:prstGeom prst="rect">
            <a:avLst/>
          </a:prstGeom>
          <a:solidFill>
            <a:srgbClr val="2E7D8C"/>
          </a:solidFill>
        </p:spPr>
        <p:txBody>
          <a:bodyPr wrap="square" rtlCol="0"/>
          <a:lstStyle/>
          <a:p>
            <a:r>
              <a:rPr/>
              <a:t/>
            </a:r>
          </a:p>
        </p:txBody>
      </p:sp>
      <p:sp>
        <p:nvSpPr>
          <p:cNvPr id="7" name="Shape 7">
            <a:extLst>
              <a:ext uri="{FF2B5EF4-FFF2-40B4-BE49-F238E27FC236}">
                <a16:creationId xmlns:a16="http://schemas.microsoft.com/office/drawing/2014/main" id="{F4D44DB4-2DA1-4085-98A9-CFAC0FDE1856}"/>
              </a:ext>
            </a:extLst>
          </p:cNvPr>
          <p:cNvSpPr/>
          <p:nvPr/>
        </p:nvSpPr>
        <p:spPr>
          <a:xfrm>
            <a:off x="9782175" y="1371600"/>
            <a:ext cx="1476375" cy="419100"/>
          </a:xfrm>
          <a:prstGeom prst="rect">
            <a:avLst/>
          </a:prstGeom>
          <a:solidFill>
            <a:srgbClr val="7FB6C4"/>
          </a:solidFill>
        </p:spPr>
        <p:txBody>
          <a:bodyPr wrap="square" rtlCol="0"/>
          <a:lstStyle/>
          <a:p>
            <a:r>
              <a:rPr/>
              <a:t/>
            </a:r>
          </a:p>
        </p:txBody>
      </p:sp>
      <p:sp>
        <p:nvSpPr>
          <p:cNvPr id="8" name="Shape 8">
            <a:extLst>
              <a:ext uri="{FF2B5EF4-FFF2-40B4-BE49-F238E27FC236}">
                <a16:creationId xmlns:a16="http://schemas.microsoft.com/office/drawing/2014/main" id="{DE7491CF-B26F-4B2C-A9A8-DD4E9FA6A726}"/>
              </a:ext>
            </a:extLst>
          </p:cNvPr>
          <p:cNvSpPr/>
          <p:nvPr/>
        </p:nvSpPr>
        <p:spPr>
          <a:xfrm>
            <a:off x="11258550" y="1371600"/>
            <a:ext cx="361950" cy="419100"/>
          </a:xfrm>
          <a:prstGeom prst="rect">
            <a:avLst/>
          </a:prstGeom>
          <a:solidFill>
            <a:srgbClr val="E4D9C3"/>
          </a:solidFill>
        </p:spPr>
        <p:txBody>
          <a:bodyPr wrap="square" rtlCol="0"/>
          <a:lstStyle/>
          <a:p>
            <a:r>
              <a:rPr/>
              <a:t/>
            </a:r>
          </a:p>
        </p:txBody>
      </p:sp>
      <p:sp>
        <p:nvSpPr>
          <p:cNvPr id="9" name="TextBox 9">
            <a:extLst>
              <a:ext uri="{FF2B5EF4-FFF2-40B4-BE49-F238E27FC236}">
                <a16:creationId xmlns:a16="http://schemas.microsoft.com/office/drawing/2014/main" id="{25CCE58B-11E6-4CB7-96A1-FD5A76B7555B}"/>
              </a:ext>
            </a:extLst>
          </p:cNvPr>
          <p:cNvSpPr txBox="1"/>
          <p:nvPr/>
        </p:nvSpPr>
        <p:spPr>
          <a:xfrm>
            <a:off x="762000" y="1457325"/>
            <a:ext cx="3810000" cy="247650"/>
          </a:xfrm>
        </p:spPr>
        <p:txBody>
          <a:bodyPr wrap="square" rtlCol="0" lIns="0" tIns="0" rIns="0" bIns="0" anchor="t"/>
          <a:lstStyle/>
          <a:p>
            <a:r>
              <a:rPr sz="1300" b="1">
                <a:solidFill>
                  <a:srgbClr val="FFFFFF"/>
                </a:solidFill>
              </a:rPr>
              <a:t>Must — 11 stories · 50 pts (83 %)</a:t>
            </a:r>
          </a:p>
        </p:txBody>
      </p:sp>
      <p:sp>
        <p:nvSpPr>
          <p:cNvPr id="10" name="TextBox 10">
            <a:extLst>
              <a:ext uri="{FF2B5EF4-FFF2-40B4-BE49-F238E27FC236}">
                <a16:creationId xmlns:a16="http://schemas.microsoft.com/office/drawing/2014/main" id="{B15CE01C-1532-419C-9874-26AD38C05AE0}"/>
              </a:ext>
            </a:extLst>
          </p:cNvPr>
          <p:cNvSpPr txBox="1"/>
          <p:nvPr/>
        </p:nvSpPr>
        <p:spPr>
          <a:xfrm>
            <a:off x="9848850" y="1419225"/>
            <a:ext cx="1333500" cy="320040"/>
          </a:xfrm>
        </p:spPr>
        <p:txBody>
          <a:bodyPr wrap="square" rtlCol="0" lIns="0" tIns="0" rIns="0" bIns="0" anchor="t"/>
          <a:lstStyle/>
          <a:p>
            <a:pPr algn="ctr"/>
            <a:r>
              <a:rPr sz="1100" b="1">
                <a:solidFill>
                  <a:srgbClr val="1F4E5F"/>
                </a:solidFill>
              </a:rPr>
              <a:t>Should</a:t>
            </a:r>
          </a:p>
          <a:p>
            <a:pPr algn="ctr"/>
            <a:r>
              <a:rPr sz="1000">
                <a:solidFill>
                  <a:srgbClr val="1F4E5F"/>
                </a:solidFill>
              </a:rPr>
              <a:t>8 pts</a:t>
            </a:r>
          </a:p>
        </p:txBody>
      </p:sp>
      <p:sp>
        <p:nvSpPr>
          <p:cNvPr id="11" name="TextBox 11">
            <a:extLst>
              <a:ext uri="{FF2B5EF4-FFF2-40B4-BE49-F238E27FC236}">
                <a16:creationId xmlns:a16="http://schemas.microsoft.com/office/drawing/2014/main" id="{6B7D2823-B677-494B-93D8-7944A99DDD3E}"/>
              </a:ext>
            </a:extLst>
          </p:cNvPr>
          <p:cNvSpPr txBox="1"/>
          <p:nvPr/>
        </p:nvSpPr>
        <p:spPr>
          <a:xfrm>
            <a:off x="10668000" y="1866900"/>
            <a:ext cx="952500" cy="247650"/>
          </a:xfrm>
        </p:spPr>
        <p:txBody>
          <a:bodyPr wrap="square" rtlCol="0" lIns="0" tIns="0" rIns="0" bIns="0" anchor="t"/>
          <a:lstStyle/>
          <a:p>
            <a:pPr algn="r"/>
            <a:r>
              <a:rPr sz="1000" b="1">
                <a:solidFill>
                  <a:srgbClr val="6B7C82"/>
                </a:solidFill>
              </a:rPr>
              <a:t>Could · 2 pts</a:t>
            </a:r>
          </a:p>
        </p:txBody>
      </p:sp>
      <p:sp>
        <p:nvSpPr>
          <p:cNvPr id="12" name="TextBox 12">
            <a:extLst>
              <a:ext uri="{FF2B5EF4-FFF2-40B4-BE49-F238E27FC236}">
                <a16:creationId xmlns:a16="http://schemas.microsoft.com/office/drawing/2014/main" id="{CF98E651-54E1-4A47-9BA3-BEA37EDDE98C}"/>
              </a:ext>
            </a:extLst>
          </p:cNvPr>
          <p:cNvSpPr txBox="1"/>
          <p:nvPr/>
        </p:nvSpPr>
        <p:spPr>
          <a:xfrm>
            <a:off x="571500" y="2152650"/>
            <a:ext cx="3810000" cy="228600"/>
          </a:xfrm>
        </p:spPr>
        <p:txBody>
          <a:bodyPr wrap="square" rtlCol="0" lIns="0" tIns="0" rIns="0" bIns="0" anchor="t"/>
          <a:lstStyle/>
          <a:p>
            <a:r>
              <a:rPr sz="1200" b="1">
                <a:solidFill>
                  <a:srgbClr val="2E7D8C"/>
                </a:solidFill>
              </a:rPr>
              <a:t>SEQUENCE PROPOSEE — 4 SPRINTS</a:t>
            </a:r>
          </a:p>
        </p:txBody>
      </p:sp>
      <p:sp>
        <p:nvSpPr>
          <p:cNvPr id="13" name="Shape 13">
            <a:extLst>
              <a:ext uri="{FF2B5EF4-FFF2-40B4-BE49-F238E27FC236}">
                <a16:creationId xmlns:a16="http://schemas.microsoft.com/office/drawing/2014/main" id="{06733390-A7F6-420C-8134-F4D48BE2A513}"/>
              </a:ext>
            </a:extLst>
          </p:cNvPr>
          <p:cNvSpPr/>
          <p:nvPr/>
        </p:nvSpPr>
        <p:spPr>
          <a:xfrm>
            <a:off x="571500" y="2419350"/>
            <a:ext cx="2676525" cy="285750"/>
          </a:xfrm>
          <a:prstGeom prst="roundRect">
            <a:avLst/>
          </a:prstGeom>
          <a:solidFill>
            <a:srgbClr val="1F4E5F"/>
          </a:solidFill>
        </p:spPr>
        <p:txBody>
          <a:bodyPr wrap="square" rtlCol="0"/>
          <a:lstStyle/>
          <a:p>
            <a:r>
              <a:rPr/>
              <a:t/>
            </a:r>
          </a:p>
        </p:txBody>
      </p:sp>
      <p:sp>
        <p:nvSpPr>
          <p:cNvPr id="14" name="Shape 14">
            <a:extLst>
              <a:ext uri="{FF2B5EF4-FFF2-40B4-BE49-F238E27FC236}">
                <a16:creationId xmlns:a16="http://schemas.microsoft.com/office/drawing/2014/main" id="{5C438B49-69F1-4914-AB95-9D2F9244901F}"/>
              </a:ext>
            </a:extLst>
          </p:cNvPr>
          <p:cNvSpPr/>
          <p:nvPr/>
        </p:nvSpPr>
        <p:spPr>
          <a:xfrm>
            <a:off x="571500" y="2705100"/>
            <a:ext cx="2676525" cy="1543050"/>
          </a:xfrm>
          <a:prstGeom prst="rect">
            <a:avLst/>
          </a:prstGeom>
          <a:solidFill>
            <a:srgbClr val="F7F2E7"/>
          </a:solidFill>
        </p:spPr>
        <p:txBody>
          <a:bodyPr wrap="square" rtlCol="0"/>
          <a:lstStyle/>
          <a:p>
            <a:r>
              <a:rPr/>
              <a:t/>
            </a:r>
          </a:p>
        </p:txBody>
      </p:sp>
      <p:sp>
        <p:nvSpPr>
          <p:cNvPr id="15" name="TextBox 15">
            <a:extLst>
              <a:ext uri="{FF2B5EF4-FFF2-40B4-BE49-F238E27FC236}">
                <a16:creationId xmlns:a16="http://schemas.microsoft.com/office/drawing/2014/main" id="{46C46FBC-B3D4-47BB-914C-A3530AB0D0B2}"/>
              </a:ext>
            </a:extLst>
          </p:cNvPr>
          <p:cNvSpPr txBox="1"/>
          <p:nvPr/>
        </p:nvSpPr>
        <p:spPr>
          <a:xfrm>
            <a:off x="571500" y="2457450"/>
            <a:ext cx="2676525" cy="209550"/>
          </a:xfrm>
        </p:spPr>
        <p:txBody>
          <a:bodyPr wrap="square" rtlCol="0" lIns="0" tIns="0" rIns="0" bIns="0" anchor="t"/>
          <a:lstStyle/>
          <a:p>
            <a:pPr algn="ctr"/>
            <a:r>
              <a:rPr sz="1100" b="1">
                <a:solidFill>
                  <a:srgbClr val="FFFFFF"/>
                </a:solidFill>
              </a:rPr>
              <a:t>SPRINT 1 — MVP · 23 pts</a:t>
            </a:r>
          </a:p>
        </p:txBody>
      </p:sp>
      <p:sp>
        <p:nvSpPr>
          <p:cNvPr id="16" name="TextBox 16">
            <a:extLst>
              <a:ext uri="{FF2B5EF4-FFF2-40B4-BE49-F238E27FC236}">
                <a16:creationId xmlns:a16="http://schemas.microsoft.com/office/drawing/2014/main" id="{5295875F-18F3-4378-86EB-F28719FF6CC0}"/>
              </a:ext>
            </a:extLst>
          </p:cNvPr>
          <p:cNvSpPr txBox="1"/>
          <p:nvPr/>
        </p:nvSpPr>
        <p:spPr>
          <a:xfrm>
            <a:off x="714375" y="2838450"/>
            <a:ext cx="2390775" cy="1333500"/>
          </a:xfrm>
        </p:spPr>
        <p:txBody>
          <a:bodyPr wrap="square" rtlCol="0" lIns="0" tIns="0" rIns="0" bIns="0" anchor="t"/>
          <a:lstStyle/>
          <a:p>
            <a:pPr>
              <a:lnSpc>
                <a:spcPct val="114000"/>
              </a:lnSpc>
              <a:spcAft>
                <a:spcPts val="500"/>
              </a:spcAft>
            </a:pPr>
            <a:r>
              <a:rPr sz="1050" b="1">
                <a:solidFill>
                  <a:srgbClr val="2E7D8C"/>
                </a:solidFill>
              </a:rPr>
              <a:t>US-01 · US-04 · US-05</a:t>
            </a:r>
            <a:br/>
            <a:r>
              <a:rPr sz="1050" b="1">
                <a:solidFill>
                  <a:srgbClr val="2E7D8C"/>
                </a:solidFill>
              </a:rPr>
              <a:t>US-06 · US-12</a:t>
            </a:r>
          </a:p>
          <a:p>
            <a:pPr>
              <a:lnSpc>
                <a:spcPct val="114000"/>
              </a:lnSpc>
            </a:pPr>
            <a:r>
              <a:rPr sz="1050">
                <a:solidFill>
                  <a:srgbClr val="243B45"/>
                </a:solidFill>
              </a:rPr>
              <a:t>Dépôt tous canaux, référentiel de complétude, blocage si incomplet, consentement RGPD.</a:t>
            </a:r>
          </a:p>
        </p:txBody>
      </p:sp>
      <p:sp>
        <p:nvSpPr>
          <p:cNvPr id="17" name="Shape 17">
            <a:extLst>
              <a:ext uri="{FF2B5EF4-FFF2-40B4-BE49-F238E27FC236}">
                <a16:creationId xmlns:a16="http://schemas.microsoft.com/office/drawing/2014/main" id="{68D76491-9DC5-4F98-A0BF-B66F49D182FB}"/>
              </a:ext>
            </a:extLst>
          </p:cNvPr>
          <p:cNvSpPr/>
          <p:nvPr/>
        </p:nvSpPr>
        <p:spPr>
          <a:xfrm>
            <a:off x="3362325" y="2419350"/>
            <a:ext cx="2676525" cy="285750"/>
          </a:xfrm>
          <a:prstGeom prst="roundRect">
            <a:avLst/>
          </a:prstGeom>
          <a:solidFill>
            <a:srgbClr val="1F4E5F"/>
          </a:solidFill>
        </p:spPr>
        <p:txBody>
          <a:bodyPr wrap="square" rtlCol="0"/>
          <a:lstStyle/>
          <a:p>
            <a:r>
              <a:rPr/>
              <a:t/>
            </a:r>
          </a:p>
        </p:txBody>
      </p:sp>
      <p:sp>
        <p:nvSpPr>
          <p:cNvPr id="18" name="Shape 18">
            <a:extLst>
              <a:ext uri="{FF2B5EF4-FFF2-40B4-BE49-F238E27FC236}">
                <a16:creationId xmlns:a16="http://schemas.microsoft.com/office/drawing/2014/main" id="{76994AD5-A94A-4DE0-BAA9-65C40026C29A}"/>
              </a:ext>
            </a:extLst>
          </p:cNvPr>
          <p:cNvSpPr/>
          <p:nvPr/>
        </p:nvSpPr>
        <p:spPr>
          <a:xfrm>
            <a:off x="3362325" y="2705100"/>
            <a:ext cx="2676525" cy="1543050"/>
          </a:xfrm>
          <a:prstGeom prst="rect">
            <a:avLst/>
          </a:prstGeom>
          <a:solidFill>
            <a:srgbClr val="F7F2E7"/>
          </a:solidFill>
        </p:spPr>
        <p:txBody>
          <a:bodyPr wrap="square" rtlCol="0"/>
          <a:lstStyle/>
          <a:p>
            <a:r>
              <a:rPr/>
              <a:t/>
            </a:r>
          </a:p>
        </p:txBody>
      </p:sp>
      <p:sp>
        <p:nvSpPr>
          <p:cNvPr id="19" name="TextBox 19">
            <a:extLst>
              <a:ext uri="{FF2B5EF4-FFF2-40B4-BE49-F238E27FC236}">
                <a16:creationId xmlns:a16="http://schemas.microsoft.com/office/drawing/2014/main" id="{7A2B230A-D31A-41D4-8503-B945A84E85F2}"/>
              </a:ext>
            </a:extLst>
          </p:cNvPr>
          <p:cNvSpPr txBox="1"/>
          <p:nvPr/>
        </p:nvSpPr>
        <p:spPr>
          <a:xfrm>
            <a:off x="3362325" y="2457450"/>
            <a:ext cx="2676525" cy="209550"/>
          </a:xfrm>
        </p:spPr>
        <p:txBody>
          <a:bodyPr wrap="square" rtlCol="0" lIns="0" tIns="0" rIns="0" bIns="0" anchor="t"/>
          <a:lstStyle/>
          <a:p>
            <a:pPr algn="ctr"/>
            <a:r>
              <a:rPr sz="1100" b="1">
                <a:solidFill>
                  <a:srgbClr val="FFFFFF"/>
                </a:solidFill>
              </a:rPr>
              <a:t>SPRINT 2 · 14 pts</a:t>
            </a:r>
          </a:p>
        </p:txBody>
      </p:sp>
      <p:sp>
        <p:nvSpPr>
          <p:cNvPr id="20" name="TextBox 20">
            <a:extLst>
              <a:ext uri="{FF2B5EF4-FFF2-40B4-BE49-F238E27FC236}">
                <a16:creationId xmlns:a16="http://schemas.microsoft.com/office/drawing/2014/main" id="{98068EC4-3657-4851-8CCE-6DDE9A560347}"/>
              </a:ext>
            </a:extLst>
          </p:cNvPr>
          <p:cNvSpPr txBox="1"/>
          <p:nvPr/>
        </p:nvSpPr>
        <p:spPr>
          <a:xfrm>
            <a:off x="3505200" y="2838450"/>
            <a:ext cx="2390775" cy="1333500"/>
          </a:xfrm>
        </p:spPr>
        <p:txBody>
          <a:bodyPr wrap="square" rtlCol="0" lIns="0" tIns="0" rIns="0" bIns="0" anchor="t"/>
          <a:lstStyle/>
          <a:p>
            <a:pPr>
              <a:lnSpc>
                <a:spcPct val="114000"/>
              </a:lnSpc>
              <a:spcAft>
                <a:spcPts val="500"/>
              </a:spcAft>
            </a:pPr>
            <a:r>
              <a:rPr sz="1050" b="1">
                <a:solidFill>
                  <a:srgbClr val="2E7D8C"/>
                </a:solidFill>
              </a:rPr>
              <a:t>US-02 · US-03 · US-07</a:t>
            </a:r>
            <a:br/>
            <a:r>
              <a:rPr sz="1050" b="1">
                <a:solidFill>
                  <a:srgbClr val="2E7D8C"/>
                </a:solidFill>
              </a:rPr>
              <a:t>US-09</a:t>
            </a:r>
          </a:p>
          <a:p>
            <a:pPr>
              <a:lnSpc>
                <a:spcPct val="114000"/>
              </a:lnSpc>
            </a:pPr>
            <a:r>
              <a:rPr sz="1050">
                <a:solidFill>
                  <a:srgbClr val="243B45"/>
                </a:solidFill>
              </a:rPr>
              <a:t>Visibilité client, portail arabe RTL, workflow d'états, transmission au comité.</a:t>
            </a:r>
          </a:p>
        </p:txBody>
      </p:sp>
      <p:sp>
        <p:nvSpPr>
          <p:cNvPr id="21" name="Shape 21">
            <a:extLst>
              <a:ext uri="{FF2B5EF4-FFF2-40B4-BE49-F238E27FC236}">
                <a16:creationId xmlns:a16="http://schemas.microsoft.com/office/drawing/2014/main" id="{AFF0A391-BEFB-46FF-9C07-B789F136AAAB}"/>
              </a:ext>
            </a:extLst>
          </p:cNvPr>
          <p:cNvSpPr/>
          <p:nvPr/>
        </p:nvSpPr>
        <p:spPr>
          <a:xfrm>
            <a:off x="6153150" y="2419350"/>
            <a:ext cx="2676525" cy="285750"/>
          </a:xfrm>
          <a:prstGeom prst="roundRect">
            <a:avLst/>
          </a:prstGeom>
          <a:solidFill>
            <a:srgbClr val="1F4E5F"/>
          </a:solidFill>
        </p:spPr>
        <p:txBody>
          <a:bodyPr wrap="square" rtlCol="0"/>
          <a:lstStyle/>
          <a:p>
            <a:r>
              <a:rPr/>
              <a:t/>
            </a:r>
          </a:p>
        </p:txBody>
      </p:sp>
      <p:sp>
        <p:nvSpPr>
          <p:cNvPr id="22" name="Shape 22">
            <a:extLst>
              <a:ext uri="{FF2B5EF4-FFF2-40B4-BE49-F238E27FC236}">
                <a16:creationId xmlns:a16="http://schemas.microsoft.com/office/drawing/2014/main" id="{FE33305D-A52E-4C00-87F1-8F5F22501E98}"/>
              </a:ext>
            </a:extLst>
          </p:cNvPr>
          <p:cNvSpPr/>
          <p:nvPr/>
        </p:nvSpPr>
        <p:spPr>
          <a:xfrm>
            <a:off x="6153150" y="2705100"/>
            <a:ext cx="2676525" cy="1543050"/>
          </a:xfrm>
          <a:prstGeom prst="rect">
            <a:avLst/>
          </a:prstGeom>
          <a:solidFill>
            <a:srgbClr val="F7F2E7"/>
          </a:solidFill>
        </p:spPr>
        <p:txBody>
          <a:bodyPr wrap="square" rtlCol="0"/>
          <a:lstStyle/>
          <a:p>
            <a:r>
              <a:rPr/>
              <a:t/>
            </a:r>
          </a:p>
        </p:txBody>
      </p:sp>
      <p:sp>
        <p:nvSpPr>
          <p:cNvPr id="23" name="TextBox 23">
            <a:extLst>
              <a:ext uri="{FF2B5EF4-FFF2-40B4-BE49-F238E27FC236}">
                <a16:creationId xmlns:a16="http://schemas.microsoft.com/office/drawing/2014/main" id="{0D3766B8-0AA4-4D90-BC41-B6C83C7ECFAA}"/>
              </a:ext>
            </a:extLst>
          </p:cNvPr>
          <p:cNvSpPr txBox="1"/>
          <p:nvPr/>
        </p:nvSpPr>
        <p:spPr>
          <a:xfrm>
            <a:off x="6153150" y="2457450"/>
            <a:ext cx="2676525" cy="209550"/>
          </a:xfrm>
        </p:spPr>
        <p:txBody>
          <a:bodyPr wrap="square" rtlCol="0" lIns="0" tIns="0" rIns="0" bIns="0" anchor="t"/>
          <a:lstStyle/>
          <a:p>
            <a:pPr algn="ctr"/>
            <a:r>
              <a:rPr sz="1100" b="1">
                <a:solidFill>
                  <a:srgbClr val="FFFFFF"/>
                </a:solidFill>
              </a:rPr>
              <a:t>SPRINT 3 · 13 pts</a:t>
            </a:r>
          </a:p>
        </p:txBody>
      </p:sp>
      <p:sp>
        <p:nvSpPr>
          <p:cNvPr id="24" name="TextBox 24">
            <a:extLst>
              <a:ext uri="{FF2B5EF4-FFF2-40B4-BE49-F238E27FC236}">
                <a16:creationId xmlns:a16="http://schemas.microsoft.com/office/drawing/2014/main" id="{219D610B-E8ED-4763-B166-4EF353EDAB0F}"/>
              </a:ext>
            </a:extLst>
          </p:cNvPr>
          <p:cNvSpPr txBox="1"/>
          <p:nvPr/>
        </p:nvSpPr>
        <p:spPr>
          <a:xfrm>
            <a:off x="6296025" y="2838450"/>
            <a:ext cx="2390775" cy="1333500"/>
          </a:xfrm>
        </p:spPr>
        <p:txBody>
          <a:bodyPr wrap="square" rtlCol="0" lIns="0" tIns="0" rIns="0" bIns="0" anchor="t"/>
          <a:lstStyle/>
          <a:p>
            <a:pPr>
              <a:lnSpc>
                <a:spcPct val="114000"/>
              </a:lnSpc>
              <a:spcAft>
                <a:spcPts val="500"/>
              </a:spcAft>
            </a:pPr>
            <a:r>
              <a:rPr sz="1050" b="1">
                <a:solidFill>
                  <a:srgbClr val="2E7D8C"/>
                </a:solidFill>
              </a:rPr>
              <a:t>US-08 · US-10</a:t>
            </a:r>
          </a:p>
          <a:p>
            <a:pPr>
              <a:lnSpc>
                <a:spcPct val="114000"/>
              </a:lnSpc>
            </a:pPr>
            <a:r>
              <a:rPr sz="1050">
                <a:solidFill>
                  <a:srgbClr val="243B45"/>
                </a:solidFill>
              </a:rPr>
              <a:t>Instruction sur dossier unique avec historique, journal d'audit inviolable (D7).</a:t>
            </a:r>
          </a:p>
        </p:txBody>
      </p:sp>
      <p:sp>
        <p:nvSpPr>
          <p:cNvPr id="25" name="Shape 25">
            <a:extLst>
              <a:ext uri="{FF2B5EF4-FFF2-40B4-BE49-F238E27FC236}">
                <a16:creationId xmlns:a16="http://schemas.microsoft.com/office/drawing/2014/main" id="{0A04290C-5599-4BC7-9517-1400813E4D1F}"/>
              </a:ext>
            </a:extLst>
          </p:cNvPr>
          <p:cNvSpPr/>
          <p:nvPr/>
        </p:nvSpPr>
        <p:spPr>
          <a:xfrm>
            <a:off x="8943975" y="2419350"/>
            <a:ext cx="2676525" cy="285750"/>
          </a:xfrm>
          <a:prstGeom prst="roundRect">
            <a:avLst/>
          </a:prstGeom>
          <a:solidFill>
            <a:srgbClr val="1F4E5F"/>
          </a:solidFill>
        </p:spPr>
        <p:txBody>
          <a:bodyPr wrap="square" rtlCol="0"/>
          <a:lstStyle/>
          <a:p>
            <a:r>
              <a:rPr/>
              <a:t/>
            </a:r>
          </a:p>
        </p:txBody>
      </p:sp>
      <p:sp>
        <p:nvSpPr>
          <p:cNvPr id="26" name="Shape 26">
            <a:extLst>
              <a:ext uri="{FF2B5EF4-FFF2-40B4-BE49-F238E27FC236}">
                <a16:creationId xmlns:a16="http://schemas.microsoft.com/office/drawing/2014/main" id="{A01817C9-F852-4FDB-ADCF-703297F88427}"/>
              </a:ext>
            </a:extLst>
          </p:cNvPr>
          <p:cNvSpPr/>
          <p:nvPr/>
        </p:nvSpPr>
        <p:spPr>
          <a:xfrm>
            <a:off x="8943975" y="2705100"/>
            <a:ext cx="2676525" cy="1543050"/>
          </a:xfrm>
          <a:prstGeom prst="rect">
            <a:avLst/>
          </a:prstGeom>
          <a:solidFill>
            <a:srgbClr val="F7F2E7"/>
          </a:solidFill>
        </p:spPr>
        <p:txBody>
          <a:bodyPr wrap="square" rtlCol="0"/>
          <a:lstStyle/>
          <a:p>
            <a:r>
              <a:rPr/>
              <a:t/>
            </a:r>
          </a:p>
        </p:txBody>
      </p:sp>
      <p:sp>
        <p:nvSpPr>
          <p:cNvPr id="27" name="TextBox 27">
            <a:extLst>
              <a:ext uri="{FF2B5EF4-FFF2-40B4-BE49-F238E27FC236}">
                <a16:creationId xmlns:a16="http://schemas.microsoft.com/office/drawing/2014/main" id="{978C1BB8-AF86-4876-8BAD-32D39948C138}"/>
              </a:ext>
            </a:extLst>
          </p:cNvPr>
          <p:cNvSpPr txBox="1"/>
          <p:nvPr/>
        </p:nvSpPr>
        <p:spPr>
          <a:xfrm>
            <a:off x="8943975" y="2457450"/>
            <a:ext cx="2676525" cy="209550"/>
          </a:xfrm>
        </p:spPr>
        <p:txBody>
          <a:bodyPr wrap="square" rtlCol="0" lIns="0" tIns="0" rIns="0" bIns="0" anchor="t"/>
          <a:lstStyle/>
          <a:p>
            <a:pPr algn="ctr"/>
            <a:r>
              <a:rPr sz="1100" b="1">
                <a:solidFill>
                  <a:srgbClr val="FFFFFF"/>
                </a:solidFill>
              </a:rPr>
              <a:t>SPRINT 4 · 10 pts</a:t>
            </a:r>
          </a:p>
        </p:txBody>
      </p:sp>
      <p:sp>
        <p:nvSpPr>
          <p:cNvPr id="28" name="TextBox 28">
            <a:extLst>
              <a:ext uri="{FF2B5EF4-FFF2-40B4-BE49-F238E27FC236}">
                <a16:creationId xmlns:a16="http://schemas.microsoft.com/office/drawing/2014/main" id="{A1A2687B-5612-4A96-B1B7-3C8837B353B6}"/>
              </a:ext>
            </a:extLst>
          </p:cNvPr>
          <p:cNvSpPr txBox="1"/>
          <p:nvPr/>
        </p:nvSpPr>
        <p:spPr>
          <a:xfrm>
            <a:off x="9086850" y="2838450"/>
            <a:ext cx="2390775" cy="1333500"/>
          </a:xfrm>
        </p:spPr>
        <p:txBody>
          <a:bodyPr wrap="square" rtlCol="0" lIns="0" tIns="0" rIns="0" bIns="0" anchor="t"/>
          <a:lstStyle/>
          <a:p>
            <a:pPr>
              <a:lnSpc>
                <a:spcPct val="114000"/>
              </a:lnSpc>
              <a:spcAft>
                <a:spcPts val="500"/>
              </a:spcAft>
            </a:pPr>
            <a:r>
              <a:rPr sz="1050" b="1">
                <a:solidFill>
                  <a:srgbClr val="2E7D8C"/>
                </a:solidFill>
              </a:rPr>
              <a:t>US-11 · US-14 · US-13</a:t>
            </a:r>
          </a:p>
          <a:p>
            <a:pPr>
              <a:lnSpc>
                <a:spcPct val="114000"/>
              </a:lnSpc>
            </a:pPr>
            <a:r>
              <a:rPr sz="1050">
                <a:solidFill>
                  <a:srgbClr val="243B45"/>
                </a:solidFill>
              </a:rPr>
              <a:t>Pilotage continu, relance automatique des pièces manquantes, récépissé PDF.</a:t>
            </a:r>
          </a:p>
        </p:txBody>
      </p:sp>
      <p:sp>
        <p:nvSpPr>
          <p:cNvPr id="29" name="Shape 29">
            <a:extLst>
              <a:ext uri="{FF2B5EF4-FFF2-40B4-BE49-F238E27FC236}">
                <a16:creationId xmlns:a16="http://schemas.microsoft.com/office/drawing/2014/main" id="{BAEF8F6C-668B-4232-A9FA-937E53DDA699}"/>
              </a:ext>
            </a:extLst>
          </p:cNvPr>
          <p:cNvSpPr/>
          <p:nvPr/>
        </p:nvSpPr>
        <p:spPr>
          <a:xfrm>
            <a:off x="571500" y="4400550"/>
            <a:ext cx="11049000" cy="952500"/>
          </a:xfrm>
          <a:prstGeom prst="roundRect">
            <a:avLst/>
          </a:prstGeom>
          <a:solidFill>
            <a:srgbClr val="EAF3F5"/>
          </a:solidFill>
        </p:spPr>
        <p:txBody>
          <a:bodyPr wrap="square" rtlCol="0"/>
          <a:lstStyle/>
          <a:p>
            <a:r>
              <a:rPr/>
              <a:t/>
            </a:r>
          </a:p>
        </p:txBody>
      </p:sp>
      <p:sp>
        <p:nvSpPr>
          <p:cNvPr id="30" name="TextBox 30">
            <a:extLst>
              <a:ext uri="{FF2B5EF4-FFF2-40B4-BE49-F238E27FC236}">
                <a16:creationId xmlns:a16="http://schemas.microsoft.com/office/drawing/2014/main" id="{82BAF08B-4C30-4CF6-BD50-9CCC3736DCAE}"/>
              </a:ext>
            </a:extLst>
          </p:cNvPr>
          <p:cNvSpPr txBox="1"/>
          <p:nvPr/>
        </p:nvSpPr>
        <p:spPr>
          <a:xfrm>
            <a:off x="762000" y="4495800"/>
            <a:ext cx="10668000" cy="781050"/>
          </a:xfrm>
        </p:spPr>
        <p:txBody>
          <a:bodyPr wrap="square" rtlCol="0" lIns="0" tIns="0" rIns="0" bIns="0" anchor="t"/>
          <a:lstStyle/>
          <a:p>
            <a:pPr>
              <a:lnSpc>
                <a:spcPct val="112000"/>
              </a:lnSpc>
              <a:spcAft>
                <a:spcPts val="500"/>
              </a:spcAft>
            </a:pPr>
            <a:r>
              <a:rPr sz="1150" b="1">
                <a:solidFill>
                  <a:srgbClr val="1F4E5F"/>
                </a:solidFill>
              </a:rPr>
              <a:t>Pourquoi cet ordre — et pas un autre</a:t>
            </a:r>
          </a:p>
          <a:p>
            <a:pPr>
              <a:lnSpc>
                <a:spcPct val="114000"/>
              </a:lnSpc>
            </a:pPr>
            <a:r>
              <a:rPr sz="1050">
                <a:solidFill>
                  <a:srgbClr val="243B45"/>
                </a:solidFill>
              </a:rPr>
              <a:t>Les gains D2 et D3 et tout le risque réglementaire se jouent dès le Sprint 1 : sans référentiel ni blocage, le digital ne fait que reproduire le papier. Le Sprint 2 ne vaut rien sans le dossier unique du Sprint 1. Le pilotage (Sprint 4) vient en dernier parce qu'il présuppose des indicateurs déjà mesurés — principe « mesurer par défaut ».</a:t>
            </a:r>
          </a:p>
        </p:txBody>
      </p:sp>
      <p:sp>
        <p:nvSpPr>
          <p:cNvPr id="31" name="TextBox 31">
            <a:extLst>
              <a:ext uri="{FF2B5EF4-FFF2-40B4-BE49-F238E27FC236}">
                <a16:creationId xmlns:a16="http://schemas.microsoft.com/office/drawing/2014/main" id="{57A13F03-A7B8-410F-BC92-28D0EB67290E}"/>
              </a:ext>
            </a:extLst>
          </p:cNvPr>
          <p:cNvSpPr txBox="1"/>
          <p:nvPr/>
        </p:nvSpPr>
        <p:spPr>
          <a:xfrm>
            <a:off x="571500" y="5505450"/>
            <a:ext cx="10668000" cy="704850"/>
          </a:xfrm>
        </p:spPr>
        <p:txBody>
          <a:bodyPr wrap="square" rtlCol="0" lIns="0" tIns="0" rIns="0" bIns="0" anchor="t"/>
          <a:lstStyle/>
          <a:p>
            <a:pPr>
              <a:lnSpc>
                <a:spcPct val="114000"/>
              </a:lnSpc>
              <a:spcAft>
                <a:spcPts val="500"/>
              </a:spcAft>
            </a:pPr>
            <a:r>
              <a:rPr sz="1150" b="1">
                <a:solidFill>
                  <a:srgbClr val="2E7D8C"/>
                </a:solidFill>
              </a:rPr>
              <a:t>Définition de « fini » et garde-fous</a:t>
            </a:r>
          </a:p>
          <a:p>
            <a:pPr>
              <a:lnSpc>
                <a:spcPct val="114000"/>
              </a:lnSpc>
            </a:pPr>
            <a:r>
              <a:rPr sz="1050">
                <a:solidFill>
                  <a:srgbClr val="243B45"/>
                </a:solidFill>
              </a:rPr>
              <a:t>Fini = code + tous les critères Gherkin vérifiés avec le métier, pas « développé ». Estimation en suite de Fibonacci, à affiner en planification. Tout ajout hors MoSCoW passe par arbitrage sponsor : c'est le pare-feu contre la dérive fonctionnelle.</a:t>
            </a:r>
          </a:p>
        </p:txBody>
      </p:sp>
      <p:sp>
        <p:nvSpPr>
          <p:cNvPr id="32" name="TextBox 32">
            <a:extLst>
              <a:ext uri="{FF2B5EF4-FFF2-40B4-BE49-F238E27FC236}">
                <a16:creationId xmlns:a16="http://schemas.microsoft.com/office/drawing/2014/main" id="{89A8DD58-7671-4C34-AF9F-E923DD430E9C}"/>
              </a:ext>
            </a:extLst>
          </p:cNvPr>
          <p:cNvSpPr txBox="1"/>
          <p:nvPr/>
        </p:nvSpPr>
        <p:spPr>
          <a:xfrm>
            <a:off x="571500" y="6362700"/>
            <a:ext cx="5905500" cy="190500"/>
          </a:xfrm>
        </p:spPr>
        <p:txBody>
          <a:bodyPr wrap="square" rtlCol="0" lIns="0" tIns="0" rIns="0" bIns="0" anchor="t"/>
          <a:lstStyle/>
          <a:p>
            <a:r>
              <a:rPr sz="1000" i="1">
                <a:solidFill>
                  <a:srgbClr val="9AA6AC"/>
                </a:solidFill>
              </a:rPr>
              <a:t>Sources : user stories et backlog MoSCoW (18 nov. 2026) §5–§6.</a:t>
            </a:r>
          </a:p>
        </p:txBody>
      </p:sp>
      <p:sp>
        <p:nvSpPr>
          <p:cNvPr id="33" name="TextBox 33">
            <a:extLst>
              <a:ext uri="{FF2B5EF4-FFF2-40B4-BE49-F238E27FC236}">
                <a16:creationId xmlns:a16="http://schemas.microsoft.com/office/drawing/2014/main" id="{B9DEBD87-35E8-46FC-B4CB-6695B6F75F67}"/>
              </a:ext>
            </a:extLst>
          </p:cNvPr>
          <p:cNvSpPr txBox="1"/>
          <p:nvPr/>
        </p:nvSpPr>
        <p:spPr>
          <a:xfrm>
            <a:off x="11239500" y="6362700"/>
            <a:ext cx="381000" cy="190500"/>
          </a:xfrm>
        </p:spPr>
        <p:txBody>
          <a:bodyPr wrap="square" rtlCol="0" lIns="0" tIns="0" rIns="0" bIns="0" anchor="t"/>
          <a:lstStyle/>
          <a:p>
            <a:pPr algn="r"/>
            <a:r>
              <a:rPr sz="1000">
                <a:solidFill>
                  <a:srgbClr val="9AA6AC"/>
                </a:solidFill>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8F96A6F2-664B-49FA-9DEE-6869EE74EFBD}"/>
              </a:ext>
            </a:extLst>
          </p:cNvPr>
          <p:cNvSpPr txBox="1"/>
          <p:nvPr/>
        </p:nvSpPr>
        <p:spPr>
          <a:xfrm>
            <a:off x="571500" y="304800"/>
            <a:ext cx="5334000" cy="209550"/>
          </a:xfrm>
        </p:spPr>
        <p:txBody>
          <a:bodyPr wrap="square" rtlCol="0" lIns="0" tIns="0" rIns="0" bIns="0" anchor="t"/>
          <a:lstStyle/>
          <a:p>
            <a:r>
              <a:rPr sz="1100" b="1">
                <a:solidFill>
                  <a:srgbClr val="2E7D8C"/>
                </a:solidFill>
              </a:rPr>
              <a:t>SOLUTION · MAQUETTES MID-FI COULEUR</a:t>
            </a:r>
          </a:p>
        </p:txBody>
      </p:sp>
      <p:sp>
        <p:nvSpPr>
          <p:cNvPr id="4" name="TextBox 4">
            <a:extLst>
              <a:ext uri="{FF2B5EF4-FFF2-40B4-BE49-F238E27FC236}">
                <a16:creationId xmlns:a16="http://schemas.microsoft.com/office/drawing/2014/main" id="{AA85F55F-2AFA-433E-A5DE-797D3DBB8CD6}"/>
              </a:ext>
            </a:extLst>
          </p:cNvPr>
          <p:cNvSpPr txBox="1"/>
          <p:nvPr/>
        </p:nvSpPr>
        <p:spPr>
          <a:xfrm>
            <a:off x="571500" y="571500"/>
            <a:ext cx="11049000" cy="419100"/>
          </a:xfrm>
        </p:spPr>
        <p:txBody>
          <a:bodyPr wrap="square" rtlCol="0" lIns="0" tIns="0" rIns="0" bIns="0" anchor="t"/>
          <a:lstStyle/>
          <a:p>
            <a:r>
              <a:rPr sz="2100" b="1">
                <a:solidFill>
                  <a:srgbClr val="243B45"/>
                </a:solidFill>
              </a:rPr>
              <a:t>12 écrans qui découlent d'une chaîne : rien n'a été dessiné sans exigence en amont</a:t>
            </a:r>
          </a:p>
        </p:txBody>
      </p:sp>
      <p:sp>
        <p:nvSpPr>
          <p:cNvPr id="5" name="Shape 5">
            <a:extLst>
              <a:ext uri="{FF2B5EF4-FFF2-40B4-BE49-F238E27FC236}">
                <a16:creationId xmlns:a16="http://schemas.microsoft.com/office/drawing/2014/main" id="{2578475D-A1CF-42EA-8A1C-642065BD4281}"/>
              </a:ext>
            </a:extLst>
          </p:cNvPr>
          <p:cNvSpPr/>
          <p:nvPr/>
        </p:nvSpPr>
        <p:spPr>
          <a:xfrm>
            <a:off x="571500" y="1162050"/>
            <a:ext cx="3524250" cy="2857500"/>
          </a:xfrm>
          <a:prstGeom prst="roundRect">
            <a:avLst/>
          </a:prstGeom>
          <a:solidFill>
            <a:srgbClr val="F7F2E7"/>
          </a:solidFill>
        </p:spPr>
        <p:txBody>
          <a:bodyPr wrap="square" rtlCol="0"/>
          <a:lstStyle/>
          <a:p>
            <a:r>
              <a:rPr/>
              <a:t/>
            </a:r>
          </a:p>
        </p:txBody>
      </p:sp>
      <p:sp>
        <p:nvSpPr>
          <p:cNvPr id="6" name="TextBox 6">
            <a:extLst>
              <a:ext uri="{FF2B5EF4-FFF2-40B4-BE49-F238E27FC236}">
                <a16:creationId xmlns:a16="http://schemas.microsoft.com/office/drawing/2014/main" id="{09B696A1-2567-4915-9E8B-66B794B3BF35}"/>
              </a:ext>
            </a:extLst>
          </p:cNvPr>
          <p:cNvSpPr txBox="1"/>
          <p:nvPr/>
        </p:nvSpPr>
        <p:spPr>
          <a:xfrm>
            <a:off x="742950" y="1314450"/>
            <a:ext cx="3143250" cy="228600"/>
          </a:xfrm>
        </p:spPr>
        <p:txBody>
          <a:bodyPr wrap="square" rtlCol="0" lIns="0" tIns="0" rIns="0" bIns="0" anchor="t"/>
          <a:lstStyle/>
          <a:p>
            <a:r>
              <a:rPr sz="1200" b="1">
                <a:solidFill>
                  <a:srgbClr val="1F4E5F"/>
                </a:solidFill>
              </a:rPr>
              <a:t>LA CHAINE DE TRACABILITE</a:t>
            </a:r>
          </a:p>
        </p:txBody>
      </p:sp>
      <p:sp>
        <p:nvSpPr>
          <p:cNvPr id="7" name="TextBox 7">
            <a:extLst>
              <a:ext uri="{FF2B5EF4-FFF2-40B4-BE49-F238E27FC236}">
                <a16:creationId xmlns:a16="http://schemas.microsoft.com/office/drawing/2014/main" id="{1F147257-B279-4C69-B60F-BB5323BEB7E4}"/>
              </a:ext>
            </a:extLst>
          </p:cNvPr>
          <p:cNvSpPr txBox="1"/>
          <p:nvPr/>
        </p:nvSpPr>
        <p:spPr>
          <a:xfrm>
            <a:off x="742950" y="1638300"/>
            <a:ext cx="3143250" cy="209550"/>
          </a:xfrm>
        </p:spPr>
        <p:txBody>
          <a:bodyPr wrap="square" rtlCol="0" lIns="0" tIns="0" rIns="0" bIns="0" anchor="t"/>
          <a:lstStyle/>
          <a:p>
            <a:r>
              <a:rPr sz="1400" b="1">
                <a:solidFill>
                  <a:srgbClr val="2E7D8C"/>
                </a:solidFill>
              </a:rPr>
              <a:t>17 constats </a:t>
            </a:r>
            <a:r>
              <a:rPr sz="1100">
                <a:solidFill>
                  <a:srgbClr val="6B7C82"/>
                </a:solidFill>
              </a:rPr>
              <a:t>recueillis en entretien</a:t>
            </a:r>
          </a:p>
        </p:txBody>
      </p:sp>
      <p:sp>
        <p:nvSpPr>
          <p:cNvPr id="8" name="TextBox 8">
            <a:extLst>
              <a:ext uri="{FF2B5EF4-FFF2-40B4-BE49-F238E27FC236}">
                <a16:creationId xmlns:a16="http://schemas.microsoft.com/office/drawing/2014/main" id="{27634E73-46BE-48A8-951E-EEC460624B0E}"/>
              </a:ext>
            </a:extLst>
          </p:cNvPr>
          <p:cNvSpPr txBox="1"/>
          <p:nvPr/>
        </p:nvSpPr>
        <p:spPr>
          <a:xfrm>
            <a:off x="742950" y="1943100"/>
            <a:ext cx="3143250" cy="209550"/>
          </a:xfrm>
        </p:spPr>
        <p:txBody>
          <a:bodyPr wrap="square" rtlCol="0" lIns="0" tIns="0" rIns="0" bIns="0" anchor="t"/>
          <a:lstStyle/>
          <a:p>
            <a:r>
              <a:rPr sz="1400" b="1">
                <a:solidFill>
                  <a:srgbClr val="2E7D8C"/>
                </a:solidFill>
              </a:rPr>
              <a:t>8 douleurs </a:t>
            </a:r>
            <a:r>
              <a:rPr sz="1100">
                <a:solidFill>
                  <a:srgbClr val="6B7C82"/>
                </a:solidFill>
              </a:rPr>
              <a:t>D1 à D8, hiérarchisées</a:t>
            </a:r>
          </a:p>
        </p:txBody>
      </p:sp>
      <p:sp>
        <p:nvSpPr>
          <p:cNvPr id="9" name="TextBox 9">
            <a:extLst>
              <a:ext uri="{FF2B5EF4-FFF2-40B4-BE49-F238E27FC236}">
                <a16:creationId xmlns:a16="http://schemas.microsoft.com/office/drawing/2014/main" id="{5FFCE6C4-7B8F-4671-816E-86581EAA4F96}"/>
              </a:ext>
            </a:extLst>
          </p:cNvPr>
          <p:cNvSpPr txBox="1"/>
          <p:nvPr/>
        </p:nvSpPr>
        <p:spPr>
          <a:xfrm>
            <a:off x="742950" y="2247900"/>
            <a:ext cx="3143250" cy="209550"/>
          </a:xfrm>
        </p:spPr>
        <p:txBody>
          <a:bodyPr wrap="square" rtlCol="0" lIns="0" tIns="0" rIns="0" bIns="0" anchor="t"/>
          <a:lstStyle/>
          <a:p>
            <a:r>
              <a:rPr sz="1400" b="1">
                <a:solidFill>
                  <a:srgbClr val="2E7D8C"/>
                </a:solidFill>
              </a:rPr>
              <a:t>5 besoins </a:t>
            </a:r>
            <a:r>
              <a:rPr sz="1100">
                <a:solidFill>
                  <a:srgbClr val="6B7C82"/>
                </a:solidFill>
              </a:rPr>
              <a:t>B01 à B05</a:t>
            </a:r>
          </a:p>
        </p:txBody>
      </p:sp>
      <p:sp>
        <p:nvSpPr>
          <p:cNvPr id="10" name="TextBox 10">
            <a:extLst>
              <a:ext uri="{FF2B5EF4-FFF2-40B4-BE49-F238E27FC236}">
                <a16:creationId xmlns:a16="http://schemas.microsoft.com/office/drawing/2014/main" id="{4171979E-212C-49C1-8B74-25A52293DFBD}"/>
              </a:ext>
            </a:extLst>
          </p:cNvPr>
          <p:cNvSpPr txBox="1"/>
          <p:nvPr/>
        </p:nvSpPr>
        <p:spPr>
          <a:xfrm>
            <a:off x="742950" y="2552700"/>
            <a:ext cx="3143250" cy="209550"/>
          </a:xfrm>
        </p:spPr>
        <p:txBody>
          <a:bodyPr wrap="square" rtlCol="0" lIns="0" tIns="0" rIns="0" bIns="0" anchor="t"/>
          <a:lstStyle/>
          <a:p>
            <a:r>
              <a:rPr sz="1400" b="1">
                <a:solidFill>
                  <a:srgbClr val="2E7D8C"/>
                </a:solidFill>
              </a:rPr>
              <a:t>16 exigences </a:t>
            </a:r>
            <a:r>
              <a:rPr sz="1100">
                <a:solidFill>
                  <a:srgbClr val="6B7C82"/>
                </a:solidFill>
              </a:rPr>
              <a:t>10 fonctionnelles, 6 transverses</a:t>
            </a:r>
          </a:p>
        </p:txBody>
      </p:sp>
      <p:sp>
        <p:nvSpPr>
          <p:cNvPr id="11" name="TextBox 11">
            <a:extLst>
              <a:ext uri="{FF2B5EF4-FFF2-40B4-BE49-F238E27FC236}">
                <a16:creationId xmlns:a16="http://schemas.microsoft.com/office/drawing/2014/main" id="{492ED353-1E7D-4230-A64C-EE292101A558}"/>
              </a:ext>
            </a:extLst>
          </p:cNvPr>
          <p:cNvSpPr txBox="1"/>
          <p:nvPr/>
        </p:nvSpPr>
        <p:spPr>
          <a:xfrm>
            <a:off x="742950" y="2857500"/>
            <a:ext cx="3143250" cy="209550"/>
          </a:xfrm>
        </p:spPr>
        <p:txBody>
          <a:bodyPr wrap="square" rtlCol="0" lIns="0" tIns="0" rIns="0" bIns="0" anchor="t"/>
          <a:lstStyle/>
          <a:p>
            <a:r>
              <a:rPr sz="1400" b="1">
                <a:solidFill>
                  <a:srgbClr val="2E7D8C"/>
                </a:solidFill>
              </a:rPr>
              <a:t>14 user stories </a:t>
            </a:r>
            <a:r>
              <a:rPr sz="1100">
                <a:solidFill>
                  <a:srgbClr val="6B7C82"/>
                </a:solidFill>
              </a:rPr>
              <a:t>60 points, MoSCoW</a:t>
            </a:r>
          </a:p>
        </p:txBody>
      </p:sp>
      <p:sp>
        <p:nvSpPr>
          <p:cNvPr id="12" name="TextBox 12">
            <a:extLst>
              <a:ext uri="{FF2B5EF4-FFF2-40B4-BE49-F238E27FC236}">
                <a16:creationId xmlns:a16="http://schemas.microsoft.com/office/drawing/2014/main" id="{447CB2A4-0F11-4337-A70F-8EEF12AC34C2}"/>
              </a:ext>
            </a:extLst>
          </p:cNvPr>
          <p:cNvSpPr txBox="1"/>
          <p:nvPr/>
        </p:nvSpPr>
        <p:spPr>
          <a:xfrm>
            <a:off x="742950" y="3162300"/>
            <a:ext cx="3143250" cy="209550"/>
          </a:xfrm>
        </p:spPr>
        <p:txBody>
          <a:bodyPr wrap="square" rtlCol="0" lIns="0" tIns="0" rIns="0" bIns="0" anchor="t"/>
          <a:lstStyle/>
          <a:p>
            <a:r>
              <a:rPr sz="1400" b="1">
                <a:solidFill>
                  <a:srgbClr val="2E7D8C"/>
                </a:solidFill>
              </a:rPr>
              <a:t>12 écrans </a:t>
            </a:r>
            <a:r>
              <a:rPr sz="1100">
                <a:solidFill>
                  <a:srgbClr val="6B7C82"/>
                </a:solidFill>
              </a:rPr>
              <a:t>tous rattachés à une US</a:t>
            </a:r>
          </a:p>
        </p:txBody>
      </p:sp>
      <p:sp>
        <p:nvSpPr>
          <p:cNvPr id="13" name="TextBox 13">
            <a:extLst>
              <a:ext uri="{FF2B5EF4-FFF2-40B4-BE49-F238E27FC236}">
                <a16:creationId xmlns:a16="http://schemas.microsoft.com/office/drawing/2014/main" id="{86D4FB9F-F07B-4F5A-8D5E-EBF2D697D182}"/>
              </a:ext>
            </a:extLst>
          </p:cNvPr>
          <p:cNvSpPr txBox="1"/>
          <p:nvPr/>
        </p:nvSpPr>
        <p:spPr>
          <a:xfrm>
            <a:off x="742950" y="3467100"/>
            <a:ext cx="3143250" cy="533400"/>
          </a:xfrm>
        </p:spPr>
        <p:txBody>
          <a:bodyPr wrap="square" rtlCol="0" lIns="0" tIns="0" rIns="0" bIns="0" anchor="t"/>
          <a:lstStyle/>
          <a:p>
            <a:pPr>
              <a:lnSpc>
                <a:spcPct val="114000"/>
              </a:lnSpc>
            </a:pPr>
            <a:r>
              <a:rPr sz="1050">
                <a:solidFill>
                  <a:srgbClr val="243B45"/>
                </a:solidFill>
              </a:rPr>
              <a:t>Zéro écran orphelin, zéro exigence non maquée : la matrice croise les deux dans le dépôt.</a:t>
            </a:r>
          </a:p>
        </p:txBody>
      </p:sp>
      <p:sp>
        <p:nvSpPr>
          <p:cNvPr id="14" name="Shape 14">
            <a:extLst>
              <a:ext uri="{FF2B5EF4-FFF2-40B4-BE49-F238E27FC236}">
                <a16:creationId xmlns:a16="http://schemas.microsoft.com/office/drawing/2014/main" id="{94C46C90-9CC9-477D-BF99-6DA6F72F7A67}"/>
              </a:ext>
            </a:extLst>
          </p:cNvPr>
          <p:cNvSpPr/>
          <p:nvPr/>
        </p:nvSpPr>
        <p:spPr>
          <a:xfrm>
            <a:off x="571500" y="4152900"/>
            <a:ext cx="3524250" cy="9525"/>
          </a:xfrm>
          <a:prstGeom prst="rect">
            <a:avLst/>
          </a:prstGeom>
          <a:solidFill>
            <a:srgbClr val="E4D9C3"/>
          </a:solidFill>
        </p:spPr>
        <p:txBody>
          <a:bodyPr wrap="square" rtlCol="0"/>
          <a:lstStyle/>
          <a:p>
            <a:r>
              <a:rPr/>
              <a:t/>
            </a:r>
          </a:p>
        </p:txBody>
      </p:sp>
      <p:sp>
        <p:nvSpPr>
          <p:cNvPr id="15" name="Shape 15">
            <a:extLst>
              <a:ext uri="{FF2B5EF4-FFF2-40B4-BE49-F238E27FC236}">
                <a16:creationId xmlns:a16="http://schemas.microsoft.com/office/drawing/2014/main" id="{05BFA8E1-FB11-4B42-9540-4AC09675DD45}"/>
              </a:ext>
            </a:extLst>
          </p:cNvPr>
          <p:cNvSpPr/>
          <p:nvPr/>
        </p:nvSpPr>
        <p:spPr>
          <a:xfrm>
            <a:off x="571500" y="4343400"/>
            <a:ext cx="3524250" cy="1428750"/>
          </a:xfrm>
          <a:prstGeom prst="roundRect">
            <a:avLst/>
          </a:prstGeom>
          <a:solidFill>
            <a:srgbClr val="EAF3F5"/>
          </a:solidFill>
        </p:spPr>
        <p:txBody>
          <a:bodyPr wrap="square" rtlCol="0"/>
          <a:lstStyle/>
          <a:p>
            <a:r>
              <a:rPr/>
              <a:t/>
            </a:r>
          </a:p>
        </p:txBody>
      </p:sp>
      <p:sp>
        <p:nvSpPr>
          <p:cNvPr id="16" name="TextBox 16">
            <a:extLst>
              <a:ext uri="{FF2B5EF4-FFF2-40B4-BE49-F238E27FC236}">
                <a16:creationId xmlns:a16="http://schemas.microsoft.com/office/drawing/2014/main" id="{E7AEBFAE-044F-4E30-B293-801309F1B3AD}"/>
              </a:ext>
            </a:extLst>
          </p:cNvPr>
          <p:cNvSpPr txBox="1"/>
          <p:nvPr/>
        </p:nvSpPr>
        <p:spPr>
          <a:xfrm>
            <a:off x="742950" y="4457700"/>
            <a:ext cx="3200400" cy="1552956"/>
          </a:xfrm>
        </p:spPr>
        <p:txBody>
          <a:bodyPr wrap="square" rtlCol="0" lIns="0" tIns="0" rIns="0" bIns="0" anchor="t"/>
          <a:lstStyle/>
          <a:p>
            <a:pPr>
              <a:lnSpc>
                <a:spcPct val="114000"/>
              </a:lnSpc>
              <a:spcAft>
                <a:spcPts val="600"/>
              </a:spcAft>
            </a:pPr>
            <a:r>
              <a:rPr sz="1150" b="1">
                <a:solidFill>
                  <a:srgbClr val="1F4E5F"/>
                </a:solidFill>
              </a:rPr>
              <a:t>Ce que les maquettes prouvent</a:t>
            </a:r>
          </a:p>
          <a:p>
            <a:pPr>
              <a:lnSpc>
                <a:spcPct val="114000"/>
              </a:lnSpc>
            </a:pPr>
            <a:r>
              <a:rPr sz="1050">
                <a:solidFill>
                  <a:srgbClr val="243B45"/>
                </a:solidFill>
              </a:rPr>
              <a:t>— Le contrôle bloquant est visible avant soumission, pas après (EF-04).</a:t>
            </a:r>
            <a:br/>
            <a:r>
              <a:rPr sz="1050">
                <a:solidFill>
                  <a:srgbClr val="243B45"/>
                </a:solidFill>
              </a:rPr>
              <a:t>— Les 5 profils ont un écran et des droits distincts (ENF-01).</a:t>
            </a:r>
            <a:br/>
            <a:r>
              <a:rPr sz="1050">
                <a:solidFill>
                  <a:srgbClr val="243B45"/>
                </a:solidFill>
              </a:rPr>
              <a:t>— Le journal s'affiche en lecture seule, donc inviolable (RG-05).</a:t>
            </a:r>
            <a:br/>
            <a:r>
              <a:rPr sz="1050">
                <a:solidFill>
                  <a:srgbClr val="243B45"/>
                </a:solidFill>
              </a:rPr>
              <a:t>— Version arabe RTL livrée dès la maquette (ENF-05).</a:t>
            </a:r>
          </a:p>
        </p:txBody>
      </p:sp>
      <p:sp>
        <p:nvSpPr>
          <p:cNvPr id="17" name="TextBox 17">
            <a:extLst>
              <a:ext uri="{FF2B5EF4-FFF2-40B4-BE49-F238E27FC236}">
                <a16:creationId xmlns:a16="http://schemas.microsoft.com/office/drawing/2014/main" id="{18ACA868-96F8-4FA4-A552-571AFB3820F2}"/>
              </a:ext>
            </a:extLst>
          </p:cNvPr>
          <p:cNvSpPr txBox="1"/>
          <p:nvPr/>
        </p:nvSpPr>
        <p:spPr>
          <a:xfrm>
            <a:off x="4476750" y="3848100"/>
            <a:ext cx="3524250" cy="621081"/>
          </a:xfrm>
        </p:spPr>
        <p:txBody>
          <a:bodyPr wrap="square" rtlCol="0" lIns="0" tIns="0" rIns="0" bIns="0" anchor="t"/>
          <a:lstStyle/>
          <a:p>
            <a:pPr>
              <a:lnSpc>
                <a:spcPct val="114000"/>
              </a:lnSpc>
              <a:spcAft>
                <a:spcPts val="400"/>
              </a:spcAft>
            </a:pPr>
            <a:r>
              <a:rPr sz="1150" b="1">
                <a:solidFill>
                  <a:srgbClr val="2E7D8C"/>
                </a:solidFill>
              </a:rPr>
              <a:t>01 · Dépôt en ligne — étape montant et type de crédit (US-01)</a:t>
            </a:r>
          </a:p>
          <a:p>
            <a:pPr>
              <a:lnSpc>
                <a:spcPct val="112000"/>
              </a:lnSpc>
            </a:pPr>
            <a:r>
              <a:rPr sz="1000">
                <a:solidFill>
                  <a:srgbClr val="6B7C82"/>
                </a:solidFill>
              </a:rPr>
              <a:t>Desktop 1440 × 900 · portail client · formulaire guidé en 4 étapes</a:t>
            </a:r>
          </a:p>
        </p:txBody>
      </p:sp>
      <p:sp>
        <p:nvSpPr>
          <p:cNvPr id="18" name="TextBox 18">
            <a:extLst>
              <a:ext uri="{FF2B5EF4-FFF2-40B4-BE49-F238E27FC236}">
                <a16:creationId xmlns:a16="http://schemas.microsoft.com/office/drawing/2014/main" id="{D6581E99-50A9-4D5C-977A-96537200CC46}"/>
              </a:ext>
            </a:extLst>
          </p:cNvPr>
          <p:cNvSpPr txBox="1"/>
          <p:nvPr/>
        </p:nvSpPr>
        <p:spPr>
          <a:xfrm>
            <a:off x="8191500" y="3848100"/>
            <a:ext cx="3524250" cy="591972"/>
          </a:xfrm>
        </p:spPr>
        <p:txBody>
          <a:bodyPr wrap="square" rtlCol="0" lIns="0" tIns="0" rIns="0" bIns="0" anchor="t"/>
          <a:lstStyle/>
          <a:p>
            <a:pPr>
              <a:lnSpc>
                <a:spcPct val="114000"/>
              </a:lnSpc>
              <a:spcAft>
                <a:spcPts val="400"/>
              </a:spcAft>
            </a:pPr>
            <a:r>
              <a:rPr sz="1150" b="1">
                <a:solidFill>
                  <a:srgbClr val="2E7D8C"/>
                </a:solidFill>
              </a:rPr>
              <a:t>09 · Tableau de bord analyste (US-08)</a:t>
            </a:r>
          </a:p>
          <a:p>
            <a:pPr>
              <a:lnSpc>
                <a:spcPct val="112000"/>
              </a:lnSpc>
            </a:pPr>
            <a:r>
              <a:rPr sz="1000">
                <a:solidFill>
                  <a:srgbClr val="6B7C82"/>
                </a:solidFill>
              </a:rPr>
              <a:t>Espace siège · dossier unique, historique client intégré, journal d'audit</a:t>
            </a:r>
          </a:p>
        </p:txBody>
      </p:sp>
      <p:sp>
        <p:nvSpPr>
          <p:cNvPr id="19" name="TextBox 19">
            <a:extLst>
              <a:ext uri="{FF2B5EF4-FFF2-40B4-BE49-F238E27FC236}">
                <a16:creationId xmlns:a16="http://schemas.microsoft.com/office/drawing/2014/main" id="{FA05A1B7-E3F8-42E3-BDCB-ED31B09E79FC}"/>
              </a:ext>
            </a:extLst>
          </p:cNvPr>
          <p:cNvSpPr txBox="1"/>
          <p:nvPr/>
        </p:nvSpPr>
        <p:spPr>
          <a:xfrm>
            <a:off x="4476750" y="4533900"/>
            <a:ext cx="4762500" cy="209550"/>
          </a:xfrm>
        </p:spPr>
        <p:txBody>
          <a:bodyPr wrap="square" rtlCol="0" lIns="0" tIns="0" rIns="0" bIns="0" anchor="t"/>
          <a:lstStyle/>
          <a:p>
            <a:r>
              <a:rPr sz="1100" b="1">
                <a:solidFill>
                  <a:srgbClr val="2E7D8C"/>
                </a:solidFill>
              </a:rPr>
              <a:t>GALERIE COMPLETE : 12 ECRANS — DEPOT PUBLIC</a:t>
            </a:r>
          </a:p>
        </p:txBody>
      </p:sp>
      <p:sp>
        <p:nvSpPr>
          <p:cNvPr id="20" name="TextBox 20">
            <a:extLst>
              <a:ext uri="{FF2B5EF4-FFF2-40B4-BE49-F238E27FC236}">
                <a16:creationId xmlns:a16="http://schemas.microsoft.com/office/drawing/2014/main" id="{703F2DBA-54E1-4355-8E3A-E27F135AF5A1}"/>
              </a:ext>
            </a:extLst>
          </p:cNvPr>
          <p:cNvSpPr txBox="1"/>
          <p:nvPr/>
        </p:nvSpPr>
        <p:spPr>
          <a:xfrm>
            <a:off x="4476750" y="4781550"/>
            <a:ext cx="7048500" cy="571500"/>
          </a:xfrm>
        </p:spPr>
        <p:txBody>
          <a:bodyPr wrap="square" rtlCol="0" lIns="0" tIns="0" rIns="0" bIns="0" anchor="t"/>
          <a:lstStyle/>
          <a:p>
            <a:pPr>
              <a:lnSpc>
                <a:spcPct val="114000"/>
              </a:lnSpc>
            </a:pPr>
            <a:r>
              <a:rPr sz="1050">
                <a:solidFill>
                  <a:srgbClr val="243B45"/>
                </a:solidFill>
              </a:rPr>
              <a:t>Parcours client (8 écrans) : dépôt en 4 étapes, blocage si incomplet, consentement, récépissé, suivi, état vide, portail arabe. Espaces métier (4 écrans) : dépôt assisté en agence, référentiel des pièces, tableau de bord analyste, écran comité.</a:t>
            </a:r>
          </a:p>
        </p:txBody>
      </p:sp>
      <p:sp>
        <p:nvSpPr>
          <p:cNvPr id="21" name="TextBox 21">
            <a:extLst>
              <a:ext uri="{FF2B5EF4-FFF2-40B4-BE49-F238E27FC236}">
                <a16:creationId xmlns:a16="http://schemas.microsoft.com/office/drawing/2014/main" id="{5F1CF32F-C7EA-4600-BFD7-4B327363A840}"/>
              </a:ext>
            </a:extLst>
          </p:cNvPr>
          <p:cNvSpPr txBox="1"/>
          <p:nvPr/>
        </p:nvSpPr>
        <p:spPr>
          <a:xfrm>
            <a:off x="4476750" y="5448300"/>
            <a:ext cx="7048500" cy="381000"/>
          </a:xfrm>
        </p:spPr>
        <p:txBody>
          <a:bodyPr wrap="square" rtlCol="0" lIns="0" tIns="0" rIns="0" bIns="0" anchor="t"/>
          <a:lstStyle/>
          <a:p>
            <a:pPr>
              <a:lnSpc>
                <a:spcPct val="114000"/>
              </a:lnSpc>
            </a:pPr>
            <a:r>
              <a:rPr sz="1050" i="1">
                <a:solidFill>
                  <a:srgbClr val="6B7C82"/>
                </a:solidFill>
              </a:rPr>
              <a:t>Hypothèse assumée : maquettes mid-fidelity desktop livrées ; la déclinaison mobile 390 × 844 est prévue au Sprint 1 pour tenir ENF-04 (≤ 3 s sur 3G/4G).</a:t>
            </a:r>
          </a:p>
        </p:txBody>
      </p:sp>
      <p:sp>
        <p:nvSpPr>
          <p:cNvPr id="22" name="TextBox 22">
            <a:extLst>
              <a:ext uri="{FF2B5EF4-FFF2-40B4-BE49-F238E27FC236}">
                <a16:creationId xmlns:a16="http://schemas.microsoft.com/office/drawing/2014/main" id="{DBEACDD9-FA65-4013-9A36-DFB3F5628D68}"/>
              </a:ext>
            </a:extLst>
          </p:cNvPr>
          <p:cNvSpPr txBox="1"/>
          <p:nvPr/>
        </p:nvSpPr>
        <p:spPr>
          <a:xfrm>
            <a:off x="571500" y="6362700"/>
            <a:ext cx="5905500" cy="190500"/>
          </a:xfrm>
        </p:spPr>
        <p:txBody>
          <a:bodyPr wrap="square" rtlCol="0" lIns="0" tIns="0" rIns="0" bIns="0" anchor="t"/>
          <a:lstStyle/>
          <a:p>
            <a:r>
              <a:rPr sz="1000" i="1">
                <a:solidFill>
                  <a:srgbClr val="9AA6AC"/>
                </a:solidFill>
              </a:rPr>
              <a:t>Sources : matrice de traçabilité · galerie des maquettes (20 nov. 2026).</a:t>
            </a:r>
          </a:p>
        </p:txBody>
      </p:sp>
      <p:sp>
        <p:nvSpPr>
          <p:cNvPr id="23" name="TextBox 23">
            <a:extLst>
              <a:ext uri="{FF2B5EF4-FFF2-40B4-BE49-F238E27FC236}">
                <a16:creationId xmlns:a16="http://schemas.microsoft.com/office/drawing/2014/main" id="{527E3916-5166-4E8E-BE6F-4D1EF2FDE5C0}"/>
              </a:ext>
            </a:extLst>
          </p:cNvPr>
          <p:cNvSpPr txBox="1"/>
          <p:nvPr/>
        </p:nvSpPr>
        <p:spPr>
          <a:xfrm>
            <a:off x="11239500" y="6362700"/>
            <a:ext cx="381000" cy="190500"/>
          </a:xfrm>
        </p:spPr>
        <p:txBody>
          <a:bodyPr wrap="square" rtlCol="0" lIns="0" tIns="0" rIns="0" bIns="0" anchor="t"/>
          <a:lstStyle/>
          <a:p>
            <a:pPr algn="r"/>
            <a:r>
              <a:rPr sz="1000">
                <a:solidFill>
                  <a:srgbClr val="9AA6AC"/>
                </a:solidFill>
              </a:rPr>
              <a:t>08</a:t>
            </a:r>
          </a:p>
        </p:txBody>
      </p:sp>
      <p:pic>
        <p:nvPicPr>
          <p:cNvPr id="24" name="Picture 24">
            <a:extLst>
              <a:ext uri="{FF2B5EF4-FFF2-40B4-BE49-F238E27FC236}">
                <a16:creationId xmlns:a16="http://schemas.microsoft.com/office/drawing/2014/main" id="{E464E5D1-8658-4BC0-96AE-B83D1CC0E81D}"/>
              </a:ext>
            </a:extLst>
          </p:cNvPr>
          <p:cNvPicPr/>
          <p:nvPr/>
        </p:nvPicPr>
        <p:blipFill>
          <a:blip r:embed="rId2"/>
          <a:srcRect t="2371" b="2371"/>
          <a:stretch>
            <a:fillRect/>
          </a:stretch>
        </p:blipFill>
        <p:spPr>
          <a:xfrm>
            <a:off x="4476750" y="1162050"/>
            <a:ext cx="3524250" cy="2200275"/>
          </a:xfrm>
          <a:prstGeom prst="rect">
            <a:avLst/>
          </a:prstGeom>
        </p:spPr>
      </p:pic>
      <p:pic>
        <p:nvPicPr>
          <p:cNvPr id="25" name="Picture 25">
            <a:extLst>
              <a:ext uri="{FF2B5EF4-FFF2-40B4-BE49-F238E27FC236}">
                <a16:creationId xmlns:a16="http://schemas.microsoft.com/office/drawing/2014/main" id="{3A71F5F6-F068-4226-9E48-4DB054020035}"/>
              </a:ext>
            </a:extLst>
          </p:cNvPr>
          <p:cNvPicPr/>
          <p:nvPr/>
        </p:nvPicPr>
        <p:blipFill>
          <a:blip r:embed="rId3"/>
          <a:srcRect t="2371" b="2371"/>
          <a:stretch>
            <a:fillRect/>
          </a:stretch>
        </p:blipFill>
        <p:spPr>
          <a:xfrm>
            <a:off x="8191500" y="1162050"/>
            <a:ext cx="3524250" cy="22002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6D7785E5-8124-4E3F-83DB-DCD72484E16F}"/>
              </a:ext>
            </a:extLst>
          </p:cNvPr>
          <p:cNvSpPr txBox="1"/>
          <p:nvPr/>
        </p:nvSpPr>
        <p:spPr>
          <a:xfrm>
            <a:off x="571500" y="304800"/>
            <a:ext cx="5905500" cy="209550"/>
          </a:xfrm>
        </p:spPr>
        <p:txBody>
          <a:bodyPr wrap="square" rtlCol="0" lIns="0" tIns="0" rIns="0" bIns="0" anchor="t"/>
          <a:lstStyle/>
          <a:p>
            <a:r>
              <a:rPr sz="1100" b="1">
                <a:solidFill>
                  <a:srgbClr val="2E7D8C"/>
                </a:solidFill>
              </a:rPr>
              <a:t>BUSINESS CASE · MODELE PRUDENT SUR 3 ANS</a:t>
            </a:r>
          </a:p>
        </p:txBody>
      </p:sp>
      <p:sp>
        <p:nvSpPr>
          <p:cNvPr id="4" name="TextBox 4">
            <a:extLst>
              <a:ext uri="{FF2B5EF4-FFF2-40B4-BE49-F238E27FC236}">
                <a16:creationId xmlns:a16="http://schemas.microsoft.com/office/drawing/2014/main" id="{2FBFA934-9153-4E22-906F-FCFB50DD2650}"/>
              </a:ext>
            </a:extLst>
          </p:cNvPr>
          <p:cNvSpPr txBox="1"/>
          <p:nvPr/>
        </p:nvSpPr>
        <p:spPr>
          <a:xfrm>
            <a:off x="571500" y="571500"/>
            <a:ext cx="11049000" cy="419100"/>
          </a:xfrm>
        </p:spPr>
        <p:txBody>
          <a:bodyPr wrap="square" rtlCol="0" lIns="0" tIns="0" rIns="0" bIns="0" anchor="t"/>
          <a:lstStyle/>
          <a:p>
            <a:r>
              <a:rPr sz="2100" b="1">
                <a:solidFill>
                  <a:srgbClr val="243B45"/>
                </a:solidFill>
              </a:rPr>
              <a:t>Le projet s'autofinance sur trois ans avec la seule productivité administrative</a:t>
            </a:r>
          </a:p>
        </p:txBody>
      </p:sp>
      <p:sp>
        <p:nvSpPr>
          <p:cNvPr id="5" name="TextBox 5">
            <a:extLst>
              <a:ext uri="{FF2B5EF4-FFF2-40B4-BE49-F238E27FC236}">
                <a16:creationId xmlns:a16="http://schemas.microsoft.com/office/drawing/2014/main" id="{91DDBED6-866C-4207-9DFC-C4BDD1240F84}"/>
              </a:ext>
            </a:extLst>
          </p:cNvPr>
          <p:cNvSpPr txBox="1"/>
          <p:nvPr/>
        </p:nvSpPr>
        <p:spPr>
          <a:xfrm>
            <a:off x="571500" y="1162050"/>
            <a:ext cx="3810000" cy="209550"/>
          </a:xfrm>
        </p:spPr>
        <p:txBody>
          <a:bodyPr wrap="square" rtlCol="0" lIns="0" tIns="0" rIns="0" bIns="0" anchor="t"/>
          <a:lstStyle/>
          <a:p>
            <a:r>
              <a:rPr sz="1150" b="1">
                <a:solidFill>
                  <a:srgbClr val="2E7D8C"/>
                </a:solidFill>
              </a:rPr>
              <a:t>FLUX NET ANNUEL — MILLIERS DT</a:t>
            </a:r>
          </a:p>
        </p:txBody>
      </p:sp>
      <p:sp>
        <p:nvSpPr>
          <p:cNvPr id="6" name="Shape 6">
            <a:extLst>
              <a:ext uri="{FF2B5EF4-FFF2-40B4-BE49-F238E27FC236}">
                <a16:creationId xmlns:a16="http://schemas.microsoft.com/office/drawing/2014/main" id="{6720AFE0-E7E8-4959-A90C-ACAD84EB95AE}"/>
              </a:ext>
            </a:extLst>
          </p:cNvPr>
          <p:cNvSpPr/>
          <p:nvPr/>
        </p:nvSpPr>
        <p:spPr>
          <a:xfrm>
            <a:off x="571500" y="3619500"/>
            <a:ext cx="5524500" cy="9525"/>
          </a:xfrm>
          <a:prstGeom prst="rect">
            <a:avLst/>
          </a:prstGeom>
          <a:solidFill>
            <a:srgbClr val="E4D9C3"/>
          </a:solidFill>
        </p:spPr>
        <p:txBody>
          <a:bodyPr wrap="square" rtlCol="0"/>
          <a:lstStyle/>
          <a:p>
            <a:r>
              <a:rPr/>
              <a:t/>
            </a:r>
          </a:p>
        </p:txBody>
      </p:sp>
      <p:sp>
        <p:nvSpPr>
          <p:cNvPr id="7" name="Shape 7">
            <a:extLst>
              <a:ext uri="{FF2B5EF4-FFF2-40B4-BE49-F238E27FC236}">
                <a16:creationId xmlns:a16="http://schemas.microsoft.com/office/drawing/2014/main" id="{89214127-6B56-4CF1-AA54-9E03D92DDCB0}"/>
              </a:ext>
            </a:extLst>
          </p:cNvPr>
          <p:cNvSpPr/>
          <p:nvPr/>
        </p:nvSpPr>
        <p:spPr>
          <a:xfrm>
            <a:off x="857250" y="3619500"/>
            <a:ext cx="857250" cy="933450"/>
          </a:xfrm>
          <a:prstGeom prst="rect">
            <a:avLst/>
          </a:prstGeom>
          <a:solidFill>
            <a:srgbClr val="1F4E5F"/>
          </a:solidFill>
        </p:spPr>
        <p:txBody>
          <a:bodyPr wrap="square" rtlCol="0"/>
          <a:lstStyle/>
          <a:p>
            <a:r>
              <a:rPr/>
              <a:t/>
            </a:r>
          </a:p>
        </p:txBody>
      </p:sp>
      <p:sp>
        <p:nvSpPr>
          <p:cNvPr id="8" name="Shape 8">
            <a:extLst>
              <a:ext uri="{FF2B5EF4-FFF2-40B4-BE49-F238E27FC236}">
                <a16:creationId xmlns:a16="http://schemas.microsoft.com/office/drawing/2014/main" id="{D8421666-2F35-4241-A1BE-28D9C5233CC3}"/>
              </a:ext>
            </a:extLst>
          </p:cNvPr>
          <p:cNvSpPr/>
          <p:nvPr/>
        </p:nvSpPr>
        <p:spPr>
          <a:xfrm>
            <a:off x="2190750" y="3467100"/>
            <a:ext cx="857250" cy="152400"/>
          </a:xfrm>
          <a:prstGeom prst="rect">
            <a:avLst/>
          </a:prstGeom>
          <a:solidFill>
            <a:srgbClr val="2E7D8C"/>
          </a:solidFill>
        </p:spPr>
        <p:txBody>
          <a:bodyPr wrap="square" rtlCol="0"/>
          <a:lstStyle/>
          <a:p>
            <a:r>
              <a:rPr/>
              <a:t/>
            </a:r>
          </a:p>
        </p:txBody>
      </p:sp>
      <p:sp>
        <p:nvSpPr>
          <p:cNvPr id="9" name="Shape 9">
            <a:extLst>
              <a:ext uri="{FF2B5EF4-FFF2-40B4-BE49-F238E27FC236}">
                <a16:creationId xmlns:a16="http://schemas.microsoft.com/office/drawing/2014/main" id="{7E2C7499-1FA3-4CF9-B154-6509CB8E645D}"/>
              </a:ext>
            </a:extLst>
          </p:cNvPr>
          <p:cNvSpPr/>
          <p:nvPr/>
        </p:nvSpPr>
        <p:spPr>
          <a:xfrm>
            <a:off x="3524250" y="3286125"/>
            <a:ext cx="857250" cy="333375"/>
          </a:xfrm>
          <a:prstGeom prst="rect">
            <a:avLst/>
          </a:prstGeom>
          <a:solidFill>
            <a:srgbClr val="2E7D8C"/>
          </a:solidFill>
        </p:spPr>
        <p:txBody>
          <a:bodyPr wrap="square" rtlCol="0"/>
          <a:lstStyle/>
          <a:p>
            <a:r>
              <a:rPr/>
              <a:t/>
            </a:r>
          </a:p>
        </p:txBody>
      </p:sp>
      <p:sp>
        <p:nvSpPr>
          <p:cNvPr id="10" name="Shape 10">
            <a:extLst>
              <a:ext uri="{FF2B5EF4-FFF2-40B4-BE49-F238E27FC236}">
                <a16:creationId xmlns:a16="http://schemas.microsoft.com/office/drawing/2014/main" id="{E101A74D-5023-4573-BBB6-A69D2B7335EF}"/>
              </a:ext>
            </a:extLst>
          </p:cNvPr>
          <p:cNvSpPr/>
          <p:nvPr/>
        </p:nvSpPr>
        <p:spPr>
          <a:xfrm>
            <a:off x="4857750" y="3228975"/>
            <a:ext cx="857250" cy="390525"/>
          </a:xfrm>
          <a:prstGeom prst="rect">
            <a:avLst/>
          </a:prstGeom>
          <a:solidFill>
            <a:srgbClr val="2E7D8C"/>
          </a:solidFill>
        </p:spPr>
        <p:txBody>
          <a:bodyPr wrap="square" rtlCol="0"/>
          <a:lstStyle/>
          <a:p>
            <a:r>
              <a:rPr/>
              <a:t/>
            </a:r>
          </a:p>
        </p:txBody>
      </p:sp>
      <p:sp>
        <p:nvSpPr>
          <p:cNvPr id="11" name="TextBox 11">
            <a:extLst>
              <a:ext uri="{FF2B5EF4-FFF2-40B4-BE49-F238E27FC236}">
                <a16:creationId xmlns:a16="http://schemas.microsoft.com/office/drawing/2014/main" id="{0AB45059-8904-4294-B650-B67468B9404A}"/>
              </a:ext>
            </a:extLst>
          </p:cNvPr>
          <p:cNvSpPr txBox="1"/>
          <p:nvPr/>
        </p:nvSpPr>
        <p:spPr>
          <a:xfrm>
            <a:off x="857250" y="4305300"/>
            <a:ext cx="857250" cy="209550"/>
          </a:xfrm>
        </p:spPr>
        <p:txBody>
          <a:bodyPr wrap="square" rtlCol="0" lIns="0" tIns="0" rIns="0" bIns="0" anchor="t"/>
          <a:lstStyle/>
          <a:p>
            <a:pPr algn="ctr"/>
            <a:r>
              <a:rPr sz="1100" b="1">
                <a:solidFill>
                  <a:srgbClr val="FFFFFF"/>
                </a:solidFill>
              </a:rPr>
              <a:t>− 610</a:t>
            </a:r>
          </a:p>
        </p:txBody>
      </p:sp>
      <p:sp>
        <p:nvSpPr>
          <p:cNvPr id="12" name="TextBox 12">
            <a:extLst>
              <a:ext uri="{FF2B5EF4-FFF2-40B4-BE49-F238E27FC236}">
                <a16:creationId xmlns:a16="http://schemas.microsoft.com/office/drawing/2014/main" id="{2661090F-15D6-4EE8-A5C3-C22C4422CE1A}"/>
              </a:ext>
            </a:extLst>
          </p:cNvPr>
          <p:cNvSpPr txBox="1"/>
          <p:nvPr/>
        </p:nvSpPr>
        <p:spPr>
          <a:xfrm>
            <a:off x="2190750" y="3219450"/>
            <a:ext cx="857250" cy="209550"/>
          </a:xfrm>
        </p:spPr>
        <p:txBody>
          <a:bodyPr wrap="square" rtlCol="0" lIns="0" tIns="0" rIns="0" bIns="0" anchor="t"/>
          <a:lstStyle/>
          <a:p>
            <a:pPr algn="ctr"/>
            <a:r>
              <a:rPr sz="1100" b="1">
                <a:solidFill>
                  <a:srgbClr val="2F7D57"/>
                </a:solidFill>
              </a:rPr>
              <a:t>+ 99</a:t>
            </a:r>
          </a:p>
        </p:txBody>
      </p:sp>
      <p:sp>
        <p:nvSpPr>
          <p:cNvPr id="13" name="TextBox 13">
            <a:extLst>
              <a:ext uri="{FF2B5EF4-FFF2-40B4-BE49-F238E27FC236}">
                <a16:creationId xmlns:a16="http://schemas.microsoft.com/office/drawing/2014/main" id="{3FC37314-15F1-4BA8-816C-33E4C9EC8610}"/>
              </a:ext>
            </a:extLst>
          </p:cNvPr>
          <p:cNvSpPr txBox="1"/>
          <p:nvPr/>
        </p:nvSpPr>
        <p:spPr>
          <a:xfrm>
            <a:off x="3524250" y="3038475"/>
            <a:ext cx="857250" cy="209550"/>
          </a:xfrm>
        </p:spPr>
        <p:txBody>
          <a:bodyPr wrap="square" rtlCol="0" lIns="0" tIns="0" rIns="0" bIns="0" anchor="t"/>
          <a:lstStyle/>
          <a:p>
            <a:pPr algn="ctr"/>
            <a:r>
              <a:rPr sz="1100" b="1">
                <a:solidFill>
                  <a:srgbClr val="2F7D57"/>
                </a:solidFill>
              </a:rPr>
              <a:t>+ 216</a:t>
            </a:r>
          </a:p>
        </p:txBody>
      </p:sp>
      <p:sp>
        <p:nvSpPr>
          <p:cNvPr id="14" name="TextBox 14">
            <a:extLst>
              <a:ext uri="{FF2B5EF4-FFF2-40B4-BE49-F238E27FC236}">
                <a16:creationId xmlns:a16="http://schemas.microsoft.com/office/drawing/2014/main" id="{BE6D6E52-F156-4C32-B274-781987ED8991}"/>
              </a:ext>
            </a:extLst>
          </p:cNvPr>
          <p:cNvSpPr txBox="1"/>
          <p:nvPr/>
        </p:nvSpPr>
        <p:spPr>
          <a:xfrm>
            <a:off x="4857750" y="2981325"/>
            <a:ext cx="857250" cy="209550"/>
          </a:xfrm>
        </p:spPr>
        <p:txBody>
          <a:bodyPr wrap="square" rtlCol="0" lIns="0" tIns="0" rIns="0" bIns="0" anchor="t"/>
          <a:lstStyle/>
          <a:p>
            <a:pPr algn="ctr"/>
            <a:r>
              <a:rPr sz="1100" b="1">
                <a:solidFill>
                  <a:srgbClr val="2F7D57"/>
                </a:solidFill>
              </a:rPr>
              <a:t>+ 255</a:t>
            </a:r>
          </a:p>
        </p:txBody>
      </p:sp>
      <p:sp>
        <p:nvSpPr>
          <p:cNvPr id="15" name="TextBox 15">
            <a:extLst>
              <a:ext uri="{FF2B5EF4-FFF2-40B4-BE49-F238E27FC236}">
                <a16:creationId xmlns:a16="http://schemas.microsoft.com/office/drawing/2014/main" id="{6D638225-EDF6-489A-A62C-07DB519356E1}"/>
              </a:ext>
            </a:extLst>
          </p:cNvPr>
          <p:cNvSpPr txBox="1"/>
          <p:nvPr/>
        </p:nvSpPr>
        <p:spPr>
          <a:xfrm>
            <a:off x="857250" y="4038600"/>
            <a:ext cx="857250" cy="304800"/>
          </a:xfrm>
        </p:spPr>
        <p:txBody>
          <a:bodyPr wrap="square" rtlCol="0" lIns="0" tIns="0" rIns="0" bIns="0" anchor="t"/>
          <a:lstStyle/>
          <a:p>
            <a:pPr algn="ctr"/>
            <a:r>
              <a:rPr sz="1050" b="1">
                <a:solidFill>
                  <a:srgbClr val="243B45"/>
                </a:solidFill>
              </a:rPr>
              <a:t>An 0</a:t>
            </a:r>
          </a:p>
          <a:p>
            <a:pPr algn="ctr"/>
            <a:r>
              <a:rPr sz="950">
                <a:solidFill>
                  <a:srgbClr val="6B7C82"/>
                </a:solidFill>
              </a:rPr>
              <a:t>investissement</a:t>
            </a:r>
          </a:p>
        </p:txBody>
      </p:sp>
      <p:sp>
        <p:nvSpPr>
          <p:cNvPr id="16" name="TextBox 16">
            <a:extLst>
              <a:ext uri="{FF2B5EF4-FFF2-40B4-BE49-F238E27FC236}">
                <a16:creationId xmlns:a16="http://schemas.microsoft.com/office/drawing/2014/main" id="{C26AF937-360E-4542-8F60-5CA2348BB6A5}"/>
              </a:ext>
            </a:extLst>
          </p:cNvPr>
          <p:cNvSpPr txBox="1"/>
          <p:nvPr/>
        </p:nvSpPr>
        <p:spPr>
          <a:xfrm>
            <a:off x="2190750" y="3676650"/>
            <a:ext cx="857250" cy="304800"/>
          </a:xfrm>
        </p:spPr>
        <p:txBody>
          <a:bodyPr wrap="square" rtlCol="0" lIns="0" tIns="0" rIns="0" bIns="0" anchor="t"/>
          <a:lstStyle/>
          <a:p>
            <a:pPr algn="ctr"/>
            <a:r>
              <a:rPr sz="1050" b="1">
                <a:solidFill>
                  <a:srgbClr val="243B45"/>
                </a:solidFill>
              </a:rPr>
              <a:t>An 1</a:t>
            </a:r>
          </a:p>
          <a:p>
            <a:pPr algn="ctr"/>
            <a:r>
              <a:rPr sz="950">
                <a:solidFill>
                  <a:srgbClr val="6B7C82"/>
                </a:solidFill>
              </a:rPr>
              <a:t>gains 60 %</a:t>
            </a:r>
          </a:p>
        </p:txBody>
      </p:sp>
      <p:sp>
        <p:nvSpPr>
          <p:cNvPr id="17" name="TextBox 17">
            <a:extLst>
              <a:ext uri="{FF2B5EF4-FFF2-40B4-BE49-F238E27FC236}">
                <a16:creationId xmlns:a16="http://schemas.microsoft.com/office/drawing/2014/main" id="{4819792D-9C08-44EB-910A-0A92E3BE4566}"/>
              </a:ext>
            </a:extLst>
          </p:cNvPr>
          <p:cNvSpPr txBox="1"/>
          <p:nvPr/>
        </p:nvSpPr>
        <p:spPr>
          <a:xfrm>
            <a:off x="3524250" y="3676650"/>
            <a:ext cx="857250" cy="304800"/>
          </a:xfrm>
        </p:spPr>
        <p:txBody>
          <a:bodyPr wrap="square" rtlCol="0" lIns="0" tIns="0" rIns="0" bIns="0" anchor="t"/>
          <a:lstStyle/>
          <a:p>
            <a:pPr algn="ctr"/>
            <a:r>
              <a:rPr sz="1050" b="1">
                <a:solidFill>
                  <a:srgbClr val="243B45"/>
                </a:solidFill>
              </a:rPr>
              <a:t>An 2</a:t>
            </a:r>
          </a:p>
          <a:p>
            <a:pPr algn="ctr"/>
            <a:r>
              <a:rPr sz="950">
                <a:solidFill>
                  <a:srgbClr val="6B7C82"/>
                </a:solidFill>
              </a:rPr>
              <a:t>gains 90 %</a:t>
            </a:r>
          </a:p>
        </p:txBody>
      </p:sp>
      <p:sp>
        <p:nvSpPr>
          <p:cNvPr id="18" name="TextBox 18">
            <a:extLst>
              <a:ext uri="{FF2B5EF4-FFF2-40B4-BE49-F238E27FC236}">
                <a16:creationId xmlns:a16="http://schemas.microsoft.com/office/drawing/2014/main" id="{695033E0-11B9-47E9-A14E-162F9709E757}"/>
              </a:ext>
            </a:extLst>
          </p:cNvPr>
          <p:cNvSpPr txBox="1"/>
          <p:nvPr/>
        </p:nvSpPr>
        <p:spPr>
          <a:xfrm>
            <a:off x="4857750" y="3676650"/>
            <a:ext cx="857250" cy="304800"/>
          </a:xfrm>
        </p:spPr>
        <p:txBody>
          <a:bodyPr wrap="square" rtlCol="0" lIns="0" tIns="0" rIns="0" bIns="0" anchor="t"/>
          <a:lstStyle/>
          <a:p>
            <a:pPr algn="ctr"/>
            <a:r>
              <a:rPr sz="1050" b="1">
                <a:solidFill>
                  <a:srgbClr val="243B45"/>
                </a:solidFill>
              </a:rPr>
              <a:t>An 3</a:t>
            </a:r>
          </a:p>
          <a:p>
            <a:pPr algn="ctr"/>
            <a:r>
              <a:rPr sz="950">
                <a:solidFill>
                  <a:srgbClr val="6B7C82"/>
                </a:solidFill>
              </a:rPr>
              <a:t>gains 100 %</a:t>
            </a:r>
          </a:p>
        </p:txBody>
      </p:sp>
      <p:sp>
        <p:nvSpPr>
          <p:cNvPr id="19" name="TextBox 19">
            <a:extLst>
              <a:ext uri="{FF2B5EF4-FFF2-40B4-BE49-F238E27FC236}">
                <a16:creationId xmlns:a16="http://schemas.microsoft.com/office/drawing/2014/main" id="{181E3A77-6BA7-4BC7-92B9-5682CFCBE86C}"/>
              </a:ext>
            </a:extLst>
          </p:cNvPr>
          <p:cNvSpPr txBox="1"/>
          <p:nvPr/>
        </p:nvSpPr>
        <p:spPr>
          <a:xfrm>
            <a:off x="571500" y="4953000"/>
            <a:ext cx="5334000" cy="606755"/>
          </a:xfrm>
        </p:spPr>
        <p:txBody>
          <a:bodyPr wrap="square" rtlCol="0" lIns="0" tIns="0" rIns="0" bIns="0" anchor="t"/>
          <a:lstStyle/>
          <a:p>
            <a:pPr>
              <a:lnSpc>
                <a:spcPct val="114000"/>
              </a:lnSpc>
              <a:spcAft>
                <a:spcPts val="400"/>
              </a:spcAft>
            </a:pPr>
            <a:r>
              <a:rPr sz="1100" b="1">
                <a:solidFill>
                  <a:srgbClr val="243B45"/>
                </a:solidFill>
              </a:rPr>
              <a:t>Flux cumulé : − 610 · − 511 · − 295 · − 40</a:t>
            </a:r>
          </a:p>
          <a:p>
            <a:pPr>
              <a:lnSpc>
                <a:spcPct val="114000"/>
              </a:lnSpc>
            </a:pPr>
            <a:r>
              <a:rPr sz="1050">
                <a:solidFill>
                  <a:srgbClr val="6B7C82"/>
                </a:solidFill>
              </a:rPr>
              <a:t>Montée en charge volontairement prudente : le canal en ligne ne se remplit pas du jour au lendemain (risque R1 du BRD) — d'où 60 / 90 / 100 % de gains réalisés sur les trois ans.</a:t>
            </a:r>
          </a:p>
        </p:txBody>
      </p:sp>
      <p:sp>
        <p:nvSpPr>
          <p:cNvPr id="20" name="TextBox 20">
            <a:extLst>
              <a:ext uri="{FF2B5EF4-FFF2-40B4-BE49-F238E27FC236}">
                <a16:creationId xmlns:a16="http://schemas.microsoft.com/office/drawing/2014/main" id="{D990F739-1F4A-464E-9727-1199E5684414}"/>
              </a:ext>
            </a:extLst>
          </p:cNvPr>
          <p:cNvSpPr txBox="1"/>
          <p:nvPr/>
        </p:nvSpPr>
        <p:spPr>
          <a:xfrm>
            <a:off x="6286500" y="1162050"/>
            <a:ext cx="3810000" cy="209550"/>
          </a:xfrm>
        </p:spPr>
        <p:txBody>
          <a:bodyPr wrap="square" rtlCol="0" lIns="0" tIns="0" rIns="0" bIns="0" anchor="t"/>
          <a:lstStyle/>
          <a:p>
            <a:r>
              <a:rPr sz="1100" b="1">
                <a:solidFill>
                  <a:srgbClr val="2E7D8C"/>
                </a:solidFill>
              </a:rPr>
              <a:t>MODELE SUR 3 ANS — MILLIERS DT</a:t>
            </a:r>
          </a:p>
        </p:txBody>
      </p:sp>
      <p:sp>
        <p:nvSpPr>
          <p:cNvPr id="21" name="TextBox 21">
            <a:extLst>
              <a:ext uri="{FF2B5EF4-FFF2-40B4-BE49-F238E27FC236}">
                <a16:creationId xmlns:a16="http://schemas.microsoft.com/office/drawing/2014/main" id="{3205008C-6702-4FB6-B3D2-4C382E88AEB1}"/>
              </a:ext>
            </a:extLst>
          </p:cNvPr>
          <p:cNvSpPr txBox="1"/>
          <p:nvPr/>
        </p:nvSpPr>
        <p:spPr>
          <a:xfrm>
            <a:off x="6286500" y="3143250"/>
            <a:ext cx="5334000" cy="209550"/>
          </a:xfrm>
        </p:spPr>
        <p:txBody>
          <a:bodyPr wrap="square" rtlCol="0" lIns="0" tIns="0" rIns="0" bIns="0" anchor="t"/>
          <a:lstStyle/>
          <a:p>
            <a:r>
              <a:rPr sz="1100" b="1">
                <a:solidFill>
                  <a:srgbClr val="2E7D8C"/>
                </a:solidFill>
              </a:rPr>
              <a:t>SENSIBILITE — GAINS ANNUELS A PLEINE VITESSE</a:t>
            </a:r>
          </a:p>
        </p:txBody>
      </p:sp>
      <p:sp>
        <p:nvSpPr>
          <p:cNvPr id="22" name="Shape 22">
            <a:extLst>
              <a:ext uri="{FF2B5EF4-FFF2-40B4-BE49-F238E27FC236}">
                <a16:creationId xmlns:a16="http://schemas.microsoft.com/office/drawing/2014/main" id="{59F15C18-7502-4879-A3D8-E3EAAC0DF24B}"/>
              </a:ext>
            </a:extLst>
          </p:cNvPr>
          <p:cNvSpPr/>
          <p:nvPr/>
        </p:nvSpPr>
        <p:spPr>
          <a:xfrm>
            <a:off x="6286500" y="3371850"/>
            <a:ext cx="5334000" cy="876300"/>
          </a:xfrm>
          <a:prstGeom prst="rect">
            <a:avLst/>
          </a:prstGeom>
          <a:solidFill>
            <a:srgbClr val="F7F2E7"/>
          </a:solidFill>
        </p:spPr>
        <p:txBody>
          <a:bodyPr wrap="square" rtlCol="0"/>
          <a:lstStyle/>
          <a:p>
            <a:r>
              <a:rPr/>
              <a:t/>
            </a:r>
          </a:p>
        </p:txBody>
      </p:sp>
      <p:sp>
        <p:nvSpPr>
          <p:cNvPr id="23" name="TextBox 23">
            <a:extLst>
              <a:ext uri="{FF2B5EF4-FFF2-40B4-BE49-F238E27FC236}">
                <a16:creationId xmlns:a16="http://schemas.microsoft.com/office/drawing/2014/main" id="{A9131036-26AD-4C10-8D6E-A68AB3F31A5C}"/>
              </a:ext>
            </a:extLst>
          </p:cNvPr>
          <p:cNvSpPr txBox="1"/>
          <p:nvPr/>
        </p:nvSpPr>
        <p:spPr>
          <a:xfrm>
            <a:off x="6429375" y="3448050"/>
            <a:ext cx="5048250" cy="818693"/>
          </a:xfrm>
        </p:spPr>
        <p:txBody>
          <a:bodyPr wrap="square" rtlCol="0" lIns="0" tIns="0" rIns="0" bIns="0" anchor="t"/>
          <a:lstStyle/>
          <a:p>
            <a:pPr>
              <a:lnSpc>
                <a:spcPct val="116000"/>
              </a:lnSpc>
              <a:spcAft>
                <a:spcPts val="300"/>
              </a:spcAft>
            </a:pPr>
            <a:r>
              <a:rPr sz="1050" b="1">
                <a:solidFill>
                  <a:srgbClr val="243B45"/>
                </a:solidFill>
              </a:rPr>
              <a:t>Coût horaire interne : </a:t>
            </a:r>
            <a:r>
              <a:rPr sz="1050">
                <a:solidFill>
                  <a:srgbClr val="6B7C82"/>
                </a:solidFill>
              </a:rPr>
              <a:t>18 DT/h → 281 k · 25 DT/h retenu → 390 k · 32 DT/h → 499 k</a:t>
            </a:r>
          </a:p>
          <a:p>
            <a:pPr>
              <a:lnSpc>
                <a:spcPct val="116000"/>
              </a:lnSpc>
              <a:spcAft>
                <a:spcPts val="300"/>
              </a:spcAft>
            </a:pPr>
            <a:r>
              <a:rPr sz="1050" b="1">
                <a:solidFill>
                  <a:srgbClr val="243B45"/>
                </a:solidFill>
              </a:rPr>
              <a:t>Taux de récupération : </a:t>
            </a:r>
            <a:r>
              <a:rPr sz="1050">
                <a:solidFill>
                  <a:srgbClr val="6B7C82"/>
                </a:solidFill>
              </a:rPr>
              <a:t>60 % → 234 k · ~78 % retenu → 390 k · 90 % → 450 k</a:t>
            </a:r>
          </a:p>
          <a:p>
            <a:pPr>
              <a:lnSpc>
                <a:spcPct val="116000"/>
              </a:lnSpc>
            </a:pPr>
            <a:r>
              <a:rPr sz="1050" b="1">
                <a:solidFill>
                  <a:srgbClr val="243B45"/>
                </a:solidFill>
              </a:rPr>
              <a:t>Adoption du canal : </a:t>
            </a:r>
            <a:r>
              <a:rPr sz="1050">
                <a:solidFill>
                  <a:srgbClr val="6B7C82"/>
                </a:solidFill>
              </a:rPr>
              <a:t>année 1 à 40 / 60 / 80 % — le dépôt assisté récupère les gains même sans bascule</a:t>
            </a:r>
          </a:p>
        </p:txBody>
      </p:sp>
      <p:sp>
        <p:nvSpPr>
          <p:cNvPr id="24" name="Shape 24">
            <a:extLst>
              <a:ext uri="{FF2B5EF4-FFF2-40B4-BE49-F238E27FC236}">
                <a16:creationId xmlns:a16="http://schemas.microsoft.com/office/drawing/2014/main" id="{1C90D14E-779A-4B9C-B6BE-6C3791DECF97}"/>
              </a:ext>
            </a:extLst>
          </p:cNvPr>
          <p:cNvSpPr/>
          <p:nvPr/>
        </p:nvSpPr>
        <p:spPr>
          <a:xfrm>
            <a:off x="6286500" y="4343400"/>
            <a:ext cx="5334000" cy="914400"/>
          </a:xfrm>
          <a:prstGeom prst="roundRect">
            <a:avLst/>
          </a:prstGeom>
          <a:solidFill>
            <a:srgbClr val="EAF3F5"/>
          </a:solidFill>
        </p:spPr>
        <p:txBody>
          <a:bodyPr wrap="square" rtlCol="0"/>
          <a:lstStyle/>
          <a:p>
            <a:r>
              <a:rPr/>
              <a:t/>
            </a:r>
          </a:p>
        </p:txBody>
      </p:sp>
      <p:sp>
        <p:nvSpPr>
          <p:cNvPr id="25" name="TextBox 25">
            <a:extLst>
              <a:ext uri="{FF2B5EF4-FFF2-40B4-BE49-F238E27FC236}">
                <a16:creationId xmlns:a16="http://schemas.microsoft.com/office/drawing/2014/main" id="{ED6855B9-E079-47A9-9EA4-CC28D3149CC0}"/>
              </a:ext>
            </a:extLst>
          </p:cNvPr>
          <p:cNvSpPr txBox="1"/>
          <p:nvPr/>
        </p:nvSpPr>
        <p:spPr>
          <a:xfrm>
            <a:off x="6438900" y="4438650"/>
            <a:ext cx="5029200" cy="762000"/>
          </a:xfrm>
        </p:spPr>
        <p:txBody>
          <a:bodyPr wrap="square" rtlCol="0" lIns="0" tIns="0" rIns="0" bIns="0" anchor="t"/>
          <a:lstStyle/>
          <a:p>
            <a:pPr>
              <a:lnSpc>
                <a:spcPct val="114000"/>
              </a:lnSpc>
              <a:spcAft>
                <a:spcPts val="400"/>
              </a:spcAft>
            </a:pPr>
            <a:r>
              <a:rPr sz="1100" b="1">
                <a:solidFill>
                  <a:srgbClr val="1F4E5F"/>
                </a:solidFill>
              </a:rPr>
              <a:t>Payback : ≈ 3 ans sur la productivité seule</a:t>
            </a:r>
          </a:p>
          <a:p>
            <a:pPr>
              <a:lnSpc>
                <a:spcPct val="114000"/>
              </a:lnSpc>
            </a:pPr>
            <a:r>
              <a:rPr sz="1050">
                <a:solidFill>
                  <a:srgbClr val="243B45"/>
                </a:solidFill>
              </a:rPr>
              <a:t>≈ 18–24 mois dès qu'on valorise un contentieux de décision non justifiable évité (D7) ou la reprise de capacité commerciale. Gains réels, volontairement laissés hors du chiffrage.</a:t>
            </a:r>
          </a:p>
        </p:txBody>
      </p:sp>
      <p:sp>
        <p:nvSpPr>
          <p:cNvPr id="26" name="Shape 26">
            <a:extLst>
              <a:ext uri="{FF2B5EF4-FFF2-40B4-BE49-F238E27FC236}">
                <a16:creationId xmlns:a16="http://schemas.microsoft.com/office/drawing/2014/main" id="{0F7FD8EE-039C-4CAA-B850-823335011939}"/>
              </a:ext>
            </a:extLst>
          </p:cNvPr>
          <p:cNvSpPr/>
          <p:nvPr/>
        </p:nvSpPr>
        <p:spPr>
          <a:xfrm>
            <a:off x="571500" y="5695950"/>
            <a:ext cx="11049000" cy="438150"/>
          </a:xfrm>
          <a:prstGeom prst="roundRect">
            <a:avLst/>
          </a:prstGeom>
          <a:solidFill>
            <a:srgbClr val="F7F2E7"/>
          </a:solidFill>
        </p:spPr>
        <p:txBody>
          <a:bodyPr wrap="square" rtlCol="0"/>
          <a:lstStyle/>
          <a:p>
            <a:r>
              <a:rPr/>
              <a:t/>
            </a:r>
          </a:p>
        </p:txBody>
      </p:sp>
      <p:sp>
        <p:nvSpPr>
          <p:cNvPr id="27" name="TextBox 27">
            <a:extLst>
              <a:ext uri="{FF2B5EF4-FFF2-40B4-BE49-F238E27FC236}">
                <a16:creationId xmlns:a16="http://schemas.microsoft.com/office/drawing/2014/main" id="{E4146EED-9188-48BF-AF4D-5C41C73E23D0}"/>
              </a:ext>
            </a:extLst>
          </p:cNvPr>
          <p:cNvSpPr txBox="1"/>
          <p:nvPr/>
        </p:nvSpPr>
        <p:spPr>
          <a:xfrm>
            <a:off x="742950" y="5772150"/>
            <a:ext cx="10668000" cy="323850"/>
          </a:xfrm>
        </p:spPr>
        <p:txBody>
          <a:bodyPr wrap="square" rtlCol="0" lIns="0" tIns="0" rIns="0" bIns="0" anchor="t"/>
          <a:lstStyle/>
          <a:p>
            <a:pPr>
              <a:lnSpc>
                <a:spcPct val="112000"/>
              </a:lnSpc>
            </a:pPr>
            <a:r>
              <a:rPr sz="1100" b="1">
                <a:solidFill>
                  <a:srgbClr val="1F4E5F"/>
                </a:solidFill>
              </a:rPr>
              <a:t>Lecture honnête : </a:t>
            </a:r>
            <a:r>
              <a:rPr sz="1050">
                <a:solidFill>
                  <a:srgbClr val="243B45"/>
                </a:solidFill>
              </a:rPr>
              <a:t>défendable, pas spectaculaire sur le seul administratif. La valeur est stratégique et défensive : conformité (D7), qualité d'analyse (D6), délai client 12 → 5 jours.</a:t>
            </a:r>
          </a:p>
        </p:txBody>
      </p:sp>
      <p:sp>
        <p:nvSpPr>
          <p:cNvPr id="28" name="TextBox 28">
            <a:extLst>
              <a:ext uri="{FF2B5EF4-FFF2-40B4-BE49-F238E27FC236}">
                <a16:creationId xmlns:a16="http://schemas.microsoft.com/office/drawing/2014/main" id="{A563689E-0BDB-4C34-81E6-F5875C0C217A}"/>
              </a:ext>
            </a:extLst>
          </p:cNvPr>
          <p:cNvSpPr txBox="1"/>
          <p:nvPr/>
        </p:nvSpPr>
        <p:spPr>
          <a:xfrm>
            <a:off x="571500" y="6362700"/>
            <a:ext cx="10477500" cy="190500"/>
          </a:xfrm>
        </p:spPr>
        <p:txBody>
          <a:bodyPr wrap="square" rtlCol="0" lIns="0" tIns="0" rIns="0" bIns="0" anchor="t"/>
          <a:lstStyle/>
          <a:p>
            <a:r>
              <a:rPr sz="1000" i="1">
                <a:solidFill>
                  <a:srgbClr val="9AA6AC"/>
                </a:solidFill>
              </a:rPr>
              <a:t>Sources : business case (20 nov. 2026) §2–§6 · volume de référence BRD §8 (16 nov. 2026). Hypothèses documentées, pas des données financières réelles.</a:t>
            </a:r>
          </a:p>
        </p:txBody>
      </p:sp>
      <p:sp>
        <p:nvSpPr>
          <p:cNvPr id="29" name="TextBox 29">
            <a:extLst>
              <a:ext uri="{FF2B5EF4-FFF2-40B4-BE49-F238E27FC236}">
                <a16:creationId xmlns:a16="http://schemas.microsoft.com/office/drawing/2014/main" id="{7E45FCA1-FA32-476D-8EE0-E21911CE25F6}"/>
              </a:ext>
            </a:extLst>
          </p:cNvPr>
          <p:cNvSpPr txBox="1"/>
          <p:nvPr/>
        </p:nvSpPr>
        <p:spPr>
          <a:xfrm>
            <a:off x="11239500" y="6362700"/>
            <a:ext cx="381000" cy="190500"/>
          </a:xfrm>
        </p:spPr>
        <p:txBody>
          <a:bodyPr wrap="square" rtlCol="0" lIns="0" tIns="0" rIns="0" bIns="0" anchor="t"/>
          <a:lstStyle/>
          <a:p>
            <a:pPr algn="r"/>
            <a:r>
              <a:rPr sz="1000">
                <a:solidFill>
                  <a:srgbClr val="9AA6AC"/>
                </a:solidFill>
              </a:rPr>
              <a:t>09</a:t>
            </a:r>
          </a:p>
        </p:txBody>
      </p:sp>
      <p:graphicFrame>
        <p:nvGraphicFramePr>
          <p:cNvPr id="30" name="Table 30">
            <a:extLst>
              <a:ext uri="{FF2B5EF4-FFF2-40B4-BE49-F238E27FC236}">
                <a16:creationId xmlns:a16="http://schemas.microsoft.com/office/drawing/2014/main" id="{ABD66933-5D91-4771-9FC7-66E5060FDEA9}"/>
              </a:ext>
            </a:extLst>
          </p:cNvPr>
          <p:cNvGraphicFramePr>
            <a:graphicFrameLocks noGrp="1"/>
          </p:cNvGraphicFramePr>
          <p:nvPr/>
        </p:nvGraphicFramePr>
        <p:xfrm>
          <a:off x="6286500" y="1428750"/>
          <a:ext cx="5334000" cy="1371600"/>
        </p:xfrm>
        <a:graphic>
          <a:graphicData uri="http://schemas.openxmlformats.org/drawingml/2006/table">
            <a:tbl>
              <a:tblPr>
                <a:tableStyleId>{5C22544A-7EE6-4342-B048-85BDC9FD1C3A}</a:tableStyleId>
              </a:tblPr>
              <a:tblGrid>
                <a:gridCol w="1905000"/>
                <a:gridCol w="857250"/>
                <a:gridCol w="857250"/>
                <a:gridCol w="857250"/>
                <a:gridCol w="857250"/>
              </a:tblGrid>
              <a:tr h="228600">
                <a:tc>
                  <a:txBody>
                    <a:bodyPr/>
                    <a:lstStyle/>
                    <a:p>
                      <a:pPr algn="l"/>
                      <a:r>
                        <a:rPr sz="900" b="1">
                          <a:solidFill>
                            <a:srgbClr val="FFFFFF"/>
                          </a:solidFill>
                        </a:rPr>
                        <a:t>Milliers DT</a:t>
                      </a:r>
                    </a:p>
                  </a:txBody>
                  <a:tcPr>
                    <a:lnL w="9525">
                      <a:solidFill>
                        <a:srgbClr val="E4D9C3"/>
                      </a:solidFill>
                    </a:lnL>
                    <a:lnR w="9525">
                      <a:solidFill>
                        <a:srgbClr val="E4D9C3"/>
                      </a:solidFill>
                    </a:lnR>
                    <a:lnT w="9525">
                      <a:solidFill>
                        <a:srgbClr val="E4D9C3"/>
                      </a:solidFill>
                    </a:lnT>
                    <a:lnB w="9525">
                      <a:solidFill>
                        <a:srgbClr val="E4D9C3"/>
                      </a:solidFill>
                    </a:lnB>
                    <a:solidFill>
                      <a:srgbClr val="1F4E5F"/>
                    </a:solidFill>
                  </a:tcPr>
                </a:tc>
                <a:tc>
                  <a:txBody>
                    <a:bodyPr/>
                    <a:lstStyle/>
                    <a:p>
                      <a:pPr algn="ctr"/>
                      <a:r>
                        <a:rPr sz="900" b="1">
                          <a:solidFill>
                            <a:srgbClr val="FFFFFF"/>
                          </a:solidFill>
                        </a:rPr>
                        <a:t>An 0</a:t>
                      </a:r>
                    </a:p>
                  </a:txBody>
                  <a:tcPr>
                    <a:lnL w="9525">
                      <a:solidFill>
                        <a:srgbClr val="E4D9C3"/>
                      </a:solidFill>
                    </a:lnL>
                    <a:lnR w="9525">
                      <a:solidFill>
                        <a:srgbClr val="E4D9C3"/>
                      </a:solidFill>
                    </a:lnR>
                    <a:lnT w="9525">
                      <a:solidFill>
                        <a:srgbClr val="E4D9C3"/>
                      </a:solidFill>
                    </a:lnT>
                    <a:lnB w="9525">
                      <a:solidFill>
                        <a:srgbClr val="E4D9C3"/>
                      </a:solidFill>
                    </a:lnB>
                    <a:solidFill>
                      <a:srgbClr val="1F4E5F"/>
                    </a:solidFill>
                  </a:tcPr>
                </a:tc>
                <a:tc>
                  <a:txBody>
                    <a:bodyPr/>
                    <a:lstStyle/>
                    <a:p>
                      <a:pPr algn="ctr"/>
                      <a:r>
                        <a:rPr sz="900" b="1">
                          <a:solidFill>
                            <a:srgbClr val="FFFFFF"/>
                          </a:solidFill>
                        </a:rPr>
                        <a:t>An 1</a:t>
                      </a:r>
                    </a:p>
                  </a:txBody>
                  <a:tcPr>
                    <a:lnL w="9525">
                      <a:solidFill>
                        <a:srgbClr val="E4D9C3"/>
                      </a:solidFill>
                    </a:lnL>
                    <a:lnR w="9525">
                      <a:solidFill>
                        <a:srgbClr val="E4D9C3"/>
                      </a:solidFill>
                    </a:lnR>
                    <a:lnT w="9525">
                      <a:solidFill>
                        <a:srgbClr val="E4D9C3"/>
                      </a:solidFill>
                    </a:lnT>
                    <a:lnB w="9525">
                      <a:solidFill>
                        <a:srgbClr val="E4D9C3"/>
                      </a:solidFill>
                    </a:lnB>
                    <a:solidFill>
                      <a:srgbClr val="1F4E5F"/>
                    </a:solidFill>
                  </a:tcPr>
                </a:tc>
                <a:tc>
                  <a:txBody>
                    <a:bodyPr/>
                    <a:lstStyle/>
                    <a:p>
                      <a:pPr algn="ctr"/>
                      <a:r>
                        <a:rPr sz="900" b="1">
                          <a:solidFill>
                            <a:srgbClr val="FFFFFF"/>
                          </a:solidFill>
                        </a:rPr>
                        <a:t>An 2</a:t>
                      </a:r>
                    </a:p>
                  </a:txBody>
                  <a:tcPr>
                    <a:lnL w="9525">
                      <a:solidFill>
                        <a:srgbClr val="E4D9C3"/>
                      </a:solidFill>
                    </a:lnL>
                    <a:lnR w="9525">
                      <a:solidFill>
                        <a:srgbClr val="E4D9C3"/>
                      </a:solidFill>
                    </a:lnR>
                    <a:lnT w="9525">
                      <a:solidFill>
                        <a:srgbClr val="E4D9C3"/>
                      </a:solidFill>
                    </a:lnT>
                    <a:lnB w="9525">
                      <a:solidFill>
                        <a:srgbClr val="E4D9C3"/>
                      </a:solidFill>
                    </a:lnB>
                    <a:solidFill>
                      <a:srgbClr val="1F4E5F"/>
                    </a:solidFill>
                  </a:tcPr>
                </a:tc>
                <a:tc>
                  <a:txBody>
                    <a:bodyPr/>
                    <a:lstStyle/>
                    <a:p>
                      <a:pPr algn="ctr"/>
                      <a:r>
                        <a:rPr sz="900" b="1">
                          <a:solidFill>
                            <a:srgbClr val="FFFFFF"/>
                          </a:solidFill>
                        </a:rPr>
                        <a:t>An 3</a:t>
                      </a:r>
                    </a:p>
                  </a:txBody>
                  <a:tcPr>
                    <a:lnL w="9525">
                      <a:solidFill>
                        <a:srgbClr val="E4D9C3"/>
                      </a:solidFill>
                    </a:lnL>
                    <a:lnR w="9525">
                      <a:solidFill>
                        <a:srgbClr val="E4D9C3"/>
                      </a:solidFill>
                    </a:lnR>
                    <a:lnT w="9525">
                      <a:solidFill>
                        <a:srgbClr val="E4D9C3"/>
                      </a:solidFill>
                    </a:lnT>
                    <a:lnB w="9525">
                      <a:solidFill>
                        <a:srgbClr val="E4D9C3"/>
                      </a:solidFill>
                    </a:lnB>
                    <a:solidFill>
                      <a:srgbClr val="1F4E5F"/>
                    </a:solidFill>
                  </a:tcPr>
                </a:tc>
              </a:tr>
              <a:tr h="228600">
                <a:tc>
                  <a:txBody>
                    <a:bodyPr/>
                    <a:lstStyle/>
                    <a:p>
                      <a:r>
                        <a:rPr sz="900">
                          <a:solidFill>
                            <a:srgbClr val="243B45"/>
                          </a:solidFill>
                        </a:rPr>
                        <a:t>Investissement</a:t>
                      </a:r>
                    </a:p>
                  </a:txBody>
                  <a:tcPr>
                    <a:lnL w="9525">
                      <a:solidFill>
                        <a:srgbClr val="E4D9C3"/>
                      </a:solidFill>
                    </a:lnL>
                    <a:lnR w="9525">
                      <a:solidFill>
                        <a:srgbClr val="E4D9C3"/>
                      </a:solidFill>
                    </a:lnR>
                    <a:lnT w="9525">
                      <a:solidFill>
                        <a:srgbClr val="E4D9C3"/>
                      </a:solidFill>
                    </a:lnT>
                    <a:lnB w="9525">
                      <a:solidFill>
                        <a:srgbClr val="E4D9C3"/>
                      </a:solidFill>
                    </a:lnB>
                  </a:tcPr>
                </a:tc>
                <a:tc>
                  <a:txBody>
                    <a:bodyPr/>
                    <a:lstStyle/>
                    <a:p>
                      <a:pPr algn="ctr"/>
                      <a:r>
                        <a:rPr sz="900">
                          <a:solidFill>
                            <a:srgbClr val="243B45"/>
                          </a:solidFill>
                        </a:rPr>
                        <a:t>− 610</a:t>
                      </a:r>
                    </a:p>
                  </a:txBody>
                  <a:tcPr>
                    <a:lnL w="9525">
                      <a:solidFill>
                        <a:srgbClr val="E4D9C3"/>
                      </a:solidFill>
                    </a:lnL>
                    <a:lnR w="9525">
                      <a:solidFill>
                        <a:srgbClr val="E4D9C3"/>
                      </a:solidFill>
                    </a:lnR>
                    <a:lnT w="9525">
                      <a:solidFill>
                        <a:srgbClr val="E4D9C3"/>
                      </a:solidFill>
                    </a:lnT>
                    <a:lnB w="9525">
                      <a:solidFill>
                        <a:srgbClr val="E4D9C3"/>
                      </a:solidFill>
                    </a:lnB>
                  </a:tcPr>
                </a:tc>
                <a:tc>
                  <a:txBody>
                    <a:bodyPr/>
                    <a:lstStyle/>
                    <a:p>
                      <a:pPr algn="ctr"/>
                      <a:r>
                        <a:rPr sz="900">
                          <a:solidFill>
                            <a:srgbClr val="9AA6AC"/>
                          </a:solidFill>
                        </a:rPr>
                        <a:t>—</a:t>
                      </a:r>
                    </a:p>
                  </a:txBody>
                  <a:tcPr>
                    <a:lnL w="9525">
                      <a:solidFill>
                        <a:srgbClr val="E4D9C3"/>
                      </a:solidFill>
                    </a:lnL>
                    <a:lnR w="9525">
                      <a:solidFill>
                        <a:srgbClr val="E4D9C3"/>
                      </a:solidFill>
                    </a:lnR>
                    <a:lnT w="9525">
                      <a:solidFill>
                        <a:srgbClr val="E4D9C3"/>
                      </a:solidFill>
                    </a:lnT>
                    <a:lnB w="9525">
                      <a:solidFill>
                        <a:srgbClr val="E4D9C3"/>
                      </a:solidFill>
                    </a:lnB>
                  </a:tcPr>
                </a:tc>
                <a:tc>
                  <a:txBody>
                    <a:bodyPr/>
                    <a:lstStyle/>
                    <a:p>
                      <a:pPr algn="ctr"/>
                      <a:r>
                        <a:rPr sz="900">
                          <a:solidFill>
                            <a:srgbClr val="9AA6AC"/>
                          </a:solidFill>
                        </a:rPr>
                        <a:t>—</a:t>
                      </a:r>
                    </a:p>
                  </a:txBody>
                  <a:tcPr>
                    <a:lnL w="9525">
                      <a:solidFill>
                        <a:srgbClr val="E4D9C3"/>
                      </a:solidFill>
                    </a:lnL>
                    <a:lnR w="9525">
                      <a:solidFill>
                        <a:srgbClr val="E4D9C3"/>
                      </a:solidFill>
                    </a:lnR>
                    <a:lnT w="9525">
                      <a:solidFill>
                        <a:srgbClr val="E4D9C3"/>
                      </a:solidFill>
                    </a:lnT>
                    <a:lnB w="9525">
                      <a:solidFill>
                        <a:srgbClr val="E4D9C3"/>
                      </a:solidFill>
                    </a:lnB>
                  </a:tcPr>
                </a:tc>
                <a:tc>
                  <a:txBody>
                    <a:bodyPr/>
                    <a:lstStyle/>
                    <a:p>
                      <a:pPr algn="ctr"/>
                      <a:r>
                        <a:rPr sz="900">
                          <a:solidFill>
                            <a:srgbClr val="9AA6AC"/>
                          </a:solidFill>
                        </a:rPr>
                        <a:t>—</a:t>
                      </a:r>
                    </a:p>
                  </a:txBody>
                  <a:tcPr>
                    <a:lnL w="9525">
                      <a:solidFill>
                        <a:srgbClr val="E4D9C3"/>
                      </a:solidFill>
                    </a:lnL>
                    <a:lnR w="9525">
                      <a:solidFill>
                        <a:srgbClr val="E4D9C3"/>
                      </a:solidFill>
                    </a:lnR>
                    <a:lnT w="9525">
                      <a:solidFill>
                        <a:srgbClr val="E4D9C3"/>
                      </a:solidFill>
                    </a:lnT>
                    <a:lnB w="9525">
                      <a:solidFill>
                        <a:srgbClr val="E4D9C3"/>
                      </a:solidFill>
                    </a:lnB>
                  </a:tcPr>
                </a:tc>
              </a:tr>
              <a:tr h="228600">
                <a:tc>
                  <a:txBody>
                    <a:bodyPr/>
                    <a:lstStyle/>
                    <a:p>
                      <a:r>
                        <a:rPr sz="900">
                          <a:solidFill>
                            <a:srgbClr val="243B45"/>
                          </a:solidFill>
                        </a:rPr>
                        <a:t>Coûts récurrents</a:t>
                      </a:r>
                    </a:p>
                  </a:txBody>
                  <a:tcPr>
                    <a:lnL w="9525">
                      <a:solidFill>
                        <a:srgbClr val="E4D9C3"/>
                      </a:solidFill>
                    </a:lnL>
                    <a:lnR w="9525">
                      <a:solidFill>
                        <a:srgbClr val="E4D9C3"/>
                      </a:solidFill>
                    </a:lnR>
                    <a:lnT w="9525">
                      <a:solidFill>
                        <a:srgbClr val="E4D9C3"/>
                      </a:solidFill>
                    </a:lnT>
                    <a:lnB w="9525">
                      <a:solidFill>
                        <a:srgbClr val="E4D9C3"/>
                      </a:solidFill>
                    </a:lnB>
                  </a:tcPr>
                </a:tc>
                <a:tc>
                  <a:txBody>
                    <a:bodyPr/>
                    <a:lstStyle/>
                    <a:p>
                      <a:pPr algn="ctr"/>
                      <a:r>
                        <a:rPr sz="900">
                          <a:solidFill>
                            <a:srgbClr val="9AA6AC"/>
                          </a:solidFill>
                        </a:rPr>
                        <a:t>—</a:t>
                      </a:r>
                    </a:p>
                  </a:txBody>
                  <a:tcPr>
                    <a:lnL w="9525">
                      <a:solidFill>
                        <a:srgbClr val="E4D9C3"/>
                      </a:solidFill>
                    </a:lnL>
                    <a:lnR w="9525">
                      <a:solidFill>
                        <a:srgbClr val="E4D9C3"/>
                      </a:solidFill>
                    </a:lnR>
                    <a:lnT w="9525">
                      <a:solidFill>
                        <a:srgbClr val="E4D9C3"/>
                      </a:solidFill>
                    </a:lnT>
                    <a:lnB w="9525">
                      <a:solidFill>
                        <a:srgbClr val="E4D9C3"/>
                      </a:solidFill>
                    </a:lnB>
                  </a:tcPr>
                </a:tc>
                <a:tc>
                  <a:txBody>
                    <a:bodyPr/>
                    <a:lstStyle/>
                    <a:p>
                      <a:pPr algn="ctr"/>
                      <a:r>
                        <a:rPr sz="900">
                          <a:solidFill>
                            <a:srgbClr val="243B45"/>
                          </a:solidFill>
                        </a:rPr>
                        <a:t>− 135</a:t>
                      </a:r>
                    </a:p>
                  </a:txBody>
                  <a:tcPr>
                    <a:lnL w="9525">
                      <a:solidFill>
                        <a:srgbClr val="E4D9C3"/>
                      </a:solidFill>
                    </a:lnL>
                    <a:lnR w="9525">
                      <a:solidFill>
                        <a:srgbClr val="E4D9C3"/>
                      </a:solidFill>
                    </a:lnR>
                    <a:lnT w="9525">
                      <a:solidFill>
                        <a:srgbClr val="E4D9C3"/>
                      </a:solidFill>
                    </a:lnT>
                    <a:lnB w="9525">
                      <a:solidFill>
                        <a:srgbClr val="E4D9C3"/>
                      </a:solidFill>
                    </a:lnB>
                  </a:tcPr>
                </a:tc>
                <a:tc>
                  <a:txBody>
                    <a:bodyPr/>
                    <a:lstStyle/>
                    <a:p>
                      <a:pPr algn="ctr"/>
                      <a:r>
                        <a:rPr sz="900">
                          <a:solidFill>
                            <a:srgbClr val="243B45"/>
                          </a:solidFill>
                        </a:rPr>
                        <a:t>− 135</a:t>
                      </a:r>
                    </a:p>
                  </a:txBody>
                  <a:tcPr>
                    <a:lnL w="9525">
                      <a:solidFill>
                        <a:srgbClr val="E4D9C3"/>
                      </a:solidFill>
                    </a:lnL>
                    <a:lnR w="9525">
                      <a:solidFill>
                        <a:srgbClr val="E4D9C3"/>
                      </a:solidFill>
                    </a:lnR>
                    <a:lnT w="9525">
                      <a:solidFill>
                        <a:srgbClr val="E4D9C3"/>
                      </a:solidFill>
                    </a:lnT>
                    <a:lnB w="9525">
                      <a:solidFill>
                        <a:srgbClr val="E4D9C3"/>
                      </a:solidFill>
                    </a:lnB>
                  </a:tcPr>
                </a:tc>
                <a:tc>
                  <a:txBody>
                    <a:bodyPr/>
                    <a:lstStyle/>
                    <a:p>
                      <a:pPr algn="ctr"/>
                      <a:r>
                        <a:rPr sz="900">
                          <a:solidFill>
                            <a:srgbClr val="243B45"/>
                          </a:solidFill>
                        </a:rPr>
                        <a:t>− 135</a:t>
                      </a:r>
                    </a:p>
                  </a:txBody>
                  <a:tcPr>
                    <a:lnL w="9525">
                      <a:solidFill>
                        <a:srgbClr val="E4D9C3"/>
                      </a:solidFill>
                    </a:lnL>
                    <a:lnR w="9525">
                      <a:solidFill>
                        <a:srgbClr val="E4D9C3"/>
                      </a:solidFill>
                    </a:lnR>
                    <a:lnT w="9525">
                      <a:solidFill>
                        <a:srgbClr val="E4D9C3"/>
                      </a:solidFill>
                    </a:lnT>
                    <a:lnB w="9525">
                      <a:solidFill>
                        <a:srgbClr val="E4D9C3"/>
                      </a:solidFill>
                    </a:lnB>
                  </a:tcPr>
                </a:tc>
              </a:tr>
              <a:tr h="228600">
                <a:tc>
                  <a:txBody>
                    <a:bodyPr/>
                    <a:lstStyle/>
                    <a:p>
                      <a:r>
                        <a:rPr sz="900">
                          <a:solidFill>
                            <a:srgbClr val="243B45"/>
                          </a:solidFill>
                        </a:rPr>
                        <a:t>Gains productivité</a:t>
                      </a:r>
                    </a:p>
                  </a:txBody>
                  <a:tcPr>
                    <a:lnL w="9525">
                      <a:solidFill>
                        <a:srgbClr val="E4D9C3"/>
                      </a:solidFill>
                    </a:lnL>
                    <a:lnR w="9525">
                      <a:solidFill>
                        <a:srgbClr val="E4D9C3"/>
                      </a:solidFill>
                    </a:lnR>
                    <a:lnT w="9525">
                      <a:solidFill>
                        <a:srgbClr val="E4D9C3"/>
                      </a:solidFill>
                    </a:lnT>
                    <a:lnB w="9525">
                      <a:solidFill>
                        <a:srgbClr val="E4D9C3"/>
                      </a:solidFill>
                    </a:lnB>
                  </a:tcPr>
                </a:tc>
                <a:tc>
                  <a:txBody>
                    <a:bodyPr/>
                    <a:lstStyle/>
                    <a:p>
                      <a:pPr algn="ctr"/>
                      <a:r>
                        <a:rPr sz="900">
                          <a:solidFill>
                            <a:srgbClr val="9AA6AC"/>
                          </a:solidFill>
                        </a:rPr>
                        <a:t>—</a:t>
                      </a:r>
                    </a:p>
                  </a:txBody>
                  <a:tcPr>
                    <a:lnL w="9525">
                      <a:solidFill>
                        <a:srgbClr val="E4D9C3"/>
                      </a:solidFill>
                    </a:lnL>
                    <a:lnR w="9525">
                      <a:solidFill>
                        <a:srgbClr val="E4D9C3"/>
                      </a:solidFill>
                    </a:lnR>
                    <a:lnT w="9525">
                      <a:solidFill>
                        <a:srgbClr val="E4D9C3"/>
                      </a:solidFill>
                    </a:lnT>
                    <a:lnB w="9525">
                      <a:solidFill>
                        <a:srgbClr val="E4D9C3"/>
                      </a:solidFill>
                    </a:lnB>
                  </a:tcPr>
                </a:tc>
                <a:tc>
                  <a:txBody>
                    <a:bodyPr/>
                    <a:lstStyle/>
                    <a:p>
                      <a:pPr algn="ctr"/>
                      <a:r>
                        <a:rPr sz="900">
                          <a:solidFill>
                            <a:srgbClr val="243B45"/>
                          </a:solidFill>
                        </a:rPr>
                        <a:t>+ 234</a:t>
                      </a:r>
                    </a:p>
                  </a:txBody>
                  <a:tcPr>
                    <a:lnL w="9525">
                      <a:solidFill>
                        <a:srgbClr val="E4D9C3"/>
                      </a:solidFill>
                    </a:lnL>
                    <a:lnR w="9525">
                      <a:solidFill>
                        <a:srgbClr val="E4D9C3"/>
                      </a:solidFill>
                    </a:lnR>
                    <a:lnT w="9525">
                      <a:solidFill>
                        <a:srgbClr val="E4D9C3"/>
                      </a:solidFill>
                    </a:lnT>
                    <a:lnB w="9525">
                      <a:solidFill>
                        <a:srgbClr val="E4D9C3"/>
                      </a:solidFill>
                    </a:lnB>
                  </a:tcPr>
                </a:tc>
                <a:tc>
                  <a:txBody>
                    <a:bodyPr/>
                    <a:lstStyle/>
                    <a:p>
                      <a:pPr algn="ctr"/>
                      <a:r>
                        <a:rPr sz="900">
                          <a:solidFill>
                            <a:srgbClr val="243B45"/>
                          </a:solidFill>
                        </a:rPr>
                        <a:t>+ 351</a:t>
                      </a:r>
                    </a:p>
                  </a:txBody>
                  <a:tcPr>
                    <a:lnL w="9525">
                      <a:solidFill>
                        <a:srgbClr val="E4D9C3"/>
                      </a:solidFill>
                    </a:lnL>
                    <a:lnR w="9525">
                      <a:solidFill>
                        <a:srgbClr val="E4D9C3"/>
                      </a:solidFill>
                    </a:lnR>
                    <a:lnT w="9525">
                      <a:solidFill>
                        <a:srgbClr val="E4D9C3"/>
                      </a:solidFill>
                    </a:lnT>
                    <a:lnB w="9525">
                      <a:solidFill>
                        <a:srgbClr val="E4D9C3"/>
                      </a:solidFill>
                    </a:lnB>
                  </a:tcPr>
                </a:tc>
                <a:tc>
                  <a:txBody>
                    <a:bodyPr/>
                    <a:lstStyle/>
                    <a:p>
                      <a:pPr algn="ctr"/>
                      <a:r>
                        <a:rPr sz="900">
                          <a:solidFill>
                            <a:srgbClr val="243B45"/>
                          </a:solidFill>
                        </a:rPr>
                        <a:t>+ 390</a:t>
                      </a:r>
                    </a:p>
                  </a:txBody>
                  <a:tcPr>
                    <a:lnL w="9525">
                      <a:solidFill>
                        <a:srgbClr val="E4D9C3"/>
                      </a:solidFill>
                    </a:lnL>
                    <a:lnR w="9525">
                      <a:solidFill>
                        <a:srgbClr val="E4D9C3"/>
                      </a:solidFill>
                    </a:lnR>
                    <a:lnT w="9525">
                      <a:solidFill>
                        <a:srgbClr val="E4D9C3"/>
                      </a:solidFill>
                    </a:lnT>
                    <a:lnB w="9525">
                      <a:solidFill>
                        <a:srgbClr val="E4D9C3"/>
                      </a:solidFill>
                    </a:lnB>
                  </a:tcPr>
                </a:tc>
              </a:tr>
              <a:tr h="228600">
                <a:tc>
                  <a:txBody>
                    <a:bodyPr/>
                    <a:lstStyle/>
                    <a:p>
                      <a:r>
                        <a:rPr sz="900" b="1">
                          <a:solidFill>
                            <a:srgbClr val="1F4E5F"/>
                          </a:solidFill>
                        </a:rPr>
                        <a:t>Flux net</a:t>
                      </a:r>
                    </a:p>
                  </a:txBody>
                  <a:tcPr>
                    <a:lnL w="9525">
                      <a:solidFill>
                        <a:srgbClr val="E4D9C3"/>
                      </a:solidFill>
                    </a:lnL>
                    <a:lnR w="9525">
                      <a:solidFill>
                        <a:srgbClr val="E4D9C3"/>
                      </a:solidFill>
                    </a:lnR>
                    <a:lnT w="9525">
                      <a:solidFill>
                        <a:srgbClr val="E4D9C3"/>
                      </a:solidFill>
                    </a:lnT>
                    <a:lnB w="9525">
                      <a:solidFill>
                        <a:srgbClr val="E4D9C3"/>
                      </a:solidFill>
                    </a:lnB>
                    <a:solidFill>
                      <a:srgbClr val="EAF3F5"/>
                    </a:solidFill>
                  </a:tcPr>
                </a:tc>
                <a:tc>
                  <a:txBody>
                    <a:bodyPr/>
                    <a:lstStyle/>
                    <a:p>
                      <a:pPr algn="ctr"/>
                      <a:r>
                        <a:rPr sz="900" b="1">
                          <a:solidFill>
                            <a:srgbClr val="1F4E5F"/>
                          </a:solidFill>
                        </a:rPr>
                        <a:t>− 610</a:t>
                      </a:r>
                    </a:p>
                  </a:txBody>
                  <a:tcPr>
                    <a:lnL w="9525">
                      <a:solidFill>
                        <a:srgbClr val="E4D9C3"/>
                      </a:solidFill>
                    </a:lnL>
                    <a:lnR w="9525">
                      <a:solidFill>
                        <a:srgbClr val="E4D9C3"/>
                      </a:solidFill>
                    </a:lnR>
                    <a:lnT w="9525">
                      <a:solidFill>
                        <a:srgbClr val="E4D9C3"/>
                      </a:solidFill>
                    </a:lnT>
                    <a:lnB w="9525">
                      <a:solidFill>
                        <a:srgbClr val="E4D9C3"/>
                      </a:solidFill>
                    </a:lnB>
                    <a:solidFill>
                      <a:srgbClr val="EAF3F5"/>
                    </a:solidFill>
                  </a:tcPr>
                </a:tc>
                <a:tc>
                  <a:txBody>
                    <a:bodyPr/>
                    <a:lstStyle/>
                    <a:p>
                      <a:pPr algn="ctr"/>
                      <a:r>
                        <a:rPr sz="900" b="1">
                          <a:solidFill>
                            <a:srgbClr val="1F4E5F"/>
                          </a:solidFill>
                        </a:rPr>
                        <a:t>+ 99</a:t>
                      </a:r>
                    </a:p>
                  </a:txBody>
                  <a:tcPr>
                    <a:lnL w="9525">
                      <a:solidFill>
                        <a:srgbClr val="E4D9C3"/>
                      </a:solidFill>
                    </a:lnL>
                    <a:lnR w="9525">
                      <a:solidFill>
                        <a:srgbClr val="E4D9C3"/>
                      </a:solidFill>
                    </a:lnR>
                    <a:lnT w="9525">
                      <a:solidFill>
                        <a:srgbClr val="E4D9C3"/>
                      </a:solidFill>
                    </a:lnT>
                    <a:lnB w="9525">
                      <a:solidFill>
                        <a:srgbClr val="E4D9C3"/>
                      </a:solidFill>
                    </a:lnB>
                    <a:solidFill>
                      <a:srgbClr val="EAF3F5"/>
                    </a:solidFill>
                  </a:tcPr>
                </a:tc>
                <a:tc>
                  <a:txBody>
                    <a:bodyPr/>
                    <a:lstStyle/>
                    <a:p>
                      <a:pPr algn="ctr"/>
                      <a:r>
                        <a:rPr sz="900" b="1">
                          <a:solidFill>
                            <a:srgbClr val="1F4E5F"/>
                          </a:solidFill>
                        </a:rPr>
                        <a:t>+ 216</a:t>
                      </a:r>
                    </a:p>
                  </a:txBody>
                  <a:tcPr>
                    <a:lnL w="9525">
                      <a:solidFill>
                        <a:srgbClr val="E4D9C3"/>
                      </a:solidFill>
                    </a:lnL>
                    <a:lnR w="9525">
                      <a:solidFill>
                        <a:srgbClr val="E4D9C3"/>
                      </a:solidFill>
                    </a:lnR>
                    <a:lnT w="9525">
                      <a:solidFill>
                        <a:srgbClr val="E4D9C3"/>
                      </a:solidFill>
                    </a:lnT>
                    <a:lnB w="9525">
                      <a:solidFill>
                        <a:srgbClr val="E4D9C3"/>
                      </a:solidFill>
                    </a:lnB>
                    <a:solidFill>
                      <a:srgbClr val="EAF3F5"/>
                    </a:solidFill>
                  </a:tcPr>
                </a:tc>
                <a:tc>
                  <a:txBody>
                    <a:bodyPr/>
                    <a:lstStyle/>
                    <a:p>
                      <a:pPr algn="ctr"/>
                      <a:r>
                        <a:rPr sz="900" b="1">
                          <a:solidFill>
                            <a:srgbClr val="1F4E5F"/>
                          </a:solidFill>
                        </a:rPr>
                        <a:t>+ 255</a:t>
                      </a:r>
                    </a:p>
                  </a:txBody>
                  <a:tcPr>
                    <a:lnL w="9525">
                      <a:solidFill>
                        <a:srgbClr val="E4D9C3"/>
                      </a:solidFill>
                    </a:lnL>
                    <a:lnR w="9525">
                      <a:solidFill>
                        <a:srgbClr val="E4D9C3"/>
                      </a:solidFill>
                    </a:lnR>
                    <a:lnT w="9525">
                      <a:solidFill>
                        <a:srgbClr val="E4D9C3"/>
                      </a:solidFill>
                    </a:lnT>
                    <a:lnB w="9525">
                      <a:solidFill>
                        <a:srgbClr val="E4D9C3"/>
                      </a:solidFill>
                    </a:lnB>
                    <a:solidFill>
                      <a:srgbClr val="EAF3F5"/>
                    </a:solidFill>
                  </a:tcPr>
                </a:tc>
              </a:tr>
              <a:tr h="228600">
                <a:tc>
                  <a:txBody>
                    <a:bodyPr/>
                    <a:lstStyle/>
                    <a:p>
                      <a:r>
                        <a:rPr sz="900" b="1">
                          <a:solidFill>
                            <a:srgbClr val="1F4E5F"/>
                          </a:solidFill>
                        </a:rPr>
                        <a:t>Cumulé</a:t>
                      </a:r>
                    </a:p>
                  </a:txBody>
                  <a:tcPr>
                    <a:lnL w="9525">
                      <a:solidFill>
                        <a:srgbClr val="E4D9C3"/>
                      </a:solidFill>
                    </a:lnL>
                    <a:lnR w="9525">
                      <a:solidFill>
                        <a:srgbClr val="E4D9C3"/>
                      </a:solidFill>
                    </a:lnR>
                    <a:lnT w="9525">
                      <a:solidFill>
                        <a:srgbClr val="E4D9C3"/>
                      </a:solidFill>
                    </a:lnT>
                    <a:lnB w="9525">
                      <a:solidFill>
                        <a:srgbClr val="E4D9C3"/>
                      </a:solidFill>
                    </a:lnB>
                    <a:solidFill>
                      <a:srgbClr val="EAF3F5"/>
                    </a:solidFill>
                  </a:tcPr>
                </a:tc>
                <a:tc>
                  <a:txBody>
                    <a:bodyPr/>
                    <a:lstStyle/>
                    <a:p>
                      <a:pPr algn="ctr"/>
                      <a:r>
                        <a:rPr sz="900">
                          <a:solidFill>
                            <a:srgbClr val="243B45"/>
                          </a:solidFill>
                        </a:rPr>
                        <a:t>− 610</a:t>
                      </a:r>
                    </a:p>
                  </a:txBody>
                  <a:tcPr>
                    <a:lnL w="9525">
                      <a:solidFill>
                        <a:srgbClr val="E4D9C3"/>
                      </a:solidFill>
                    </a:lnL>
                    <a:lnR w="9525">
                      <a:solidFill>
                        <a:srgbClr val="E4D9C3"/>
                      </a:solidFill>
                    </a:lnR>
                    <a:lnT w="9525">
                      <a:solidFill>
                        <a:srgbClr val="E4D9C3"/>
                      </a:solidFill>
                    </a:lnT>
                    <a:lnB w="9525">
                      <a:solidFill>
                        <a:srgbClr val="E4D9C3"/>
                      </a:solidFill>
                    </a:lnB>
                    <a:solidFill>
                      <a:srgbClr val="EAF3F5"/>
                    </a:solidFill>
                  </a:tcPr>
                </a:tc>
                <a:tc>
                  <a:txBody>
                    <a:bodyPr/>
                    <a:lstStyle/>
                    <a:p>
                      <a:pPr algn="ctr"/>
                      <a:r>
                        <a:rPr sz="900">
                          <a:solidFill>
                            <a:srgbClr val="243B45"/>
                          </a:solidFill>
                        </a:rPr>
                        <a:t>− 511</a:t>
                      </a:r>
                    </a:p>
                  </a:txBody>
                  <a:tcPr>
                    <a:lnL w="9525">
                      <a:solidFill>
                        <a:srgbClr val="E4D9C3"/>
                      </a:solidFill>
                    </a:lnL>
                    <a:lnR w="9525">
                      <a:solidFill>
                        <a:srgbClr val="E4D9C3"/>
                      </a:solidFill>
                    </a:lnR>
                    <a:lnT w="9525">
                      <a:solidFill>
                        <a:srgbClr val="E4D9C3"/>
                      </a:solidFill>
                    </a:lnT>
                    <a:lnB w="9525">
                      <a:solidFill>
                        <a:srgbClr val="E4D9C3"/>
                      </a:solidFill>
                    </a:lnB>
                    <a:solidFill>
                      <a:srgbClr val="EAF3F5"/>
                    </a:solidFill>
                  </a:tcPr>
                </a:tc>
                <a:tc>
                  <a:txBody>
                    <a:bodyPr/>
                    <a:lstStyle/>
                    <a:p>
                      <a:pPr algn="ctr"/>
                      <a:r>
                        <a:rPr sz="900">
                          <a:solidFill>
                            <a:srgbClr val="243B45"/>
                          </a:solidFill>
                        </a:rPr>
                        <a:t>− 295</a:t>
                      </a:r>
                    </a:p>
                  </a:txBody>
                  <a:tcPr>
                    <a:lnL w="9525">
                      <a:solidFill>
                        <a:srgbClr val="E4D9C3"/>
                      </a:solidFill>
                    </a:lnL>
                    <a:lnR w="9525">
                      <a:solidFill>
                        <a:srgbClr val="E4D9C3"/>
                      </a:solidFill>
                    </a:lnR>
                    <a:lnT w="9525">
                      <a:solidFill>
                        <a:srgbClr val="E4D9C3"/>
                      </a:solidFill>
                    </a:lnT>
                    <a:lnB w="9525">
                      <a:solidFill>
                        <a:srgbClr val="E4D9C3"/>
                      </a:solidFill>
                    </a:lnB>
                    <a:solidFill>
                      <a:srgbClr val="EAF3F5"/>
                    </a:solidFill>
                  </a:tcPr>
                </a:tc>
                <a:tc>
                  <a:txBody>
                    <a:bodyPr/>
                    <a:lstStyle/>
                    <a:p>
                      <a:pPr algn="ctr"/>
                      <a:r>
                        <a:rPr sz="900" b="1">
                          <a:solidFill>
                            <a:srgbClr val="2F7D57"/>
                          </a:solidFill>
                        </a:rPr>
                        <a:t>− 40</a:t>
                      </a:r>
                    </a:p>
                  </a:txBody>
                  <a:tcPr>
                    <a:lnL w="9525">
                      <a:solidFill>
                        <a:srgbClr val="E4D9C3"/>
                      </a:solidFill>
                    </a:lnL>
                    <a:lnR w="9525">
                      <a:solidFill>
                        <a:srgbClr val="E4D9C3"/>
                      </a:solidFill>
                    </a:lnR>
                    <a:lnT w="9525">
                      <a:solidFill>
                        <a:srgbClr val="E4D9C3"/>
                      </a:solidFill>
                    </a:lnT>
                    <a:lnB w="9525">
                      <a:solidFill>
                        <a:srgbClr val="E4D9C3"/>
                      </a:solidFill>
                    </a:lnB>
                    <a:solidFill>
                      <a:srgbClr val="EAF3F5"/>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FB21F5E0-7235-4398-A78F-DFAFB6E6BAC6}"/>
              </a:ext>
            </a:extLst>
          </p:cNvPr>
          <p:cNvSpPr txBox="1"/>
          <p:nvPr/>
        </p:nvSpPr>
        <p:spPr>
          <a:xfrm>
            <a:off x="571500" y="304800"/>
            <a:ext cx="4762500" cy="209550"/>
          </a:xfrm>
        </p:spPr>
        <p:txBody>
          <a:bodyPr wrap="square" rtlCol="0" lIns="0" tIns="0" rIns="0" bIns="0" anchor="t"/>
          <a:lstStyle/>
          <a:p>
            <a:r>
              <a:rPr sz="1100" b="1">
                <a:solidFill>
                  <a:srgbClr val="2E7D8C"/>
                </a:solidFill>
              </a:rPr>
              <a:t>RISQUES ET CONDUITE</a:t>
            </a:r>
          </a:p>
        </p:txBody>
      </p:sp>
      <p:sp>
        <p:nvSpPr>
          <p:cNvPr id="4" name="TextBox 4">
            <a:extLst>
              <a:ext uri="{FF2B5EF4-FFF2-40B4-BE49-F238E27FC236}">
                <a16:creationId xmlns:a16="http://schemas.microsoft.com/office/drawing/2014/main" id="{D989C593-9613-4752-87C0-28D4D5D0FF80}"/>
              </a:ext>
            </a:extLst>
          </p:cNvPr>
          <p:cNvSpPr txBox="1"/>
          <p:nvPr/>
        </p:nvSpPr>
        <p:spPr>
          <a:xfrm>
            <a:off x="571500" y="571500"/>
            <a:ext cx="11049000" cy="419100"/>
          </a:xfrm>
        </p:spPr>
        <p:txBody>
          <a:bodyPr wrap="square" rtlCol="0" lIns="0" tIns="0" rIns="0" bIns="0" anchor="t"/>
          <a:lstStyle/>
          <a:p>
            <a:r>
              <a:rPr sz="2100" b="1">
                <a:solidFill>
                  <a:srgbClr val="243B45"/>
                </a:solidFill>
              </a:rPr>
              <a:t>Quatre risques peuvent annuler les gains : chacun a sa parade intégrée au dessin</a:t>
            </a:r>
          </a:p>
        </p:txBody>
      </p:sp>
      <p:sp>
        <p:nvSpPr>
          <p:cNvPr id="5" name="Shape 5">
            <a:extLst>
              <a:ext uri="{FF2B5EF4-FFF2-40B4-BE49-F238E27FC236}">
                <a16:creationId xmlns:a16="http://schemas.microsoft.com/office/drawing/2014/main" id="{F9B1C2CC-D3E9-4658-8F05-71387924EC74}"/>
              </a:ext>
            </a:extLst>
          </p:cNvPr>
          <p:cNvSpPr/>
          <p:nvPr/>
        </p:nvSpPr>
        <p:spPr>
          <a:xfrm>
            <a:off x="571500" y="1162050"/>
            <a:ext cx="11049000" cy="304800"/>
          </a:xfrm>
          <a:prstGeom prst="rect">
            <a:avLst/>
          </a:prstGeom>
          <a:solidFill>
            <a:srgbClr val="1F4E5F"/>
          </a:solidFill>
        </p:spPr>
        <p:txBody>
          <a:bodyPr wrap="square" rtlCol="0"/>
          <a:lstStyle/>
          <a:p>
            <a:r>
              <a:rPr/>
              <a:t/>
            </a:r>
          </a:p>
        </p:txBody>
      </p:sp>
      <p:sp>
        <p:nvSpPr>
          <p:cNvPr id="6" name="TextBox 6">
            <a:extLst>
              <a:ext uri="{FF2B5EF4-FFF2-40B4-BE49-F238E27FC236}">
                <a16:creationId xmlns:a16="http://schemas.microsoft.com/office/drawing/2014/main" id="{944F940F-BE74-449C-BBBE-3383472DF0A7}"/>
              </a:ext>
            </a:extLst>
          </p:cNvPr>
          <p:cNvSpPr txBox="1"/>
          <p:nvPr/>
        </p:nvSpPr>
        <p:spPr>
          <a:xfrm>
            <a:off x="666750" y="1209675"/>
            <a:ext cx="2857500" cy="209550"/>
          </a:xfrm>
        </p:spPr>
        <p:txBody>
          <a:bodyPr wrap="square" rtlCol="0" lIns="0" tIns="0" rIns="0" bIns="0" anchor="t"/>
          <a:lstStyle/>
          <a:p>
            <a:r>
              <a:rPr sz="1000" b="1">
                <a:solidFill>
                  <a:srgbClr val="FFFFFF"/>
                </a:solidFill>
              </a:rPr>
              <a:t>RISQUE · PROBABILITE · IMPACT</a:t>
            </a:r>
          </a:p>
        </p:txBody>
      </p:sp>
      <p:sp>
        <p:nvSpPr>
          <p:cNvPr id="7" name="TextBox 7">
            <a:extLst>
              <a:ext uri="{FF2B5EF4-FFF2-40B4-BE49-F238E27FC236}">
                <a16:creationId xmlns:a16="http://schemas.microsoft.com/office/drawing/2014/main" id="{DA54F26A-4F8F-470A-9F37-0EB99A21612F}"/>
              </a:ext>
            </a:extLst>
          </p:cNvPr>
          <p:cNvSpPr txBox="1"/>
          <p:nvPr/>
        </p:nvSpPr>
        <p:spPr>
          <a:xfrm>
            <a:off x="3667125" y="1209675"/>
            <a:ext cx="2571750" cy="209550"/>
          </a:xfrm>
        </p:spPr>
        <p:txBody>
          <a:bodyPr wrap="square" rtlCol="0" lIns="0" tIns="0" rIns="0" bIns="0" anchor="t"/>
          <a:lstStyle/>
          <a:p>
            <a:r>
              <a:rPr sz="1000" b="1">
                <a:solidFill>
                  <a:srgbClr val="FFFFFF"/>
                </a:solidFill>
              </a:rPr>
              <a:t>EFFET SUR LE CHIFFRAGE</a:t>
            </a:r>
          </a:p>
        </p:txBody>
      </p:sp>
      <p:sp>
        <p:nvSpPr>
          <p:cNvPr id="8" name="TextBox 8">
            <a:extLst>
              <a:ext uri="{FF2B5EF4-FFF2-40B4-BE49-F238E27FC236}">
                <a16:creationId xmlns:a16="http://schemas.microsoft.com/office/drawing/2014/main" id="{BFB4E418-2DB3-4FB9-8297-38B6C1A3FADE}"/>
              </a:ext>
            </a:extLst>
          </p:cNvPr>
          <p:cNvSpPr txBox="1"/>
          <p:nvPr/>
        </p:nvSpPr>
        <p:spPr>
          <a:xfrm>
            <a:off x="6429375" y="1209675"/>
            <a:ext cx="3619500" cy="209550"/>
          </a:xfrm>
        </p:spPr>
        <p:txBody>
          <a:bodyPr wrap="square" rtlCol="0" lIns="0" tIns="0" rIns="0" bIns="0" anchor="t"/>
          <a:lstStyle/>
          <a:p>
            <a:r>
              <a:rPr sz="1000" b="1">
                <a:solidFill>
                  <a:srgbClr val="FFFFFF"/>
                </a:solidFill>
              </a:rPr>
              <a:t>PARADE CONÇUE DES LE DEPART</a:t>
            </a:r>
          </a:p>
        </p:txBody>
      </p:sp>
      <p:sp>
        <p:nvSpPr>
          <p:cNvPr id="9" name="TextBox 9">
            <a:extLst>
              <a:ext uri="{FF2B5EF4-FFF2-40B4-BE49-F238E27FC236}">
                <a16:creationId xmlns:a16="http://schemas.microsoft.com/office/drawing/2014/main" id="{8C3799A1-B6E4-461F-B515-D68BC877D9D4}"/>
              </a:ext>
            </a:extLst>
          </p:cNvPr>
          <p:cNvSpPr txBox="1"/>
          <p:nvPr/>
        </p:nvSpPr>
        <p:spPr>
          <a:xfrm>
            <a:off x="10239375" y="1209675"/>
            <a:ext cx="952500" cy="209550"/>
          </a:xfrm>
        </p:spPr>
        <p:txBody>
          <a:bodyPr wrap="square" rtlCol="0" lIns="0" tIns="0" rIns="0" bIns="0" anchor="t"/>
          <a:lstStyle/>
          <a:p>
            <a:r>
              <a:rPr sz="1000" b="1">
                <a:solidFill>
                  <a:srgbClr val="7FB6C4"/>
                </a:solidFill>
              </a:rPr>
              <a:t>ALERTE</a:t>
            </a:r>
          </a:p>
        </p:txBody>
      </p:sp>
      <p:sp>
        <p:nvSpPr>
          <p:cNvPr id="10" name="Shape 10">
            <a:extLst>
              <a:ext uri="{FF2B5EF4-FFF2-40B4-BE49-F238E27FC236}">
                <a16:creationId xmlns:a16="http://schemas.microsoft.com/office/drawing/2014/main" id="{3532D9F9-AEF6-43F6-B057-8CB6342FFB97}"/>
              </a:ext>
            </a:extLst>
          </p:cNvPr>
          <p:cNvSpPr/>
          <p:nvPr/>
        </p:nvSpPr>
        <p:spPr>
          <a:xfrm>
            <a:off x="571500" y="1466850"/>
            <a:ext cx="11049000" cy="819150"/>
          </a:xfrm>
          <a:prstGeom prst="rect">
            <a:avLst/>
          </a:prstGeom>
          <a:solidFill>
            <a:srgbClr val="F7F2E7"/>
          </a:solidFill>
        </p:spPr>
        <p:txBody>
          <a:bodyPr wrap="square" rtlCol="0"/>
          <a:lstStyle/>
          <a:p>
            <a:r>
              <a:rPr/>
              <a:t/>
            </a:r>
          </a:p>
        </p:txBody>
      </p:sp>
      <p:sp>
        <p:nvSpPr>
          <p:cNvPr id="11" name="TextBox 11">
            <a:extLst>
              <a:ext uri="{FF2B5EF4-FFF2-40B4-BE49-F238E27FC236}">
                <a16:creationId xmlns:a16="http://schemas.microsoft.com/office/drawing/2014/main" id="{EF794945-518E-454A-8704-9A3D05EF0F6C}"/>
              </a:ext>
            </a:extLst>
          </p:cNvPr>
          <p:cNvSpPr txBox="1"/>
          <p:nvPr/>
        </p:nvSpPr>
        <p:spPr>
          <a:xfrm>
            <a:off x="666750" y="1562100"/>
            <a:ext cx="2905125" cy="628650"/>
          </a:xfrm>
        </p:spPr>
        <p:txBody>
          <a:bodyPr wrap="square" rtlCol="0" lIns="0" tIns="0" rIns="0" bIns="0" anchor="t"/>
          <a:lstStyle/>
          <a:p>
            <a:pPr>
              <a:lnSpc>
                <a:spcPct val="112000"/>
              </a:lnSpc>
              <a:spcAft>
                <a:spcPts val="300"/>
              </a:spcAft>
            </a:pPr>
            <a:r>
              <a:rPr sz="1100" b="1">
                <a:solidFill>
                  <a:srgbClr val="243B45"/>
                </a:solidFill>
              </a:rPr>
              <a:t>R1 · Faible adoption du canal en ligne</a:t>
            </a:r>
          </a:p>
          <a:p>
            <a:pPr>
              <a:lnSpc>
                <a:spcPct val="112000"/>
              </a:lnSpc>
            </a:pPr>
            <a:r>
              <a:rPr sz="1000">
                <a:solidFill>
                  <a:srgbClr val="6B7C82"/>
                </a:solidFill>
              </a:rPr>
              <a:t>Probabilité haute · impact moyen</a:t>
            </a:r>
          </a:p>
        </p:txBody>
      </p:sp>
      <p:sp>
        <p:nvSpPr>
          <p:cNvPr id="12" name="TextBox 12">
            <a:extLst>
              <a:ext uri="{FF2B5EF4-FFF2-40B4-BE49-F238E27FC236}">
                <a16:creationId xmlns:a16="http://schemas.microsoft.com/office/drawing/2014/main" id="{47DF5D94-6EC1-4EE0-BA33-8901F19B85ED}"/>
              </a:ext>
            </a:extLst>
          </p:cNvPr>
          <p:cNvSpPr txBox="1"/>
          <p:nvPr/>
        </p:nvSpPr>
        <p:spPr>
          <a:xfrm>
            <a:off x="3667125" y="1562100"/>
            <a:ext cx="2619375" cy="628650"/>
          </a:xfrm>
        </p:spPr>
        <p:txBody>
          <a:bodyPr wrap="square" rtlCol="0" lIns="0" tIns="0" rIns="0" bIns="0" anchor="t"/>
          <a:lstStyle/>
          <a:p>
            <a:pPr>
              <a:lnSpc>
                <a:spcPct val="112000"/>
              </a:lnSpc>
            </a:pPr>
            <a:r>
              <a:rPr sz="1050">
                <a:solidFill>
                  <a:srgbClr val="243B45"/>
                </a:solidFill>
              </a:rPr>
              <a:t>Gains D1 / D5 amputés : le client continue d'appeler l'agence.</a:t>
            </a:r>
          </a:p>
        </p:txBody>
      </p:sp>
      <p:sp>
        <p:nvSpPr>
          <p:cNvPr id="13" name="TextBox 13">
            <a:extLst>
              <a:ext uri="{FF2B5EF4-FFF2-40B4-BE49-F238E27FC236}">
                <a16:creationId xmlns:a16="http://schemas.microsoft.com/office/drawing/2014/main" id="{7B247C31-DFAC-47FA-B318-5097E31D7393}"/>
              </a:ext>
            </a:extLst>
          </p:cNvPr>
          <p:cNvSpPr txBox="1"/>
          <p:nvPr/>
        </p:nvSpPr>
        <p:spPr>
          <a:xfrm>
            <a:off x="6429375" y="1562100"/>
            <a:ext cx="3667125" cy="628650"/>
          </a:xfrm>
        </p:spPr>
        <p:txBody>
          <a:bodyPr wrap="square" rtlCol="0" lIns="0" tIns="0" rIns="0" bIns="0" anchor="t"/>
          <a:lstStyle/>
          <a:p>
            <a:pPr>
              <a:lnSpc>
                <a:spcPct val="112000"/>
              </a:lnSpc>
            </a:pPr>
            <a:r>
              <a:rPr sz="1050">
                <a:solidFill>
                  <a:srgbClr val="243B45"/>
                </a:solidFill>
              </a:rPr>
              <a:t>Dépôt assisté identique au web (EF-02) : les gains sont récupérés même si le client vient au guichet.</a:t>
            </a:r>
          </a:p>
        </p:txBody>
      </p:sp>
      <p:sp>
        <p:nvSpPr>
          <p:cNvPr id="14" name="TextBox 14">
            <a:extLst>
              <a:ext uri="{FF2B5EF4-FFF2-40B4-BE49-F238E27FC236}">
                <a16:creationId xmlns:a16="http://schemas.microsoft.com/office/drawing/2014/main" id="{4E4EFBF1-351B-4B20-89BE-35F83813F87B}"/>
              </a:ext>
            </a:extLst>
          </p:cNvPr>
          <p:cNvSpPr txBox="1"/>
          <p:nvPr/>
        </p:nvSpPr>
        <p:spPr>
          <a:xfrm>
            <a:off x="10239375" y="1562100"/>
            <a:ext cx="1333500" cy="628650"/>
          </a:xfrm>
        </p:spPr>
        <p:txBody>
          <a:bodyPr wrap="square" rtlCol="0" lIns="0" tIns="0" rIns="0" bIns="0" anchor="t"/>
          <a:lstStyle/>
          <a:p>
            <a:r>
              <a:rPr sz="1000">
                <a:solidFill>
                  <a:srgbClr val="B07D2B"/>
                </a:solidFill>
              </a:rPr>
              <a:t>% de dossiers déposés en ligne, par mois</a:t>
            </a:r>
          </a:p>
        </p:txBody>
      </p:sp>
      <p:sp>
        <p:nvSpPr>
          <p:cNvPr id="15" name="Shape 15">
            <a:extLst>
              <a:ext uri="{FF2B5EF4-FFF2-40B4-BE49-F238E27FC236}">
                <a16:creationId xmlns:a16="http://schemas.microsoft.com/office/drawing/2014/main" id="{96EB3C1A-9138-49A9-8BAF-3A6C8E987169}"/>
              </a:ext>
            </a:extLst>
          </p:cNvPr>
          <p:cNvSpPr/>
          <p:nvPr/>
        </p:nvSpPr>
        <p:spPr>
          <a:xfrm>
            <a:off x="571500" y="2286000"/>
            <a:ext cx="11049000" cy="819150"/>
          </a:xfrm>
          <a:prstGeom prst="rect">
            <a:avLst/>
          </a:prstGeom>
          <a:solidFill>
            <a:srgbClr val="FFFFFF"/>
          </a:solidFill>
        </p:spPr>
        <p:txBody>
          <a:bodyPr wrap="square" rtlCol="0"/>
          <a:lstStyle/>
          <a:p>
            <a:r>
              <a:rPr/>
              <a:t/>
            </a:r>
          </a:p>
        </p:txBody>
      </p:sp>
      <p:sp>
        <p:nvSpPr>
          <p:cNvPr id="16" name="TextBox 16">
            <a:extLst>
              <a:ext uri="{FF2B5EF4-FFF2-40B4-BE49-F238E27FC236}">
                <a16:creationId xmlns:a16="http://schemas.microsoft.com/office/drawing/2014/main" id="{7153849E-10DC-498F-9C6A-3F5E190C0038}"/>
              </a:ext>
            </a:extLst>
          </p:cNvPr>
          <p:cNvSpPr txBox="1"/>
          <p:nvPr/>
        </p:nvSpPr>
        <p:spPr>
          <a:xfrm>
            <a:off x="666750" y="2381250"/>
            <a:ext cx="2905125" cy="628650"/>
          </a:xfrm>
        </p:spPr>
        <p:txBody>
          <a:bodyPr wrap="square" rtlCol="0" lIns="0" tIns="0" rIns="0" bIns="0" anchor="t"/>
          <a:lstStyle/>
          <a:p>
            <a:pPr>
              <a:lnSpc>
                <a:spcPct val="112000"/>
              </a:lnSpc>
              <a:spcAft>
                <a:spcPts val="300"/>
              </a:spcAft>
            </a:pPr>
            <a:r>
              <a:rPr sz="1100" b="1">
                <a:solidFill>
                  <a:srgbClr val="243B45"/>
                </a:solidFill>
              </a:rPr>
              <a:t>R2 · Résistance des agents</a:t>
            </a:r>
          </a:p>
          <a:p>
            <a:pPr>
              <a:lnSpc>
                <a:spcPct val="112000"/>
              </a:lnSpc>
            </a:pPr>
            <a:r>
              <a:rPr sz="1000">
                <a:solidFill>
                  <a:srgbClr val="6B7C82"/>
                </a:solidFill>
              </a:rPr>
              <a:t>Probabilité moyenne · impact haut</a:t>
            </a:r>
          </a:p>
        </p:txBody>
      </p:sp>
      <p:sp>
        <p:nvSpPr>
          <p:cNvPr id="17" name="TextBox 17">
            <a:extLst>
              <a:ext uri="{FF2B5EF4-FFF2-40B4-BE49-F238E27FC236}">
                <a16:creationId xmlns:a16="http://schemas.microsoft.com/office/drawing/2014/main" id="{03B15CF2-5CA4-465B-933B-826814EE4A3F}"/>
              </a:ext>
            </a:extLst>
          </p:cNvPr>
          <p:cNvSpPr txBox="1"/>
          <p:nvPr/>
        </p:nvSpPr>
        <p:spPr>
          <a:xfrm>
            <a:off x="3667125" y="2381250"/>
            <a:ext cx="2619375" cy="628650"/>
          </a:xfrm>
        </p:spPr>
        <p:txBody>
          <a:bodyPr wrap="square" rtlCol="0" lIns="0" tIns="0" rIns="0" bIns="0" anchor="t"/>
          <a:lstStyle/>
          <a:p>
            <a:pPr>
              <a:lnSpc>
                <a:spcPct val="112000"/>
              </a:lnSpc>
            </a:pPr>
            <a:r>
              <a:rPr sz="1050">
                <a:solidFill>
                  <a:srgbClr val="243B45"/>
                </a:solidFill>
              </a:rPr>
              <a:t>Gains D3 / D4 ralentis : contournement de l'outil, double saisie maintenue.</a:t>
            </a:r>
          </a:p>
        </p:txBody>
      </p:sp>
      <p:sp>
        <p:nvSpPr>
          <p:cNvPr id="18" name="TextBox 18">
            <a:extLst>
              <a:ext uri="{FF2B5EF4-FFF2-40B4-BE49-F238E27FC236}">
                <a16:creationId xmlns:a16="http://schemas.microsoft.com/office/drawing/2014/main" id="{6F9D522D-9879-48BC-AED7-B6A8FB3041B9}"/>
              </a:ext>
            </a:extLst>
          </p:cNvPr>
          <p:cNvSpPr txBox="1"/>
          <p:nvPr/>
        </p:nvSpPr>
        <p:spPr>
          <a:xfrm>
            <a:off x="6429375" y="2381250"/>
            <a:ext cx="3667125" cy="628650"/>
          </a:xfrm>
        </p:spPr>
        <p:txBody>
          <a:bodyPr wrap="square" rtlCol="0" lIns="0" tIns="0" rIns="0" bIns="0" anchor="t"/>
          <a:lstStyle/>
          <a:p>
            <a:pPr>
              <a:lnSpc>
                <a:spcPct val="112000"/>
              </a:lnSpc>
            </a:pPr>
            <a:r>
              <a:rPr sz="1050">
                <a:solidFill>
                  <a:srgbClr val="243B45"/>
                </a:solidFill>
              </a:rPr>
              <a:t>Indicateurs de fluidité du parcours, jamais de notation individuelle — point validé dès le cadrage.</a:t>
            </a:r>
          </a:p>
        </p:txBody>
      </p:sp>
      <p:sp>
        <p:nvSpPr>
          <p:cNvPr id="19" name="TextBox 19">
            <a:extLst>
              <a:ext uri="{FF2B5EF4-FFF2-40B4-BE49-F238E27FC236}">
                <a16:creationId xmlns:a16="http://schemas.microsoft.com/office/drawing/2014/main" id="{347013BD-9CCA-44AA-95FA-2D4DCF0E13CB}"/>
              </a:ext>
            </a:extLst>
          </p:cNvPr>
          <p:cNvSpPr txBox="1"/>
          <p:nvPr/>
        </p:nvSpPr>
        <p:spPr>
          <a:xfrm>
            <a:off x="10239375" y="2381250"/>
            <a:ext cx="1333500" cy="628650"/>
          </a:xfrm>
        </p:spPr>
        <p:txBody>
          <a:bodyPr wrap="square" rtlCol="0" lIns="0" tIns="0" rIns="0" bIns="0" anchor="t"/>
          <a:lstStyle/>
          <a:p>
            <a:r>
              <a:rPr sz="1000">
                <a:solidFill>
                  <a:srgbClr val="B07D2B"/>
                </a:solidFill>
              </a:rPr>
              <a:t>taux d'usage réel du dossier unique</a:t>
            </a:r>
          </a:p>
        </p:txBody>
      </p:sp>
      <p:sp>
        <p:nvSpPr>
          <p:cNvPr id="20" name="Shape 20">
            <a:extLst>
              <a:ext uri="{FF2B5EF4-FFF2-40B4-BE49-F238E27FC236}">
                <a16:creationId xmlns:a16="http://schemas.microsoft.com/office/drawing/2014/main" id="{D6BE1084-42A3-4210-8C75-E78B6609E75B}"/>
              </a:ext>
            </a:extLst>
          </p:cNvPr>
          <p:cNvSpPr/>
          <p:nvPr/>
        </p:nvSpPr>
        <p:spPr>
          <a:xfrm>
            <a:off x="571500" y="3105150"/>
            <a:ext cx="11049000" cy="819150"/>
          </a:xfrm>
          <a:prstGeom prst="rect">
            <a:avLst/>
          </a:prstGeom>
          <a:solidFill>
            <a:srgbClr val="F7F2E7"/>
          </a:solidFill>
        </p:spPr>
        <p:txBody>
          <a:bodyPr wrap="square" rtlCol="0"/>
          <a:lstStyle/>
          <a:p>
            <a:r>
              <a:rPr/>
              <a:t/>
            </a:r>
          </a:p>
        </p:txBody>
      </p:sp>
      <p:sp>
        <p:nvSpPr>
          <p:cNvPr id="21" name="TextBox 21">
            <a:extLst>
              <a:ext uri="{FF2B5EF4-FFF2-40B4-BE49-F238E27FC236}">
                <a16:creationId xmlns:a16="http://schemas.microsoft.com/office/drawing/2014/main" id="{78F9839A-B9EA-461B-B989-914D79D0F5FB}"/>
              </a:ext>
            </a:extLst>
          </p:cNvPr>
          <p:cNvSpPr txBox="1"/>
          <p:nvPr/>
        </p:nvSpPr>
        <p:spPr>
          <a:xfrm>
            <a:off x="666750" y="3200400"/>
            <a:ext cx="2905125" cy="628650"/>
          </a:xfrm>
        </p:spPr>
        <p:txBody>
          <a:bodyPr wrap="square" rtlCol="0" lIns="0" tIns="0" rIns="0" bIns="0" anchor="t"/>
          <a:lstStyle/>
          <a:p>
            <a:pPr>
              <a:lnSpc>
                <a:spcPct val="112000"/>
              </a:lnSpc>
              <a:spcAft>
                <a:spcPts val="300"/>
              </a:spcAft>
            </a:pPr>
            <a:r>
              <a:rPr sz="1100" b="1">
                <a:solidFill>
                  <a:srgbClr val="243B45"/>
                </a:solidFill>
              </a:rPr>
              <a:t>R3 · Référentiel mal entretenu</a:t>
            </a:r>
          </a:p>
          <a:p>
            <a:pPr>
              <a:lnSpc>
                <a:spcPct val="112000"/>
              </a:lnSpc>
            </a:pPr>
            <a:r>
              <a:rPr sz="1000">
                <a:solidFill>
                  <a:srgbClr val="6B7C82"/>
                </a:solidFill>
              </a:rPr>
              <a:t>Probabilité moyenne · impact haut</a:t>
            </a:r>
          </a:p>
        </p:txBody>
      </p:sp>
      <p:sp>
        <p:nvSpPr>
          <p:cNvPr id="22" name="TextBox 22">
            <a:extLst>
              <a:ext uri="{FF2B5EF4-FFF2-40B4-BE49-F238E27FC236}">
                <a16:creationId xmlns:a16="http://schemas.microsoft.com/office/drawing/2014/main" id="{39FB3C67-6FB1-4845-8242-8ED5B1D58AA0}"/>
              </a:ext>
            </a:extLst>
          </p:cNvPr>
          <p:cNvSpPr txBox="1"/>
          <p:nvPr/>
        </p:nvSpPr>
        <p:spPr>
          <a:xfrm>
            <a:off x="3667125" y="3200400"/>
            <a:ext cx="2619375" cy="628650"/>
          </a:xfrm>
        </p:spPr>
        <p:txBody>
          <a:bodyPr wrap="square" rtlCol="0" lIns="0" tIns="0" rIns="0" bIns="0" anchor="t"/>
          <a:lstStyle/>
          <a:p>
            <a:pPr>
              <a:lnSpc>
                <a:spcPct val="112000"/>
              </a:lnSpc>
            </a:pPr>
            <a:r>
              <a:rPr sz="1050">
                <a:solidFill>
                  <a:srgbClr val="243B45"/>
                </a:solidFill>
              </a:rPr>
              <a:t>Gains D2 perdus : le blocage devient une source d'erreur systématique.</a:t>
            </a:r>
          </a:p>
        </p:txBody>
      </p:sp>
      <p:sp>
        <p:nvSpPr>
          <p:cNvPr id="23" name="TextBox 23">
            <a:extLst>
              <a:ext uri="{FF2B5EF4-FFF2-40B4-BE49-F238E27FC236}">
                <a16:creationId xmlns:a16="http://schemas.microsoft.com/office/drawing/2014/main" id="{30E6C337-2DFD-49E6-9416-ACCCE5BED68D}"/>
              </a:ext>
            </a:extLst>
          </p:cNvPr>
          <p:cNvSpPr txBox="1"/>
          <p:nvPr/>
        </p:nvSpPr>
        <p:spPr>
          <a:xfrm>
            <a:off x="6429375" y="3200400"/>
            <a:ext cx="3667125" cy="628650"/>
          </a:xfrm>
        </p:spPr>
        <p:txBody>
          <a:bodyPr wrap="square" rtlCol="0" lIns="0" tIns="0" rIns="0" bIns="0" anchor="t"/>
          <a:lstStyle/>
          <a:p>
            <a:pPr>
              <a:lnSpc>
                <a:spcPct val="112000"/>
              </a:lnSpc>
            </a:pPr>
            <a:r>
              <a:rPr sz="1050">
                <a:solidFill>
                  <a:srgbClr val="243B45"/>
                </a:solidFill>
              </a:rPr>
              <a:t>Paramétrage par les métiers, pas par l'IT, + revue semestrielle formalisée (US-05).</a:t>
            </a:r>
          </a:p>
        </p:txBody>
      </p:sp>
      <p:sp>
        <p:nvSpPr>
          <p:cNvPr id="24" name="TextBox 24">
            <a:extLst>
              <a:ext uri="{FF2B5EF4-FFF2-40B4-BE49-F238E27FC236}">
                <a16:creationId xmlns:a16="http://schemas.microsoft.com/office/drawing/2014/main" id="{5A2697B1-FC56-482D-B419-93288C80F4E5}"/>
              </a:ext>
            </a:extLst>
          </p:cNvPr>
          <p:cNvSpPr txBox="1"/>
          <p:nvPr/>
        </p:nvSpPr>
        <p:spPr>
          <a:xfrm>
            <a:off x="10239375" y="3200400"/>
            <a:ext cx="1333500" cy="628650"/>
          </a:xfrm>
        </p:spPr>
        <p:txBody>
          <a:bodyPr wrap="square" rtlCol="0" lIns="0" tIns="0" rIns="0" bIns="0" anchor="t"/>
          <a:lstStyle/>
          <a:p>
            <a:r>
              <a:rPr sz="1000">
                <a:solidFill>
                  <a:srgbClr val="B07D2B"/>
                </a:solidFill>
              </a:rPr>
              <a:t>date de dernière revue, nb de types couverts</a:t>
            </a:r>
          </a:p>
        </p:txBody>
      </p:sp>
      <p:sp>
        <p:nvSpPr>
          <p:cNvPr id="25" name="Shape 25">
            <a:extLst>
              <a:ext uri="{FF2B5EF4-FFF2-40B4-BE49-F238E27FC236}">
                <a16:creationId xmlns:a16="http://schemas.microsoft.com/office/drawing/2014/main" id="{E9733970-E3C8-4513-99CB-DBADFEAEB167}"/>
              </a:ext>
            </a:extLst>
          </p:cNvPr>
          <p:cNvSpPr/>
          <p:nvPr/>
        </p:nvSpPr>
        <p:spPr>
          <a:xfrm>
            <a:off x="571500" y="3924300"/>
            <a:ext cx="11049000" cy="819150"/>
          </a:xfrm>
          <a:prstGeom prst="rect">
            <a:avLst/>
          </a:prstGeom>
          <a:solidFill>
            <a:srgbClr val="FFFFFF"/>
          </a:solidFill>
        </p:spPr>
        <p:txBody>
          <a:bodyPr wrap="square" rtlCol="0"/>
          <a:lstStyle/>
          <a:p>
            <a:r>
              <a:rPr/>
              <a:t/>
            </a:r>
          </a:p>
        </p:txBody>
      </p:sp>
      <p:sp>
        <p:nvSpPr>
          <p:cNvPr id="26" name="TextBox 26">
            <a:extLst>
              <a:ext uri="{FF2B5EF4-FFF2-40B4-BE49-F238E27FC236}">
                <a16:creationId xmlns:a16="http://schemas.microsoft.com/office/drawing/2014/main" id="{B07D4652-F309-4BDB-8FAA-0BEF92DA48CA}"/>
              </a:ext>
            </a:extLst>
          </p:cNvPr>
          <p:cNvSpPr txBox="1"/>
          <p:nvPr/>
        </p:nvSpPr>
        <p:spPr>
          <a:xfrm>
            <a:off x="666750" y="4019550"/>
            <a:ext cx="2905125" cy="628650"/>
          </a:xfrm>
        </p:spPr>
        <p:txBody>
          <a:bodyPr wrap="square" rtlCol="0" lIns="0" tIns="0" rIns="0" bIns="0" anchor="t"/>
          <a:lstStyle/>
          <a:p>
            <a:pPr>
              <a:lnSpc>
                <a:spcPct val="112000"/>
              </a:lnSpc>
              <a:spcAft>
                <a:spcPts val="300"/>
              </a:spcAft>
            </a:pPr>
            <a:r>
              <a:rPr sz="1100" b="1">
                <a:solidFill>
                  <a:srgbClr val="243B45"/>
                </a:solidFill>
              </a:rPr>
              <a:t>R4 · Dérive fonctionnelle</a:t>
            </a:r>
          </a:p>
          <a:p>
            <a:pPr>
              <a:lnSpc>
                <a:spcPct val="112000"/>
              </a:lnSpc>
            </a:pPr>
            <a:r>
              <a:rPr sz="1000">
                <a:solidFill>
                  <a:srgbClr val="6B7C82"/>
                </a:solidFill>
              </a:rPr>
              <a:t>Probabilité moyenne · impact moyen</a:t>
            </a:r>
          </a:p>
        </p:txBody>
      </p:sp>
      <p:sp>
        <p:nvSpPr>
          <p:cNvPr id="27" name="TextBox 27">
            <a:extLst>
              <a:ext uri="{FF2B5EF4-FFF2-40B4-BE49-F238E27FC236}">
                <a16:creationId xmlns:a16="http://schemas.microsoft.com/office/drawing/2014/main" id="{CB7CCB62-CFD1-4064-A661-6E155A69A310}"/>
              </a:ext>
            </a:extLst>
          </p:cNvPr>
          <p:cNvSpPr txBox="1"/>
          <p:nvPr/>
        </p:nvSpPr>
        <p:spPr>
          <a:xfrm>
            <a:off x="3667125" y="4019550"/>
            <a:ext cx="2619375" cy="628650"/>
          </a:xfrm>
        </p:spPr>
        <p:txBody>
          <a:bodyPr wrap="square" rtlCol="0" lIns="0" tIns="0" rIns="0" bIns="0" anchor="t"/>
          <a:lstStyle/>
          <a:p>
            <a:pPr>
              <a:lnSpc>
                <a:spcPct val="112000"/>
              </a:lnSpc>
            </a:pPr>
            <a:r>
              <a:rPr sz="1050">
                <a:solidFill>
                  <a:srgbClr val="243B45"/>
                </a:solidFill>
              </a:rPr>
              <a:t>Investissement de 610 kDT gonflé, calendrier de 6 mois déréglé.</a:t>
            </a:r>
          </a:p>
        </p:txBody>
      </p:sp>
      <p:sp>
        <p:nvSpPr>
          <p:cNvPr id="28" name="TextBox 28">
            <a:extLst>
              <a:ext uri="{FF2B5EF4-FFF2-40B4-BE49-F238E27FC236}">
                <a16:creationId xmlns:a16="http://schemas.microsoft.com/office/drawing/2014/main" id="{7A8AD3DF-FA85-4376-9F92-84B8033F3F96}"/>
              </a:ext>
            </a:extLst>
          </p:cNvPr>
          <p:cNvSpPr txBox="1"/>
          <p:nvPr/>
        </p:nvSpPr>
        <p:spPr>
          <a:xfrm>
            <a:off x="6429375" y="4019550"/>
            <a:ext cx="3667125" cy="628650"/>
          </a:xfrm>
        </p:spPr>
        <p:txBody>
          <a:bodyPr wrap="square" rtlCol="0" lIns="0" tIns="0" rIns="0" bIns="0" anchor="t"/>
          <a:lstStyle/>
          <a:p>
            <a:pPr>
              <a:lnSpc>
                <a:spcPct val="112000"/>
              </a:lnSpc>
            </a:pPr>
            <a:r>
              <a:rPr sz="1050">
                <a:solidFill>
                  <a:srgbClr val="243B45"/>
                </a:solidFill>
              </a:rPr>
              <a:t>Tout ajout repasse par le backlog MoSCoW et l'arbitrage sponsor : la porte est fermée par construction.</a:t>
            </a:r>
          </a:p>
        </p:txBody>
      </p:sp>
      <p:sp>
        <p:nvSpPr>
          <p:cNvPr id="29" name="TextBox 29">
            <a:extLst>
              <a:ext uri="{FF2B5EF4-FFF2-40B4-BE49-F238E27FC236}">
                <a16:creationId xmlns:a16="http://schemas.microsoft.com/office/drawing/2014/main" id="{0A06D666-BF43-4A97-97BC-8BEA71EB42D4}"/>
              </a:ext>
            </a:extLst>
          </p:cNvPr>
          <p:cNvSpPr txBox="1"/>
          <p:nvPr/>
        </p:nvSpPr>
        <p:spPr>
          <a:xfrm>
            <a:off x="10239375" y="4019550"/>
            <a:ext cx="1333500" cy="628650"/>
          </a:xfrm>
        </p:spPr>
        <p:txBody>
          <a:bodyPr wrap="square" rtlCol="0" lIns="0" tIns="0" rIns="0" bIns="0" anchor="t"/>
          <a:lstStyle/>
          <a:p>
            <a:r>
              <a:rPr sz="1000">
                <a:solidFill>
                  <a:srgbClr val="B07D2B"/>
                </a:solidFill>
              </a:rPr>
              <a:t>points ajoutés hors MVP, par sprint</a:t>
            </a:r>
          </a:p>
        </p:txBody>
      </p:sp>
      <p:sp>
        <p:nvSpPr>
          <p:cNvPr id="30" name="TextBox 30">
            <a:extLst>
              <a:ext uri="{FF2B5EF4-FFF2-40B4-BE49-F238E27FC236}">
                <a16:creationId xmlns:a16="http://schemas.microsoft.com/office/drawing/2014/main" id="{E6738EEC-8267-4408-96DE-0C24950489BD}"/>
              </a:ext>
            </a:extLst>
          </p:cNvPr>
          <p:cNvSpPr txBox="1"/>
          <p:nvPr/>
        </p:nvSpPr>
        <p:spPr>
          <a:xfrm>
            <a:off x="571500" y="4914900"/>
            <a:ext cx="6667500" cy="209550"/>
          </a:xfrm>
        </p:spPr>
        <p:txBody>
          <a:bodyPr wrap="square" rtlCol="0" lIns="0" tIns="0" rIns="0" bIns="0" anchor="t"/>
          <a:lstStyle/>
          <a:p>
            <a:r>
              <a:rPr sz="1100" b="1">
                <a:solidFill>
                  <a:srgbClr val="2E7D8C"/>
                </a:solidFill>
              </a:rPr>
              <a:t>LE LEVIER DEPISE LE RISQUE : LE PILOTAGE PAR LES INDICATEURS O1-A4</a:t>
            </a:r>
          </a:p>
        </p:txBody>
      </p:sp>
      <p:sp>
        <p:nvSpPr>
          <p:cNvPr id="31" name="Shape 31">
            <a:extLst>
              <a:ext uri="{FF2B5EF4-FFF2-40B4-BE49-F238E27FC236}">
                <a16:creationId xmlns:a16="http://schemas.microsoft.com/office/drawing/2014/main" id="{AA5DE290-9219-429D-A9BC-30AE63285B3D}"/>
              </a:ext>
            </a:extLst>
          </p:cNvPr>
          <p:cNvSpPr/>
          <p:nvPr/>
        </p:nvSpPr>
        <p:spPr>
          <a:xfrm>
            <a:off x="571500" y="5162550"/>
            <a:ext cx="2619375" cy="628650"/>
          </a:xfrm>
          <a:prstGeom prst="roundRect">
            <a:avLst/>
          </a:prstGeom>
          <a:solidFill>
            <a:srgbClr val="EAF3F5"/>
          </a:solidFill>
        </p:spPr>
        <p:txBody>
          <a:bodyPr wrap="square" rtlCol="0"/>
          <a:lstStyle/>
          <a:p>
            <a:r>
              <a:rPr/>
              <a:t/>
            </a:r>
          </a:p>
        </p:txBody>
      </p:sp>
      <p:sp>
        <p:nvSpPr>
          <p:cNvPr id="32" name="Shape 32">
            <a:extLst>
              <a:ext uri="{FF2B5EF4-FFF2-40B4-BE49-F238E27FC236}">
                <a16:creationId xmlns:a16="http://schemas.microsoft.com/office/drawing/2014/main" id="{638E394F-30D1-43E8-8F0B-CDAA11437499}"/>
              </a:ext>
            </a:extLst>
          </p:cNvPr>
          <p:cNvSpPr/>
          <p:nvPr/>
        </p:nvSpPr>
        <p:spPr>
          <a:xfrm>
            <a:off x="3381375" y="5162550"/>
            <a:ext cx="2619375" cy="628650"/>
          </a:xfrm>
          <a:prstGeom prst="roundRect">
            <a:avLst/>
          </a:prstGeom>
          <a:solidFill>
            <a:srgbClr val="EAF3F5"/>
          </a:solidFill>
        </p:spPr>
        <p:txBody>
          <a:bodyPr wrap="square" rtlCol="0"/>
          <a:lstStyle/>
          <a:p>
            <a:r>
              <a:rPr/>
              <a:t/>
            </a:r>
          </a:p>
        </p:txBody>
      </p:sp>
      <p:sp>
        <p:nvSpPr>
          <p:cNvPr id="33" name="Shape 33">
            <a:extLst>
              <a:ext uri="{FF2B5EF4-FFF2-40B4-BE49-F238E27FC236}">
                <a16:creationId xmlns:a16="http://schemas.microsoft.com/office/drawing/2014/main" id="{0CA33923-5FA9-46E4-887E-26C28F92F06B}"/>
              </a:ext>
            </a:extLst>
          </p:cNvPr>
          <p:cNvSpPr/>
          <p:nvPr/>
        </p:nvSpPr>
        <p:spPr>
          <a:xfrm>
            <a:off x="6191250" y="5162550"/>
            <a:ext cx="2619375" cy="628650"/>
          </a:xfrm>
          <a:prstGeom prst="roundRect">
            <a:avLst/>
          </a:prstGeom>
          <a:solidFill>
            <a:srgbClr val="EAF3F5"/>
          </a:solidFill>
        </p:spPr>
        <p:txBody>
          <a:bodyPr wrap="square" rtlCol="0"/>
          <a:lstStyle/>
          <a:p>
            <a:r>
              <a:rPr/>
              <a:t/>
            </a:r>
          </a:p>
        </p:txBody>
      </p:sp>
      <p:sp>
        <p:nvSpPr>
          <p:cNvPr id="34" name="Shape 34">
            <a:extLst>
              <a:ext uri="{FF2B5EF4-FFF2-40B4-BE49-F238E27FC236}">
                <a16:creationId xmlns:a16="http://schemas.microsoft.com/office/drawing/2014/main" id="{1410D9D2-7621-47B4-A8C7-55906B903017}"/>
              </a:ext>
            </a:extLst>
          </p:cNvPr>
          <p:cNvSpPr/>
          <p:nvPr/>
        </p:nvSpPr>
        <p:spPr>
          <a:xfrm>
            <a:off x="9001125" y="5162550"/>
            <a:ext cx="2619375" cy="628650"/>
          </a:xfrm>
          <a:prstGeom prst="roundRect">
            <a:avLst/>
          </a:prstGeom>
          <a:solidFill>
            <a:srgbClr val="EAF3F5"/>
          </a:solidFill>
        </p:spPr>
        <p:txBody>
          <a:bodyPr wrap="square" rtlCol="0"/>
          <a:lstStyle/>
          <a:p>
            <a:r>
              <a:rPr/>
              <a:t/>
            </a:r>
          </a:p>
        </p:txBody>
      </p:sp>
      <p:sp>
        <p:nvSpPr>
          <p:cNvPr id="35" name="TextBox 35">
            <a:extLst>
              <a:ext uri="{FF2B5EF4-FFF2-40B4-BE49-F238E27FC236}">
                <a16:creationId xmlns:a16="http://schemas.microsoft.com/office/drawing/2014/main" id="{A992ED13-1BE0-4354-995D-79B752A23093}"/>
              </a:ext>
            </a:extLst>
          </p:cNvPr>
          <p:cNvSpPr txBox="1"/>
          <p:nvPr/>
        </p:nvSpPr>
        <p:spPr>
          <a:xfrm>
            <a:off x="704850" y="5257800"/>
            <a:ext cx="2333625" cy="476250"/>
          </a:xfrm>
        </p:spPr>
        <p:txBody>
          <a:bodyPr wrap="square" rtlCol="0" lIns="0" tIns="0" rIns="0" bIns="0" anchor="t"/>
          <a:lstStyle/>
          <a:p>
            <a:pPr>
              <a:lnSpc>
                <a:spcPct val="112000"/>
              </a:lnSpc>
              <a:spcAft>
                <a:spcPts val="300"/>
              </a:spcAft>
            </a:pPr>
            <a:r>
              <a:rPr sz="1150" b="1">
                <a:solidFill>
                  <a:srgbClr val="1F4E5F"/>
                </a:solidFill>
              </a:rPr>
              <a:t>O1 · Délai de décision</a:t>
            </a:r>
          </a:p>
          <a:p>
            <a:pPr>
              <a:lnSpc>
                <a:spcPct val="112000"/>
              </a:lnSpc>
            </a:pPr>
            <a:r>
              <a:rPr sz="1000">
                <a:solidFill>
                  <a:srgbClr val="243B45"/>
                </a:solidFill>
              </a:rPr>
              <a:t>12 j → ≤ 5 j · alerte &gt; 7 j</a:t>
            </a:r>
          </a:p>
        </p:txBody>
      </p:sp>
      <p:sp>
        <p:nvSpPr>
          <p:cNvPr id="36" name="TextBox 36">
            <a:extLst>
              <a:ext uri="{FF2B5EF4-FFF2-40B4-BE49-F238E27FC236}">
                <a16:creationId xmlns:a16="http://schemas.microsoft.com/office/drawing/2014/main" id="{7ABAC3B0-D90F-4712-BE38-64C2408738CD}"/>
              </a:ext>
            </a:extLst>
          </p:cNvPr>
          <p:cNvSpPr txBox="1"/>
          <p:nvPr/>
        </p:nvSpPr>
        <p:spPr>
          <a:xfrm>
            <a:off x="3514725" y="5257800"/>
            <a:ext cx="2333625" cy="476250"/>
          </a:xfrm>
        </p:spPr>
        <p:txBody>
          <a:bodyPr wrap="square" rtlCol="0" lIns="0" tIns="0" rIns="0" bIns="0" anchor="t"/>
          <a:lstStyle/>
          <a:p>
            <a:pPr>
              <a:lnSpc>
                <a:spcPct val="112000"/>
              </a:lnSpc>
              <a:spcAft>
                <a:spcPts val="300"/>
              </a:spcAft>
            </a:pPr>
            <a:r>
              <a:rPr sz="1150" b="1">
                <a:solidFill>
                  <a:srgbClr val="1F4E5F"/>
                </a:solidFill>
              </a:rPr>
              <a:t>O2 · Dossiers incomplets</a:t>
            </a:r>
          </a:p>
          <a:p>
            <a:pPr>
              <a:lnSpc>
                <a:spcPct val="112000"/>
              </a:lnSpc>
            </a:pPr>
            <a:r>
              <a:rPr sz="1000">
                <a:solidFill>
                  <a:srgbClr val="243B45"/>
                </a:solidFill>
              </a:rPr>
              <a:t>35 % → ≤ 10 % · alerte &gt; 15 %</a:t>
            </a:r>
          </a:p>
        </p:txBody>
      </p:sp>
      <p:sp>
        <p:nvSpPr>
          <p:cNvPr id="37" name="TextBox 37">
            <a:extLst>
              <a:ext uri="{FF2B5EF4-FFF2-40B4-BE49-F238E27FC236}">
                <a16:creationId xmlns:a16="http://schemas.microsoft.com/office/drawing/2014/main" id="{D4CDD0B9-A122-4948-B83B-B965A50045F2}"/>
              </a:ext>
            </a:extLst>
          </p:cNvPr>
          <p:cNvSpPr txBox="1"/>
          <p:nvPr/>
        </p:nvSpPr>
        <p:spPr>
          <a:xfrm>
            <a:off x="6324600" y="5257800"/>
            <a:ext cx="2333625" cy="476250"/>
          </a:xfrm>
        </p:spPr>
        <p:txBody>
          <a:bodyPr wrap="square" rtlCol="0" lIns="0" tIns="0" rIns="0" bIns="0" anchor="t"/>
          <a:lstStyle/>
          <a:p>
            <a:pPr>
              <a:lnSpc>
                <a:spcPct val="112000"/>
              </a:lnSpc>
              <a:spcAft>
                <a:spcPts val="300"/>
              </a:spcAft>
            </a:pPr>
            <a:r>
              <a:rPr sz="1150" b="1">
                <a:solidFill>
                  <a:srgbClr val="1F4E5F"/>
                </a:solidFill>
              </a:rPr>
              <a:t>O3 · Adoption du canal</a:t>
            </a:r>
          </a:p>
          <a:p>
            <a:pPr>
              <a:lnSpc>
                <a:spcPct val="112000"/>
              </a:lnSpc>
            </a:pPr>
            <a:r>
              <a:rPr sz="1000">
                <a:solidFill>
                  <a:srgbClr val="243B45"/>
                </a:solidFill>
              </a:rPr>
              <a:t>cible ≥ 50 % à 12 mois</a:t>
            </a:r>
          </a:p>
        </p:txBody>
      </p:sp>
      <p:sp>
        <p:nvSpPr>
          <p:cNvPr id="38" name="TextBox 38">
            <a:extLst>
              <a:ext uri="{FF2B5EF4-FFF2-40B4-BE49-F238E27FC236}">
                <a16:creationId xmlns:a16="http://schemas.microsoft.com/office/drawing/2014/main" id="{1918E305-9C27-445F-9E62-3A939F231751}"/>
              </a:ext>
            </a:extLst>
          </p:cNvPr>
          <p:cNvSpPr txBox="1"/>
          <p:nvPr/>
        </p:nvSpPr>
        <p:spPr>
          <a:xfrm>
            <a:off x="9134475" y="5257800"/>
            <a:ext cx="2333625" cy="476250"/>
          </a:xfrm>
        </p:spPr>
        <p:txBody>
          <a:bodyPr wrap="square" rtlCol="0" lIns="0" tIns="0" rIns="0" bIns="0" anchor="t"/>
          <a:lstStyle/>
          <a:p>
            <a:pPr>
              <a:lnSpc>
                <a:spcPct val="112000"/>
              </a:lnSpc>
              <a:spcAft>
                <a:spcPts val="300"/>
              </a:spcAft>
            </a:pPr>
            <a:r>
              <a:rPr sz="1150" b="1">
                <a:solidFill>
                  <a:srgbClr val="1F4E5F"/>
                </a:solidFill>
              </a:rPr>
              <a:t>O4 · Satisfaction client</a:t>
            </a:r>
          </a:p>
          <a:p>
            <a:pPr>
              <a:lnSpc>
                <a:spcPct val="112000"/>
              </a:lnSpc>
            </a:pPr>
            <a:r>
              <a:rPr sz="1000">
                <a:solidFill>
                  <a:srgbClr val="243B45"/>
                </a:solidFill>
              </a:rPr>
              <a:t>mesure nouvelle : elle n'existait pas</a:t>
            </a:r>
          </a:p>
        </p:txBody>
      </p:sp>
      <p:sp>
        <p:nvSpPr>
          <p:cNvPr id="39" name="TextBox 39">
            <a:extLst>
              <a:ext uri="{FF2B5EF4-FFF2-40B4-BE49-F238E27FC236}">
                <a16:creationId xmlns:a16="http://schemas.microsoft.com/office/drawing/2014/main" id="{36841D87-82E6-48C0-8C38-AD850BD9E3F2}"/>
              </a:ext>
            </a:extLst>
          </p:cNvPr>
          <p:cNvSpPr txBox="1"/>
          <p:nvPr/>
        </p:nvSpPr>
        <p:spPr>
          <a:xfrm>
            <a:off x="571500" y="6362700"/>
            <a:ext cx="6667500" cy="190500"/>
          </a:xfrm>
        </p:spPr>
        <p:txBody>
          <a:bodyPr wrap="square" rtlCol="0" lIns="0" tIns="0" rIns="0" bIns="0" anchor="t"/>
          <a:lstStyle/>
          <a:p>
            <a:r>
              <a:rPr sz="1000" i="1">
                <a:solidFill>
                  <a:srgbClr val="9AA6AC"/>
                </a:solidFill>
              </a:rPr>
              <a:t>Sources : BRD §9 risques (16 nov. 2026) · business case §7 (20 nov. 2026).</a:t>
            </a:r>
          </a:p>
        </p:txBody>
      </p:sp>
      <p:sp>
        <p:nvSpPr>
          <p:cNvPr id="40" name="TextBox 40">
            <a:extLst>
              <a:ext uri="{FF2B5EF4-FFF2-40B4-BE49-F238E27FC236}">
                <a16:creationId xmlns:a16="http://schemas.microsoft.com/office/drawing/2014/main" id="{863AFACD-9D84-421E-8819-4C2856B34967}"/>
              </a:ext>
            </a:extLst>
          </p:cNvPr>
          <p:cNvSpPr txBox="1"/>
          <p:nvPr/>
        </p:nvSpPr>
        <p:spPr>
          <a:xfrm>
            <a:off x="11239500" y="6362700"/>
            <a:ext cx="381000" cy="190500"/>
          </a:xfrm>
        </p:spPr>
        <p:txBody>
          <a:bodyPr wrap="square" rtlCol="0" lIns="0" tIns="0" rIns="0" bIns="0" anchor="t"/>
          <a:lstStyle/>
          <a:p>
            <a:pPr algn="r"/>
            <a:r>
              <a:rPr sz="1000">
                <a:solidFill>
                  <a:srgbClr val="9AA6AC"/>
                </a:solidFill>
              </a:rPr>
              <a:t>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F4E5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55DEF8F3-8ABB-4561-A8B1-39745B3EA0ED}"/>
              </a:ext>
            </a:extLst>
          </p:cNvPr>
          <p:cNvSpPr txBox="1"/>
          <p:nvPr/>
        </p:nvSpPr>
        <p:spPr>
          <a:xfrm>
            <a:off x="571500" y="457200"/>
            <a:ext cx="5905500" cy="209550"/>
          </a:xfrm>
        </p:spPr>
        <p:txBody>
          <a:bodyPr wrap="square" rtlCol="0" lIns="0" tIns="0" rIns="0" bIns="0" anchor="t"/>
          <a:lstStyle/>
          <a:p>
            <a:r>
              <a:rPr sz="1100" b="1">
                <a:solidFill>
                  <a:srgbClr val="B8D4DC"/>
                </a:solidFill>
              </a:rPr>
              <a:t>RECOMMANDATION FINALE · A LIRE AVEC LE BUSINESS CASE</a:t>
            </a:r>
          </a:p>
        </p:txBody>
      </p:sp>
      <p:sp>
        <p:nvSpPr>
          <p:cNvPr id="4" name="TextBox 4">
            <a:extLst>
              <a:ext uri="{FF2B5EF4-FFF2-40B4-BE49-F238E27FC236}">
                <a16:creationId xmlns:a16="http://schemas.microsoft.com/office/drawing/2014/main" id="{C7C57B97-9A35-41FA-AED0-CD13FB14A1A1}"/>
              </a:ext>
            </a:extLst>
          </p:cNvPr>
          <p:cNvSpPr txBox="1"/>
          <p:nvPr/>
        </p:nvSpPr>
        <p:spPr>
          <a:xfrm>
            <a:off x="571500" y="723900"/>
            <a:ext cx="11049000" cy="419100"/>
          </a:xfrm>
        </p:spPr>
        <p:txBody>
          <a:bodyPr wrap="square" rtlCol="0" lIns="0" tIns="0" rIns="0" bIns="0" anchor="t"/>
          <a:lstStyle/>
          <a:p>
            <a:r>
              <a:rPr sz="2200" b="1">
                <a:solidFill>
                  <a:srgbClr val="FFFFFF"/>
                </a:solidFill>
              </a:rPr>
              <a:t>Lancer le projet, en commençant par le MVP qui porte les gains et le risque</a:t>
            </a:r>
          </a:p>
        </p:txBody>
      </p:sp>
      <p:sp>
        <p:nvSpPr>
          <p:cNvPr id="5" name="TextBox 5">
            <a:extLst>
              <a:ext uri="{FF2B5EF4-FFF2-40B4-BE49-F238E27FC236}">
                <a16:creationId xmlns:a16="http://schemas.microsoft.com/office/drawing/2014/main" id="{192BD4B5-55A4-4F4C-81A0-FF2142C15C64}"/>
              </a:ext>
            </a:extLst>
          </p:cNvPr>
          <p:cNvSpPr txBox="1"/>
          <p:nvPr/>
        </p:nvSpPr>
        <p:spPr>
          <a:xfrm>
            <a:off x="571500" y="1333500"/>
            <a:ext cx="4762500" cy="209550"/>
          </a:xfrm>
        </p:spPr>
        <p:txBody>
          <a:bodyPr wrap="square" rtlCol="0" lIns="0" tIns="0" rIns="0" bIns="0" anchor="t"/>
          <a:lstStyle/>
          <a:p>
            <a:r>
              <a:rPr sz="1100" b="1">
                <a:solidFill>
                  <a:srgbClr val="7FB6C4"/>
                </a:solidFill>
              </a:rPr>
              <a:t>TROIS DECISIONS ATTENDUES DU SPONSOR</a:t>
            </a:r>
          </a:p>
        </p:txBody>
      </p:sp>
      <p:sp>
        <p:nvSpPr>
          <p:cNvPr id="6" name="Shape 6">
            <a:extLst>
              <a:ext uri="{FF2B5EF4-FFF2-40B4-BE49-F238E27FC236}">
                <a16:creationId xmlns:a16="http://schemas.microsoft.com/office/drawing/2014/main" id="{41A0D56D-8591-423E-AE24-3A415075CEAE}"/>
              </a:ext>
            </a:extLst>
          </p:cNvPr>
          <p:cNvSpPr/>
          <p:nvPr/>
        </p:nvSpPr>
        <p:spPr>
          <a:xfrm>
            <a:off x="571500" y="1600200"/>
            <a:ext cx="6477000" cy="1028700"/>
          </a:xfrm>
          <a:prstGeom prst="roundRect">
            <a:avLst/>
          </a:prstGeom>
          <a:solidFill>
            <a:srgbClr val="243B45"/>
          </a:solidFill>
        </p:spPr>
        <p:txBody>
          <a:bodyPr wrap="square" rtlCol="0"/>
          <a:lstStyle/>
          <a:p>
            <a:r>
              <a:rPr/>
              <a:t/>
            </a:r>
          </a:p>
        </p:txBody>
      </p:sp>
      <p:sp>
        <p:nvSpPr>
          <p:cNvPr id="7" name="Shape 7">
            <a:extLst>
              <a:ext uri="{FF2B5EF4-FFF2-40B4-BE49-F238E27FC236}">
                <a16:creationId xmlns:a16="http://schemas.microsoft.com/office/drawing/2014/main" id="{CFFE29A8-8F32-4989-8DC7-9AF8563CC17B}"/>
              </a:ext>
            </a:extLst>
          </p:cNvPr>
          <p:cNvSpPr/>
          <p:nvPr/>
        </p:nvSpPr>
        <p:spPr>
          <a:xfrm>
            <a:off x="571500" y="2743200"/>
            <a:ext cx="6477000" cy="1028700"/>
          </a:xfrm>
          <a:prstGeom prst="roundRect">
            <a:avLst/>
          </a:prstGeom>
          <a:solidFill>
            <a:srgbClr val="243B45"/>
          </a:solidFill>
        </p:spPr>
        <p:txBody>
          <a:bodyPr wrap="square" rtlCol="0"/>
          <a:lstStyle/>
          <a:p>
            <a:r>
              <a:rPr/>
              <a:t/>
            </a:r>
          </a:p>
        </p:txBody>
      </p:sp>
      <p:sp>
        <p:nvSpPr>
          <p:cNvPr id="8" name="Shape 8">
            <a:extLst>
              <a:ext uri="{FF2B5EF4-FFF2-40B4-BE49-F238E27FC236}">
                <a16:creationId xmlns:a16="http://schemas.microsoft.com/office/drawing/2014/main" id="{9CB1E812-DCCB-4D19-AFB7-65A321DB406A}"/>
              </a:ext>
            </a:extLst>
          </p:cNvPr>
          <p:cNvSpPr/>
          <p:nvPr/>
        </p:nvSpPr>
        <p:spPr>
          <a:xfrm>
            <a:off x="571500" y="3886200"/>
            <a:ext cx="6477000" cy="1028700"/>
          </a:xfrm>
          <a:prstGeom prst="roundRect">
            <a:avLst/>
          </a:prstGeom>
          <a:solidFill>
            <a:srgbClr val="243B45"/>
          </a:solidFill>
        </p:spPr>
        <p:txBody>
          <a:bodyPr wrap="square" rtlCol="0"/>
          <a:lstStyle/>
          <a:p>
            <a:r>
              <a:rPr/>
              <a:t/>
            </a:r>
          </a:p>
        </p:txBody>
      </p:sp>
      <p:sp>
        <p:nvSpPr>
          <p:cNvPr id="9" name="TextBox 9">
            <a:extLst>
              <a:ext uri="{FF2B5EF4-FFF2-40B4-BE49-F238E27FC236}">
                <a16:creationId xmlns:a16="http://schemas.microsoft.com/office/drawing/2014/main" id="{029062CF-2661-4951-A10E-589316BC2A9F}"/>
              </a:ext>
            </a:extLst>
          </p:cNvPr>
          <p:cNvSpPr txBox="1"/>
          <p:nvPr/>
        </p:nvSpPr>
        <p:spPr>
          <a:xfrm>
            <a:off x="762000" y="1714500"/>
            <a:ext cx="6000750" cy="838200"/>
          </a:xfrm>
        </p:spPr>
        <p:txBody>
          <a:bodyPr wrap="square" rtlCol="0" lIns="0" tIns="0" rIns="0" bIns="0" anchor="t"/>
          <a:lstStyle/>
          <a:p>
            <a:pPr>
              <a:lnSpc>
                <a:spcPct val="112000"/>
              </a:lnSpc>
              <a:spcAft>
                <a:spcPts val="400"/>
              </a:spcAft>
            </a:pPr>
            <a:r>
              <a:rPr sz="1300" b="1">
                <a:solidFill>
                  <a:srgbClr val="FFFFFF"/>
                </a:solidFill>
              </a:rPr>
              <a:t>1 · Budget et calendrier</a:t>
            </a:r>
          </a:p>
          <a:p>
            <a:pPr>
              <a:lnSpc>
                <a:spcPct val="114000"/>
              </a:lnSpc>
            </a:pPr>
            <a:r>
              <a:rPr sz="1100">
                <a:solidFill>
                  <a:srgbClr val="D8E6EA"/>
                </a:solidFill>
              </a:rPr>
              <a:t>Enveloppe de 610 000 DT en année 0, 135 000 DT par an ensuite, sur un calendrier de six mois. Retour sur trois ans sur la seule productivité administrative.</a:t>
            </a:r>
          </a:p>
        </p:txBody>
      </p:sp>
      <p:sp>
        <p:nvSpPr>
          <p:cNvPr id="10" name="TextBox 10">
            <a:extLst>
              <a:ext uri="{FF2B5EF4-FFF2-40B4-BE49-F238E27FC236}">
                <a16:creationId xmlns:a16="http://schemas.microsoft.com/office/drawing/2014/main" id="{F2615BA3-2703-4899-98B5-A1408FFBBAAE}"/>
              </a:ext>
            </a:extLst>
          </p:cNvPr>
          <p:cNvSpPr txBox="1"/>
          <p:nvPr/>
        </p:nvSpPr>
        <p:spPr>
          <a:xfrm>
            <a:off x="762000" y="2857500"/>
            <a:ext cx="6000750" cy="838200"/>
          </a:xfrm>
        </p:spPr>
        <p:txBody>
          <a:bodyPr wrap="square" rtlCol="0" lIns="0" tIns="0" rIns="0" bIns="0" anchor="t"/>
          <a:lstStyle/>
          <a:p>
            <a:pPr>
              <a:lnSpc>
                <a:spcPct val="112000"/>
              </a:lnSpc>
              <a:spcAft>
                <a:spcPts val="400"/>
              </a:spcAft>
            </a:pPr>
            <a:r>
              <a:rPr sz="1300" b="1">
                <a:solidFill>
                  <a:srgbClr val="FFFFFF"/>
                </a:solidFill>
              </a:rPr>
              <a:t>2 · Perimetre du MVP</a:t>
            </a:r>
          </a:p>
          <a:p>
            <a:pPr>
              <a:lnSpc>
                <a:spcPct val="114000"/>
              </a:lnSpc>
            </a:pPr>
            <a:r>
              <a:rPr sz="1100">
                <a:solidFill>
                  <a:srgbClr val="D8E6EA"/>
                </a:solidFill>
              </a:rPr>
              <a:t>Sprint 1 validé tel quel : dépôt tous canaux, référentiel de complétude, blocage des dossiers incomplets, consentement. Tout ajout passe par arbitrage, pas par exception.</a:t>
            </a:r>
          </a:p>
        </p:txBody>
      </p:sp>
      <p:sp>
        <p:nvSpPr>
          <p:cNvPr id="11" name="TextBox 11">
            <a:extLst>
              <a:ext uri="{FF2B5EF4-FFF2-40B4-BE49-F238E27FC236}">
                <a16:creationId xmlns:a16="http://schemas.microsoft.com/office/drawing/2014/main" id="{73A12645-3D70-4B12-971C-C08BE36E0F76}"/>
              </a:ext>
            </a:extLst>
          </p:cNvPr>
          <p:cNvSpPr txBox="1"/>
          <p:nvPr/>
        </p:nvSpPr>
        <p:spPr>
          <a:xfrm>
            <a:off x="762000" y="4000500"/>
            <a:ext cx="6000750" cy="838200"/>
          </a:xfrm>
        </p:spPr>
        <p:txBody>
          <a:bodyPr wrap="square" rtlCol="0" lIns="0" tIns="0" rIns="0" bIns="0" anchor="t"/>
          <a:lstStyle/>
          <a:p>
            <a:pPr>
              <a:lnSpc>
                <a:spcPct val="112000"/>
              </a:lnSpc>
              <a:spcAft>
                <a:spcPts val="400"/>
              </a:spcAft>
            </a:pPr>
            <a:r>
              <a:rPr sz="1300" b="1">
                <a:solidFill>
                  <a:srgbClr val="FFFFFF"/>
                </a:solidFill>
              </a:rPr>
              <a:t>3 · Gouvernance</a:t>
            </a:r>
          </a:p>
          <a:p>
            <a:pPr>
              <a:lnSpc>
                <a:spcPct val="114000"/>
              </a:lnSpc>
            </a:pPr>
            <a:r>
              <a:rPr sz="1100">
                <a:solidFill>
                  <a:srgbClr val="D8E6EA"/>
                </a:solidFill>
              </a:rPr>
              <a:t>Un sponsor unique, une revue mensuelle des indicateurs O1–O4, un propriétaire désigné pour le référentiel de complétude — sans quoi la cause racine n'est pas traitée.</a:t>
            </a:r>
          </a:p>
        </p:txBody>
      </p:sp>
      <p:sp>
        <p:nvSpPr>
          <p:cNvPr id="12" name="TextBox 12">
            <a:extLst>
              <a:ext uri="{FF2B5EF4-FFF2-40B4-BE49-F238E27FC236}">
                <a16:creationId xmlns:a16="http://schemas.microsoft.com/office/drawing/2014/main" id="{9CE99D2E-F325-4109-AC33-3EAD2CC6C600}"/>
              </a:ext>
            </a:extLst>
          </p:cNvPr>
          <p:cNvSpPr txBox="1"/>
          <p:nvPr/>
        </p:nvSpPr>
        <p:spPr>
          <a:xfrm>
            <a:off x="7429500" y="1600200"/>
            <a:ext cx="4381500" cy="209550"/>
          </a:xfrm>
        </p:spPr>
        <p:txBody>
          <a:bodyPr wrap="square" rtlCol="0" lIns="0" tIns="0" rIns="0" bIns="0" anchor="t"/>
          <a:lstStyle/>
          <a:p>
            <a:r>
              <a:rPr sz="1100" b="1">
                <a:solidFill>
                  <a:srgbClr val="7FB6C4"/>
                </a:solidFill>
              </a:rPr>
              <a:t>DOCUMENTS SOURCES — TOUS PUBLICS</a:t>
            </a:r>
          </a:p>
        </p:txBody>
      </p:sp>
      <p:sp>
        <p:nvSpPr>
          <p:cNvPr id="13" name="TextBox 13">
            <a:extLst>
              <a:ext uri="{FF2B5EF4-FFF2-40B4-BE49-F238E27FC236}">
                <a16:creationId xmlns:a16="http://schemas.microsoft.com/office/drawing/2014/main" id="{6C10CA41-9B7F-44E6-A6D3-9F142BF758DD}"/>
              </a:ext>
            </a:extLst>
          </p:cNvPr>
          <p:cNvSpPr txBox="1"/>
          <p:nvPr/>
        </p:nvSpPr>
        <p:spPr>
          <a:xfrm>
            <a:off x="7429500" y="1866900"/>
            <a:ext cx="4191000" cy="1238250"/>
          </a:xfrm>
        </p:spPr>
        <p:txBody>
          <a:bodyPr wrap="square" rtlCol="0" lIns="0" tIns="0" rIns="0" bIns="0" anchor="t"/>
          <a:lstStyle/>
          <a:p>
            <a:pPr>
              <a:lnSpc>
                <a:spcPct val="125000"/>
              </a:lnSpc>
            </a:pPr>
            <a:r>
              <a:rPr sz="1050">
                <a:solidFill>
                  <a:srgbClr val="FFFFFF"/>
                </a:solidFill>
              </a:rPr>
              <a:t>BRD, matrice des douleurs, causes racines, AS-IS / TO-BE, user stories et backlog MoSCoW, 12 maquettes desktop couleur, business case chiffré, matrice de traçabilité.</a:t>
            </a:r>
          </a:p>
          <a:p>
            <a:pPr>
              <a:lnSpc>
                <a:spcPct val="125000"/>
              </a:lnSpc>
              <a:spcAft>
                <a:spcPts val="400"/>
              </a:spcAft>
            </a:pPr>
            <a:r>
              <a:rPr sz="1100" b="1">
                <a:solidFill>
                  <a:srgbClr val="FFFFFF"/>
                </a:solidFill>
              </a:rPr>
              <a:t>github.com/kanzarieya/banque-elyssa-analyse-fonctionnelle</a:t>
            </a:r>
          </a:p>
        </p:txBody>
      </p:sp>
      <p:sp>
        <p:nvSpPr>
          <p:cNvPr id="14" name="TextBox 14">
            <a:extLst>
              <a:ext uri="{FF2B5EF4-FFF2-40B4-BE49-F238E27FC236}">
                <a16:creationId xmlns:a16="http://schemas.microsoft.com/office/drawing/2014/main" id="{27FD6680-45F1-4BCA-B164-2C0743CA115F}"/>
              </a:ext>
            </a:extLst>
          </p:cNvPr>
          <p:cNvSpPr txBox="1"/>
          <p:nvPr/>
        </p:nvSpPr>
        <p:spPr>
          <a:xfrm>
            <a:off x="7429500" y="3314700"/>
            <a:ext cx="4381500" cy="209550"/>
          </a:xfrm>
        </p:spPr>
        <p:txBody>
          <a:bodyPr wrap="square" rtlCol="0" lIns="0" tIns="0" rIns="0" bIns="0" anchor="t"/>
          <a:lstStyle/>
          <a:p>
            <a:r>
              <a:rPr sz="1100" b="1">
                <a:solidFill>
                  <a:srgbClr val="7FB6C4"/>
                </a:solidFill>
              </a:rPr>
              <a:t>CONTACT</a:t>
            </a:r>
          </a:p>
        </p:txBody>
      </p:sp>
      <p:sp>
        <p:nvSpPr>
          <p:cNvPr id="15" name="TextBox 15">
            <a:extLst>
              <a:ext uri="{FF2B5EF4-FFF2-40B4-BE49-F238E27FC236}">
                <a16:creationId xmlns:a16="http://schemas.microsoft.com/office/drawing/2014/main" id="{A0C3D47A-577B-47EE-8C43-87D9AB5378FB}"/>
              </a:ext>
            </a:extLst>
          </p:cNvPr>
          <p:cNvSpPr txBox="1"/>
          <p:nvPr/>
        </p:nvSpPr>
        <p:spPr>
          <a:xfrm>
            <a:off x="7429500" y="3581400"/>
            <a:ext cx="4191000" cy="571500"/>
          </a:xfrm>
        </p:spPr>
        <p:txBody>
          <a:bodyPr wrap="square" rtlCol="0" lIns="0" tIns="0" rIns="0" bIns="0" anchor="t"/>
          <a:lstStyle/>
          <a:p>
            <a:pPr>
              <a:lnSpc>
                <a:spcPct val="125000"/>
              </a:lnSpc>
            </a:pPr>
            <a:r>
              <a:rPr sz="1200" b="1">
                <a:solidFill>
                  <a:srgbClr val="FFFFFF"/>
                </a:solidFill>
              </a:rPr>
              <a:t>Eya Kanzari — Analyste fonctionnelle</a:t>
            </a:r>
          </a:p>
          <a:p>
            <a:pPr>
              <a:lnSpc>
                <a:spcPct val="125000"/>
              </a:lnSpc>
            </a:pPr>
            <a:r>
              <a:rPr sz="1100">
                <a:solidFill>
                  <a:srgbClr val="D8E6EA"/>
                </a:solidFill>
              </a:rPr>
              <a:t>Master 2 · Tunis · disponible pour stage — ek.kanzari@gmail.com</a:t>
            </a:r>
          </a:p>
        </p:txBody>
      </p:sp>
      <p:sp>
        <p:nvSpPr>
          <p:cNvPr id="16" name="Shape 16">
            <a:extLst>
              <a:ext uri="{FF2B5EF4-FFF2-40B4-BE49-F238E27FC236}">
                <a16:creationId xmlns:a16="http://schemas.microsoft.com/office/drawing/2014/main" id="{797B1E50-62C5-42F4-811F-24CA7C2C1993}"/>
              </a:ext>
            </a:extLst>
          </p:cNvPr>
          <p:cNvSpPr/>
          <p:nvPr/>
        </p:nvSpPr>
        <p:spPr>
          <a:xfrm>
            <a:off x="571500" y="5143500"/>
            <a:ext cx="11049000" cy="876300"/>
          </a:xfrm>
          <a:prstGeom prst="roundRect">
            <a:avLst/>
          </a:prstGeom>
          <a:solidFill>
            <a:srgbClr val="243B45"/>
          </a:solidFill>
        </p:spPr>
        <p:txBody>
          <a:bodyPr wrap="square" rtlCol="0"/>
          <a:lstStyle/>
          <a:p>
            <a:r>
              <a:rPr/>
              <a:t/>
            </a:r>
          </a:p>
        </p:txBody>
      </p:sp>
      <p:sp>
        <p:nvSpPr>
          <p:cNvPr id="17" name="TextBox 17">
            <a:extLst>
              <a:ext uri="{FF2B5EF4-FFF2-40B4-BE49-F238E27FC236}">
                <a16:creationId xmlns:a16="http://schemas.microsoft.com/office/drawing/2014/main" id="{461A2DD7-A4EE-42F1-88B6-8397AC546983}"/>
              </a:ext>
            </a:extLst>
          </p:cNvPr>
          <p:cNvSpPr txBox="1"/>
          <p:nvPr/>
        </p:nvSpPr>
        <p:spPr>
          <a:xfrm>
            <a:off x="762000" y="5257800"/>
            <a:ext cx="10668000" cy="704850"/>
          </a:xfrm>
        </p:spPr>
        <p:txBody>
          <a:bodyPr wrap="square" rtlCol="0" lIns="0" tIns="0" rIns="0" bIns="0" anchor="t"/>
          <a:lstStyle/>
          <a:p>
            <a:pPr>
              <a:lnSpc>
                <a:spcPct val="116000"/>
              </a:lnSpc>
              <a:spcAft>
                <a:spcPts val="500"/>
              </a:spcAft>
            </a:pPr>
            <a:r>
              <a:rPr sz="1100" b="1">
                <a:solidFill>
                  <a:srgbClr val="7FB6C4"/>
                </a:solidFill>
              </a:rPr>
              <a:t>Transparence methodologique</a:t>
            </a:r>
          </a:p>
          <a:p>
            <a:pPr>
              <a:lnSpc>
                <a:spcPct val="116000"/>
              </a:lnSpc>
            </a:pPr>
            <a:r>
              <a:rPr sz="1050">
                <a:solidFill>
                  <a:srgbClr val="D8E6EA"/>
                </a:solidFill>
              </a:rPr>
              <a:t>Banque Elyssa est un cas fictif construit pour un portfolio : volumes, coûts et gains sont des hypothèses réalistes documentées, pas des données financières réelles. Chaque chiffre du deck renvoie à un livrable daté ; les sources complètes sont listées page suivante.</a:t>
            </a:r>
          </a:p>
        </p:txBody>
      </p:sp>
      <p:sp>
        <p:nvSpPr>
          <p:cNvPr id="18" name="TextBox 18">
            <a:extLst>
              <a:ext uri="{FF2B5EF4-FFF2-40B4-BE49-F238E27FC236}">
                <a16:creationId xmlns:a16="http://schemas.microsoft.com/office/drawing/2014/main" id="{6652AAA7-807F-4218-9E77-A80B0301FAF9}"/>
              </a:ext>
            </a:extLst>
          </p:cNvPr>
          <p:cNvSpPr txBox="1"/>
          <p:nvPr/>
        </p:nvSpPr>
        <p:spPr>
          <a:xfrm>
            <a:off x="571500" y="6362700"/>
            <a:ext cx="4762500" cy="190500"/>
          </a:xfrm>
        </p:spPr>
        <p:txBody>
          <a:bodyPr wrap="square" rtlCol="0" lIns="0" tIns="0" rIns="0" bIns="0" anchor="t"/>
          <a:lstStyle/>
          <a:p>
            <a:r>
              <a:rPr sz="1000" i="1">
                <a:solidFill>
                  <a:srgbClr val="7FB6C4"/>
                </a:solidFill>
              </a:rPr>
              <a:t>Deck v2.0 — 20 novembre 2026 · Eya Kanzari</a:t>
            </a:r>
          </a:p>
        </p:txBody>
      </p:sp>
      <p:sp>
        <p:nvSpPr>
          <p:cNvPr id="19" name="TextBox 19">
            <a:extLst>
              <a:ext uri="{FF2B5EF4-FFF2-40B4-BE49-F238E27FC236}">
                <a16:creationId xmlns:a16="http://schemas.microsoft.com/office/drawing/2014/main" id="{3557FE5E-C14B-43EC-9A7B-8D1A1557A3E7}"/>
              </a:ext>
            </a:extLst>
          </p:cNvPr>
          <p:cNvSpPr txBox="1"/>
          <p:nvPr/>
        </p:nvSpPr>
        <p:spPr>
          <a:xfrm>
            <a:off x="11239500" y="6362700"/>
            <a:ext cx="381000" cy="190500"/>
          </a:xfrm>
        </p:spPr>
        <p:txBody>
          <a:bodyPr wrap="square" rtlCol="0" lIns="0" tIns="0" rIns="0" bIns="0" anchor="t"/>
          <a:lstStyle/>
          <a:p>
            <a:pPr algn="r"/>
            <a:r>
              <a:rPr sz="1000">
                <a:solidFill>
                  <a:srgbClr val="7FB6C4"/>
                </a:solidFill>
              </a:rPr>
              <a:t>11</a:t>
            </a:r>
          </a:p>
        </p:txBody>
      </p:sp>
    </p:spTree>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C43E1C"/>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Microsoft YaHei"/>
        <a:cs typeface=""/>
      </a:majorFont>
      <a:minorFont>
        <a:latin typeface="Calibri"/>
        <a:ea typeface="Microsoft YaHei"/>
        <a:cs typeface=""/>
      </a:minorFont>
    </a:fontScheme>
    <a:fmtScheme name="Office">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C43E1C"/>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Microsoft YaHei"/>
        <a:cs typeface=""/>
      </a:majorFont>
      <a:minorFont>
        <a:latin typeface="Calibri"/>
        <a:ea typeface="Microsoft YaHei"/>
        <a:cs typeface=""/>
      </a:minorFont>
    </a:fontScheme>
    <a:fmtScheme name="Office">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

<file path=[Content_Types].xml><?xml version="1.0" encoding="utf-8"?>
<Types xmlns="http://schemas.openxmlformats.org/package/2006/content-types">
  <Override PartName="/ppt/notesSlides/notesSlide9.xml" ContentType="application/vnd.openxmlformats-officedocument.presentationml.notesSlide+xml"/>
  <Override PartName="/ppt/notesSlides/notesSlide8.xml" ContentType="application/vnd.openxmlformats-officedocument.presentationml.notesSlide+xml"/>
  <Override PartName="/ppt/notesSlides/notesSlide7.xml" ContentType="application/vnd.openxmlformats-officedocument.presentationml.notesSlide+xml"/>
  <Override PartName="/ppt/notesSlides/notesSlide6.xml" ContentType="application/vnd.openxmlformats-officedocument.presentationml.notesSlide+xml"/>
  <Override PartName="/ppt/notesSlides/notesSlide5.xml" ContentType="application/vnd.openxmlformats-officedocument.presentationml.notesSlide+xml"/>
  <Override PartName="/ppt/notesSlides/notesSlide4.xml" ContentType="application/vnd.openxmlformats-officedocument.presentationml.notesSlide+xml"/>
  <Override PartName="/ppt/notesSlides/notesSlide3.xml" ContentType="application/vnd.openxmlformats-officedocument.presentationml.notesSlide+xml"/>
  <Override PartName="/ppt/notesSlides/notesSlide2.xml" ContentType="application/vnd.openxmlformats-officedocument.presentationml.notesSlide+xml"/>
  <Override PartName="/ppt/notesSlides/notesSlide1.xml" ContentType="application/vnd.openxmlformats-officedocument.presentationml.notesSlide+xml"/>
  <Override PartName="/ppt/theme/theme2.xml" ContentType="application/vnd.openxmlformats-officedocument.theme+xml"/>
  <Override PartName="/ppt/notesMasters/notesMaster1.xml" ContentType="application/vnd.openxmlformats-officedocument.presentationml.notesMaster+xml"/>
  <Override PartName="/ppt/slides/slide10.xml" ContentType="application/vnd.openxmlformats-officedocument.presentationml.slide+xml"/>
  <Override PartName="/ppt/slides/slide9.xml" ContentType="application/vnd.openxmlformats-officedocument.presentationml.slide+xml"/>
  <Override PartName="/ppt/slides/slide8.xml" ContentType="application/vnd.openxmlformats-officedocument.presentationml.slide+xml"/>
  <Override PartName="/ppt/slides/slide7.xml" ContentType="application/vnd.openxmlformats-officedocument.presentationml.slide+xml"/>
  <Override PartName="/ppt/slides/slide6.xml" ContentType="application/vnd.openxmlformats-officedocument.presentationml.slide+xml"/>
  <Default Extension="png" ContentType="image/png"/>
  <Override PartName="/ppt/slides/slide5.xml" ContentType="application/vnd.openxmlformats-officedocument.presentationml.slide+xml"/>
  <Override PartName="/ppt/slides/slide3.xml" ContentType="application/vnd.openxmlformats-officedocument.presentationml.slide+xml"/>
  <Override PartName="/ppt/slides/slide2.xml" ContentType="application/vnd.openxmlformats-officedocument.presentationml.slide+xml"/>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2"/>
  </p:notesMasterIdLst>
  <p:sldIdLst>
    <p:sldId id="256" r:id="rId2"/>
    <p:sldId id="257" r:id="rId3"/>
    <p:sldId id="258" r:id="rId4"/>
    <p:sldId id="260" r:id="rId6"/>
    <p:sldId id="261" r:id="rId7"/>
    <p:sldId id="262" r:id="rId8"/>
    <p:sldId id="263" r:id="rId9"/>
    <p:sldId id="264" r:id="rId10"/>
    <p:sldId id="265" r:id="rId11"/>
  </p:sldIdLst>
  <p:sldSz cx="12192000" cy="6858000"/>
  <p:notesSz cx="6858000" cy="9144000"/>
</p:presentation>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Bonjour. Je vous présente la digitalisation de la demande de crédit.</a:t>
            </a:r>
          </a:p>
          <a:p>
            <a:r>
              <a:rPr lang="zh-CN" dirty="0"/>
              <a:t>Message clé : aujourd'hui, une demande met 12 jours à être traitée. Avec le module, la cible est 5 jours.</a:t>
            </a:r>
          </a:p>
          <a:p>
            <a:r>
              <a:rPr lang="zh-CN" dirty="0"/>
              <a:t>Dites le chiffre « 12 jours → 5 jours » lentement, puis laissez 2 secondes de silence.</a:t>
            </a:r>
          </a:p>
          <a:p>
            <a:r>
              <a:rPr lang="zh-CN" dirty="0"/>
              <a:t>Précisez dès le début : la banque et les chiffres sont fictifs, mais la démarche est réelle.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Le problème coûte 960 heures de travail perdu par semaine.</a:t>
            </a:r>
          </a:p>
          <a:p>
            <a:r>
              <a:rPr lang="zh-CN" dirty="0"/>
              <a:t>Expliquez d'où viennent ces heures : double saisie (3 fois le même dossier), recherche d'historique aux archives (20 minutes par dossier), appels de suivi (2 200 par semaine).</a:t>
            </a:r>
          </a:p>
          <a:p>
            <a:r>
              <a:rPr lang="zh-CN" dirty="0"/>
              <a:t>Insistez sur 35 % de dossiers incomplets : un dossier sur trois repart du siège.</a:t>
            </a:r>
          </a:p>
          <a:p>
            <a:r>
              <a:rPr lang="zh-CN" dirty="0"/>
              <a:t>Question possible : « comment avez-vous calculé ? » — Réponse : hypothèses documentées à partir de 480 demandes par semaine.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Ce ne sont pas des bugs, ce sont des causes profondes.</a:t>
            </a:r>
          </a:p>
          <a:p>
            <a:r>
              <a:rPr lang="zh-CN" dirty="0"/>
              <a:t>Cause 1 : personne n'écrit les règles de complétude — elles vivent dans la tête des agents.</a:t>
            </a:r>
          </a:p>
          <a:p>
            <a:r>
              <a:rPr lang="zh-CN" dirty="0"/>
              <a:t>Cause 2 : on ne mesure rien — pas d'indicateur de délai.</a:t>
            </a:r>
          </a:p>
          <a:p>
            <a:r>
              <a:rPr lang="zh-CN" dirty="0"/>
              <a:t>Cause 3 : personne n'est responsable du processus.</a:t>
            </a:r>
          </a:p>
          <a:p>
            <a:r>
              <a:rPr lang="zh-CN" dirty="0"/>
              <a:t>Méthode : analyse « 5 pourquoi » sur les douleurs les plus chères. C'est de l'analyse PMI-BA, pas du feeling.</a:t>
            </a:r>
          </a:p>
          <a:p>
            <a:r>
              <a:rPr lang="zh-CN" dirty="0"/>
              <a:t>Chaque cause donne une exigence de solution : référentiel paramétrable, mesures natives, gouvernance.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Le processus cible en six étapes.</a:t>
            </a:r>
          </a:p>
          <a:p>
            <a:r>
              <a:rPr lang="zh-CN" dirty="0"/>
              <a:t>Points à dire : le client dépose une seule fois (agence ou en ligne, même formulaire) ; le système bloque les dossiers incomplets AVANT l'envoi au siège ; chaque changement d'état envoie une notification.</a:t>
            </a:r>
          </a:p>
          <a:p>
            <a:r>
              <a:rPr lang="zh-CN" dirty="0"/>
              <a:t>Rassurez : la décision du comité de crédit ne change pas. On digitalise le parcours, pas la décision.</a:t>
            </a:r>
          </a:p>
          <a:p>
            <a:r>
              <a:rPr lang="zh-CN" dirty="0"/>
              <a:t>La boucle « pièces manquantes » existe toujours, mais elle coûte quelques minutes au lieu de jours.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12 maquettes d'écrans, toutes reliées aux user stories.</a:t>
            </a:r>
          </a:p>
          <a:p>
            <a:r>
              <a:rPr lang="zh-CN" dirty="0"/>
              <a:t>Montrez le suivi client à gauche : le client voit où en est son dossier, il est notifié, il peut tout voir en arabe comme en français.</a:t>
            </a:r>
          </a:p>
          <a:p>
            <a:r>
              <a:rPr lang="zh-CN" dirty="0"/>
              <a:t>À droite : le tableau de bord de l'analyste — une file triée par ancienneté, les pièces déjà vérifiées automatiquement.</a:t>
            </a:r>
          </a:p>
          <a:p>
            <a:r>
              <a:rPr lang="zh-CN" dirty="0"/>
              <a:t>Dites : « chaque écran affiche ses US et ses règles de gestion » — c'est ça, la traçabilité jusqu'au design.</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Quatre promesses mesurables, vérifiées 6 mois après la mise en production.</a:t>
            </a:r>
          </a:p>
          <a:p>
            <a:r>
              <a:rPr lang="zh-CN" dirty="0"/>
              <a:t>12 jours → ≤ 5 jours. 35 % → ≤ 10 % de dossiers incomplets. 3 saisies → 1. 0 % → 100 % de clients notifiés.</a:t>
            </a:r>
          </a:p>
          <a:p>
            <a:r>
              <a:rPr lang="zh-CN" dirty="0"/>
              <a:t>Bandeau : environ 2 200 appels de suivi évités chaque semaine — la file d'agence redevient commerciale.</a:t>
            </a:r>
          </a:p>
          <a:p>
            <a:r>
              <a:rPr lang="zh-CN" dirty="0"/>
              <a:t>Phrase de clôture : « on ne promet pas des impressions, on promet des indicateurs ».</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Le business case est honnête : investissement 610 000 DT, gain productivité environ 390 000 DT par an.</a:t>
            </a:r>
          </a:p>
          <a:p>
            <a:r>
              <a:rPr lang="zh-CN" dirty="0"/>
              <a:t>Sur la seule productivité, le retour se fait vers 3 ans — cumul presque à l'équilibre (−40 kDT).</a:t>
            </a:r>
          </a:p>
          <a:p>
            <a:r>
              <a:rPr lang="zh-CN" dirty="0"/>
              <a:t>Avec les gains élargis (appels évités, risque justifiable), le retour descend à 18–24 mois.</a:t>
            </a:r>
          </a:p>
          <a:p>
            <a:r>
              <a:rPr lang="zh-CN" dirty="0"/>
              <a:t>Ne cachez pas le chiffre prudent : c'est votre crédibilité. La vraie valeur est défensive : décisions justifiables, risque de contentieux supprimé.</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Recommandation : lancer maintenant, en commençant par le MVP « dépôt + contrôle de complétude ».</a:t>
            </a:r>
          </a:p>
          <a:p>
            <a:r>
              <a:rPr lang="zh-CN" dirty="0"/>
              <a:t>Pourquoi ce MVP : c'est là qu'il y a le plus de gains (dossiers incomplets, double saisie) et tout le risque réglementaire (journal de traçabilité).</a:t>
            </a:r>
          </a:p>
          <a:p>
            <a:r>
              <a:rPr lang="zh-CN" dirty="0"/>
              <a:t>Ensuite, demandez les trois décisions : valider le périmètre, arbitrer la question de l'écran de pilotage direction, confirmer les hypothèses de chiffrage.</a:t>
            </a:r>
          </a:p>
          <a:p>
            <a:r>
              <a:rPr lang="zh-CN" dirty="0"/>
              <a:t>Finissez sur une question ouverte au sponsor : « pouvez-vous valider le périmètre du sprint 1 ? »</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Remerciez et invitez à poser des questions.</a:t>
            </a:r>
          </a:p>
          <a:p>
            <a:r>
              <a:rPr lang="zh-CN" dirty="0"/>
              <a:t>Rappelez : tout le dossier est public sur GitHub — cadrage, AS-IS, BRD, backlog, maquettes, business case, matrice de traçabilité.</a:t>
            </a:r>
          </a:p>
          <a:p>
            <a:r>
              <a:rPr lang="zh-CN" dirty="0"/>
              <a:t>Si on demande une précision chiffrée, orientez vers le business case (hypothèses toutes datées et documentées).</a:t>
            </a:r>
          </a:p>
          <a:p>
            <a:r>
              <a:rPr lang="zh-CN" dirty="0"/>
              <a:t>Répétez la phrase finale : cas fictif, démarche réelle.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p:bodyStyle/>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merged1.png"/><Relationship Id="rId3" Type="http://schemas.openxmlformats.org/officeDocument/2006/relationships/image" Target="../media/merged2.png"/><Relationship Id="rId4"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F4E5F"/>
        </a:solidFill>
        <a:effectLst/>
      </p:bgPr>
    </p:bg>
    <p:spTree>
      <p:nvGrpSpPr>
        <p:cNvPr id="1" name=""/>
        <p:cNvGrpSpPr/>
        <p:nvPr/>
      </p:nvGrpSpPr>
      <p:grpSpPr>
        <a:xfrm>
          <a:off x="0" y="0"/>
          <a:ext cx="0" cy="0"/>
          <a:chOff x="0" y="0"/>
          <a:chExt cx="0" cy="0"/>
        </a:xfrm>
      </p:grpSpPr>
      <p:sp>
        <p:nvSpPr>
          <p:cNvPr id="3" name="Shape 3">
            <a:extLst>
              <a:ext uri="{FF2B5EF4-FFF2-40B4-BE49-F238E27FC236}">
                <a16:creationId xmlns:a16="http://schemas.microsoft.com/office/drawing/2014/main" id="{813D29C7-C400-4B28-8F87-7BB84B3EE4F5}"/>
              </a:ext>
            </a:extLst>
          </p:cNvPr>
          <p:cNvSpPr/>
          <p:nvPr/>
        </p:nvSpPr>
        <p:spPr>
          <a:xfrm>
            <a:off x="7810500" y="0"/>
            <a:ext cx="4381500" cy="6858000"/>
          </a:xfrm>
          <a:prstGeom prst="rect">
            <a:avLst/>
          </a:prstGeom>
          <a:solidFill>
            <a:srgbClr val="2A6272"/>
          </a:solidFill>
        </p:spPr>
        <p:txBody>
          <a:bodyPr wrap="square" rtlCol="0"/>
          <a:lstStyle/>
          <a:p>
            <a:r>
              <a:rPr/>
              <a:t/>
            </a:r>
          </a:p>
        </p:txBody>
      </p:sp>
      <p:sp>
        <p:nvSpPr>
          <p:cNvPr id="4" name="TextBox 4">
            <a:extLst>
              <a:ext uri="{FF2B5EF4-FFF2-40B4-BE49-F238E27FC236}">
                <a16:creationId xmlns:a16="http://schemas.microsoft.com/office/drawing/2014/main" id="{5A908E7F-9E16-4D05-BA00-8B5001273A0E}"/>
              </a:ext>
            </a:extLst>
          </p:cNvPr>
          <p:cNvSpPr txBox="1"/>
          <p:nvPr/>
        </p:nvSpPr>
        <p:spPr>
          <a:xfrm>
            <a:off x="571500" y="1428750"/>
            <a:ext cx="6667500" cy="247650"/>
          </a:xfrm>
        </p:spPr>
        <p:txBody>
          <a:bodyPr wrap="square" rtlCol="0" lIns="0" tIns="0" rIns="0" bIns="0" anchor="t"/>
          <a:lstStyle/>
          <a:p>
            <a:pPr algn="l"/>
            <a:r>
              <a:rPr sz="1300" b="1">
                <a:solidFill>
                  <a:srgbClr val="8FB6C0"/>
                </a:solidFill>
                <a:latin typeface="Segoe UI"/>
                <a:ea typeface="Segoe UI"/>
              </a:rPr>
              <a:t>CAS FICTIF  ·  ANALYSE FONCTIONNELLE  ·  RESTITUTION SEMAINE 6</a:t>
            </a:r>
          </a:p>
        </p:txBody>
      </p:sp>
      <p:sp>
        <p:nvSpPr>
          <p:cNvPr id="5" name="TextBox 5">
            <a:extLst>
              <a:ext uri="{FF2B5EF4-FFF2-40B4-BE49-F238E27FC236}">
                <a16:creationId xmlns:a16="http://schemas.microsoft.com/office/drawing/2014/main" id="{A2F44D16-686C-41EA-8E3D-46A2BCA7F316}"/>
              </a:ext>
            </a:extLst>
          </p:cNvPr>
          <p:cNvSpPr txBox="1"/>
          <p:nvPr/>
        </p:nvSpPr>
        <p:spPr>
          <a:xfrm>
            <a:off x="571500" y="1905000"/>
            <a:ext cx="6667500" cy="1809750"/>
          </a:xfrm>
        </p:spPr>
        <p:txBody>
          <a:bodyPr wrap="square" rtlCol="0" lIns="0" tIns="0" rIns="0" bIns="0" anchor="t"/>
          <a:lstStyle/>
          <a:p>
            <a:pPr algn="l">
              <a:lnSpc>
                <a:spcPct val="108000"/>
              </a:lnSpc>
            </a:pPr>
            <a:r>
              <a:rPr sz="4400" b="1">
                <a:solidFill>
                  <a:srgbClr val="FFFFFF"/>
                </a:solidFill>
                <a:latin typeface="Segoe UI"/>
                <a:ea typeface="Segoe UI"/>
              </a:rPr>
              <a:t>Digitaliser la demande de crédit</a:t>
            </a:r>
          </a:p>
        </p:txBody>
      </p:sp>
      <p:sp>
        <p:nvSpPr>
          <p:cNvPr id="6" name="TextBox 6">
            <a:extLst>
              <a:ext uri="{FF2B5EF4-FFF2-40B4-BE49-F238E27FC236}">
                <a16:creationId xmlns:a16="http://schemas.microsoft.com/office/drawing/2014/main" id="{683488AA-24B9-4706-9A59-99EBB08A4C23}"/>
              </a:ext>
            </a:extLst>
          </p:cNvPr>
          <p:cNvSpPr txBox="1"/>
          <p:nvPr/>
        </p:nvSpPr>
        <p:spPr>
          <a:xfrm>
            <a:off x="571500" y="3810000"/>
            <a:ext cx="6667500" cy="621792"/>
          </a:xfrm>
        </p:spPr>
        <p:txBody>
          <a:bodyPr wrap="square" rtlCol="0" lIns="0" tIns="0" rIns="0" bIns="0" anchor="t"/>
          <a:lstStyle/>
          <a:p>
            <a:pPr algn="l">
              <a:lnSpc>
                <a:spcPct val="120000"/>
              </a:lnSpc>
            </a:pPr>
            <a:r>
              <a:rPr sz="1700">
                <a:solidFill>
                  <a:srgbClr val="CBDDE2"/>
                </a:solidFill>
                <a:latin typeface="Segoe UI"/>
                <a:ea typeface="Segoe UI"/>
              </a:rPr>
              <a:t>Business case chiffré et matrice de traçabilité complète du module de demande de crédit.</a:t>
            </a:r>
          </a:p>
        </p:txBody>
      </p:sp>
      <p:sp>
        <p:nvSpPr>
          <p:cNvPr id="7" name="TextBox 7">
            <a:extLst>
              <a:ext uri="{FF2B5EF4-FFF2-40B4-BE49-F238E27FC236}">
                <a16:creationId xmlns:a16="http://schemas.microsoft.com/office/drawing/2014/main" id="{7FCE4960-8900-4B63-8CE2-B2C56EB639B4}"/>
              </a:ext>
            </a:extLst>
          </p:cNvPr>
          <p:cNvSpPr txBox="1"/>
          <p:nvPr/>
        </p:nvSpPr>
        <p:spPr>
          <a:xfrm>
            <a:off x="571500" y="5905500"/>
            <a:ext cx="6667500" cy="571500"/>
          </a:xfrm>
        </p:spPr>
        <p:txBody>
          <a:bodyPr wrap="square" rtlCol="0" lIns="0" tIns="0" rIns="0" bIns="0" anchor="t"/>
          <a:lstStyle/>
          <a:p>
            <a:pPr algn="l">
              <a:spcAft>
                <a:spcPts val="200"/>
              </a:spcAft>
            </a:pPr>
            <a:r>
              <a:rPr sz="1500" b="1">
                <a:solidFill>
                  <a:srgbClr val="FFFFFF"/>
                </a:solidFill>
                <a:latin typeface="Segoe UI"/>
                <a:ea typeface="Segoe UI"/>
              </a:rPr>
              <a:t>Eya Kanzari — Analyste fonctionnelle</a:t>
            </a:r>
          </a:p>
          <a:p>
            <a:pPr algn="l"/>
            <a:r>
              <a:rPr sz="1300">
                <a:solidFill>
                  <a:srgbClr val="9FC0CB"/>
                </a:solidFill>
                <a:latin typeface="Segoe UI"/>
                <a:ea typeface="Segoe UI"/>
              </a:rPr>
              <a:t>20 novembre 2026  ·  Banque Elyssa (40 agences, ~250 000 clients)</a:t>
            </a:r>
          </a:p>
        </p:txBody>
      </p:sp>
      <p:sp>
        <p:nvSpPr>
          <p:cNvPr id="8" name="TextBox 8">
            <a:extLst>
              <a:ext uri="{FF2B5EF4-FFF2-40B4-BE49-F238E27FC236}">
                <a16:creationId xmlns:a16="http://schemas.microsoft.com/office/drawing/2014/main" id="{D4C45891-8789-4DD4-9E09-CE40296AF1D6}"/>
              </a:ext>
            </a:extLst>
          </p:cNvPr>
          <p:cNvSpPr txBox="1"/>
          <p:nvPr/>
        </p:nvSpPr>
        <p:spPr>
          <a:xfrm>
            <a:off x="8382000" y="1809750"/>
            <a:ext cx="3238500" cy="228600"/>
          </a:xfrm>
        </p:spPr>
        <p:txBody>
          <a:bodyPr wrap="square" rtlCol="0" lIns="0" tIns="0" rIns="0" bIns="0" anchor="t"/>
          <a:lstStyle/>
          <a:p>
            <a:pPr algn="l"/>
            <a:r>
              <a:rPr sz="1300" b="1">
                <a:solidFill>
                  <a:srgbClr val="8FB6C0"/>
                </a:solidFill>
                <a:latin typeface="Segoe UI"/>
                <a:ea typeface="Segoe UI"/>
              </a:rPr>
              <a:t>DÉLAI MOYEN DE TRAITEMENT</a:t>
            </a:r>
          </a:p>
        </p:txBody>
      </p:sp>
      <p:sp>
        <p:nvSpPr>
          <p:cNvPr id="9" name="TextBox 9">
            <a:extLst>
              <a:ext uri="{FF2B5EF4-FFF2-40B4-BE49-F238E27FC236}">
                <a16:creationId xmlns:a16="http://schemas.microsoft.com/office/drawing/2014/main" id="{3924CB41-25C6-4698-98FE-D46B454265C3}"/>
              </a:ext>
            </a:extLst>
          </p:cNvPr>
          <p:cNvSpPr txBox="1"/>
          <p:nvPr/>
        </p:nvSpPr>
        <p:spPr>
          <a:xfrm>
            <a:off x="8382000" y="2133600"/>
            <a:ext cx="3238500" cy="533400"/>
          </a:xfrm>
        </p:spPr>
        <p:txBody>
          <a:bodyPr wrap="square" rtlCol="0" lIns="0" tIns="0" rIns="0" bIns="0" anchor="t"/>
          <a:lstStyle/>
          <a:p>
            <a:pPr algn="l"/>
            <a:r>
              <a:rPr sz="3400">
                <a:solidFill>
                  <a:srgbClr val="6E97A3"/>
                </a:solidFill>
                <a:latin typeface="Segoe UI"/>
                <a:ea typeface="Segoe UI"/>
              </a:rPr>
              <a:t>12 jours</a:t>
            </a:r>
          </a:p>
        </p:txBody>
      </p:sp>
      <p:sp>
        <p:nvSpPr>
          <p:cNvPr id="10" name="TextBox 10">
            <a:extLst>
              <a:ext uri="{FF2B5EF4-FFF2-40B4-BE49-F238E27FC236}">
                <a16:creationId xmlns:a16="http://schemas.microsoft.com/office/drawing/2014/main" id="{F374321E-B8BA-4FB2-9884-F06F4C6D73B2}"/>
              </a:ext>
            </a:extLst>
          </p:cNvPr>
          <p:cNvSpPr txBox="1"/>
          <p:nvPr/>
        </p:nvSpPr>
        <p:spPr>
          <a:xfrm>
            <a:off x="8382000" y="2857500"/>
            <a:ext cx="3238500" cy="2499360"/>
          </a:xfrm>
        </p:spPr>
        <p:txBody>
          <a:bodyPr wrap="square" rtlCol="0" lIns="0" tIns="0" rIns="0" bIns="0" anchor="t"/>
          <a:lstStyle/>
          <a:p>
            <a:pPr algn="l"/>
            <a:r>
              <a:rPr sz="8200" b="1">
                <a:solidFill>
                  <a:srgbClr val="FFFFFF"/>
                </a:solidFill>
                <a:latin typeface="Segoe UI"/>
                <a:ea typeface="Segoe UI"/>
              </a:rPr>
              <a:t>5 jours</a:t>
            </a:r>
          </a:p>
        </p:txBody>
      </p:sp>
      <p:sp>
        <p:nvSpPr>
          <p:cNvPr id="11" name="TextBox 11">
            <a:extLst>
              <a:ext uri="{FF2B5EF4-FFF2-40B4-BE49-F238E27FC236}">
                <a16:creationId xmlns:a16="http://schemas.microsoft.com/office/drawing/2014/main" id="{8A5714F9-17B7-4688-B574-B8955E5EB7C9}"/>
              </a:ext>
            </a:extLst>
          </p:cNvPr>
          <p:cNvSpPr txBox="1"/>
          <p:nvPr/>
        </p:nvSpPr>
        <p:spPr>
          <a:xfrm>
            <a:off x="8382000" y="5429250"/>
            <a:ext cx="3238500" cy="381000"/>
          </a:xfrm>
        </p:spPr>
        <p:txBody>
          <a:bodyPr wrap="square" rtlCol="0" lIns="0" tIns="0" rIns="0" bIns="0" anchor="t"/>
          <a:lstStyle/>
          <a:p>
            <a:pPr algn="l"/>
            <a:r>
              <a:rPr sz="1300">
                <a:solidFill>
                  <a:srgbClr val="9FC0CB"/>
                </a:solidFill>
                <a:latin typeface="Segoe UI"/>
                <a:ea typeface="Segoe UI"/>
              </a:rPr>
              <a:t>cible à 6 mois après mise en production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2E7"/>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27983BE4-B707-4922-BFBF-CA2B7894F401}"/>
              </a:ext>
            </a:extLst>
          </p:cNvPr>
          <p:cNvSpPr txBox="1"/>
          <p:nvPr/>
        </p:nvSpPr>
        <p:spPr>
          <a:xfrm>
            <a:off x="762000" y="533400"/>
            <a:ext cx="5715000" cy="228600"/>
          </a:xfrm>
        </p:spPr>
        <p:txBody>
          <a:bodyPr wrap="square" rtlCol="0" lIns="0" tIns="0" rIns="0" bIns="0" anchor="t"/>
          <a:lstStyle/>
          <a:p>
            <a:pPr algn="l"/>
            <a:r>
              <a:rPr sz="1300" b="1">
                <a:solidFill>
                  <a:srgbClr val="2E7D8C"/>
                </a:solidFill>
                <a:latin typeface="Segoe UI"/>
                <a:ea typeface="Segoe UI"/>
              </a:rPr>
              <a:t>LE PROBLÈME</a:t>
            </a:r>
          </a:p>
        </p:txBody>
      </p:sp>
      <p:sp>
        <p:nvSpPr>
          <p:cNvPr id="4" name="TextBox 4">
            <a:extLst>
              <a:ext uri="{FF2B5EF4-FFF2-40B4-BE49-F238E27FC236}">
                <a16:creationId xmlns:a16="http://schemas.microsoft.com/office/drawing/2014/main" id="{FEC5C101-4852-44C1-9778-B62BB10179FA}"/>
              </a:ext>
            </a:extLst>
          </p:cNvPr>
          <p:cNvSpPr txBox="1"/>
          <p:nvPr/>
        </p:nvSpPr>
        <p:spPr>
          <a:xfrm>
            <a:off x="762000" y="819150"/>
            <a:ext cx="7239000" cy="990600"/>
          </a:xfrm>
        </p:spPr>
        <p:txBody>
          <a:bodyPr wrap="square" rtlCol="0" lIns="0" tIns="0" rIns="0" bIns="0" anchor="t"/>
          <a:lstStyle/>
          <a:p>
            <a:pPr algn="l">
              <a:lnSpc>
                <a:spcPct val="112000"/>
              </a:lnSpc>
            </a:pPr>
            <a:r>
              <a:rPr sz="2800" b="1">
                <a:solidFill>
                  <a:srgbClr val="243B45"/>
                </a:solidFill>
                <a:latin typeface="Segoe UI"/>
                <a:ea typeface="Segoe UI"/>
              </a:rPr>
              <a:t>Un processus papier qui coûte 960 heures par semaine</a:t>
            </a:r>
          </a:p>
        </p:txBody>
      </p:sp>
      <p:sp>
        <p:nvSpPr>
          <p:cNvPr id="5" name="TextBox 5">
            <a:extLst>
              <a:ext uri="{FF2B5EF4-FFF2-40B4-BE49-F238E27FC236}">
                <a16:creationId xmlns:a16="http://schemas.microsoft.com/office/drawing/2014/main" id="{A197A3D2-52A7-41BA-B00D-CCC1EE61F90A}"/>
              </a:ext>
            </a:extLst>
          </p:cNvPr>
          <p:cNvSpPr txBox="1"/>
          <p:nvPr/>
        </p:nvSpPr>
        <p:spPr>
          <a:xfrm>
            <a:off x="762000" y="2286000"/>
            <a:ext cx="3810000" cy="1238250"/>
          </a:xfrm>
        </p:spPr>
        <p:txBody>
          <a:bodyPr wrap="square" rtlCol="0" lIns="0" tIns="0" rIns="0" bIns="0" anchor="t"/>
          <a:lstStyle/>
          <a:p>
            <a:pPr algn="l"/>
            <a:r>
              <a:rPr sz="7800" b="1">
                <a:solidFill>
                  <a:srgbClr val="2E7D8C"/>
                </a:solidFill>
                <a:latin typeface="Segoe UI"/>
                <a:ea typeface="Segoe UI"/>
              </a:rPr>
              <a:t>960 h</a:t>
            </a:r>
          </a:p>
        </p:txBody>
      </p:sp>
      <p:sp>
        <p:nvSpPr>
          <p:cNvPr id="6" name="TextBox 6">
            <a:extLst>
              <a:ext uri="{FF2B5EF4-FFF2-40B4-BE49-F238E27FC236}">
                <a16:creationId xmlns:a16="http://schemas.microsoft.com/office/drawing/2014/main" id="{C4C219EA-BA52-438B-93E9-C11ADE27FE11}"/>
              </a:ext>
            </a:extLst>
          </p:cNvPr>
          <p:cNvSpPr txBox="1"/>
          <p:nvPr/>
        </p:nvSpPr>
        <p:spPr>
          <a:xfrm>
            <a:off x="762000" y="3619500"/>
            <a:ext cx="3524250" cy="1047750"/>
          </a:xfrm>
        </p:spPr>
        <p:txBody>
          <a:bodyPr wrap="square" rtlCol="0" lIns="0" tIns="0" rIns="0" bIns="0" anchor="t"/>
          <a:lstStyle/>
          <a:p>
            <a:pPr algn="l">
              <a:lnSpc>
                <a:spcPct val="130000"/>
              </a:lnSpc>
            </a:pPr>
            <a:r>
              <a:rPr sz="1350">
                <a:solidFill>
                  <a:srgbClr val="6B7C82"/>
                </a:solidFill>
                <a:latin typeface="Segoe UI"/>
                <a:ea typeface="Segoe UI"/>
              </a:rPr>
              <a:t>de travail perdu chaque semaine : double saisie, recherche d'historique aux archives, appels de suivi du client.</a:t>
            </a:r>
          </a:p>
        </p:txBody>
      </p:sp>
      <p:sp>
        <p:nvSpPr>
          <p:cNvPr id="7" name="Shape 7">
            <a:extLst>
              <a:ext uri="{FF2B5EF4-FFF2-40B4-BE49-F238E27FC236}">
                <a16:creationId xmlns:a16="http://schemas.microsoft.com/office/drawing/2014/main" id="{E376546B-E5A2-4920-ADBA-F2865DCB7F00}"/>
              </a:ext>
            </a:extLst>
          </p:cNvPr>
          <p:cNvSpPr/>
          <p:nvPr/>
        </p:nvSpPr>
        <p:spPr>
          <a:xfrm>
            <a:off x="4953000" y="2286000"/>
            <a:ext cx="3143250" cy="1428750"/>
          </a:xfrm>
          <a:prstGeom prst="roundRect">
            <a:avLst/>
          </a:prstGeom>
          <a:solidFill>
            <a:srgbClr val="FFFFFF"/>
          </a:solidFill>
          <a:ln w="12700">
            <a:solidFill>
              <a:srgbClr val="E4D9C3"/>
            </a:solidFill>
          </a:ln>
        </p:spPr>
        <p:txBody>
          <a:bodyPr wrap="square" rtlCol="0"/>
          <a:lstStyle/>
          <a:p>
            <a:r>
              <a:rPr/>
              <a:t/>
            </a:r>
          </a:p>
        </p:txBody>
      </p:sp>
      <p:sp>
        <p:nvSpPr>
          <p:cNvPr id="8" name="TextBox 8">
            <a:extLst>
              <a:ext uri="{FF2B5EF4-FFF2-40B4-BE49-F238E27FC236}">
                <a16:creationId xmlns:a16="http://schemas.microsoft.com/office/drawing/2014/main" id="{33F9F260-B860-405F-B22D-DDC4BBD9840F}"/>
              </a:ext>
            </a:extLst>
          </p:cNvPr>
          <p:cNvSpPr txBox="1"/>
          <p:nvPr/>
        </p:nvSpPr>
        <p:spPr>
          <a:xfrm>
            <a:off x="5181600" y="2495550"/>
            <a:ext cx="2667000" cy="514350"/>
          </a:xfrm>
        </p:spPr>
        <p:txBody>
          <a:bodyPr wrap="square" rtlCol="0" lIns="0" tIns="0" rIns="0" bIns="0" anchor="t"/>
          <a:lstStyle/>
          <a:p>
            <a:pPr algn="l"/>
            <a:r>
              <a:rPr sz="3200" b="1">
                <a:solidFill>
                  <a:srgbClr val="243B45"/>
                </a:solidFill>
                <a:latin typeface="Segoe UI"/>
                <a:ea typeface="Segoe UI"/>
              </a:rPr>
              <a:t>12 jours</a:t>
            </a:r>
          </a:p>
        </p:txBody>
      </p:sp>
      <p:sp>
        <p:nvSpPr>
          <p:cNvPr id="9" name="TextBox 9">
            <a:extLst>
              <a:ext uri="{FF2B5EF4-FFF2-40B4-BE49-F238E27FC236}">
                <a16:creationId xmlns:a16="http://schemas.microsoft.com/office/drawing/2014/main" id="{8886F52A-BA7E-4CD6-ADEA-28F3F4F07493}"/>
              </a:ext>
            </a:extLst>
          </p:cNvPr>
          <p:cNvSpPr txBox="1"/>
          <p:nvPr/>
        </p:nvSpPr>
        <p:spPr>
          <a:xfrm>
            <a:off x="5181600" y="3028950"/>
            <a:ext cx="2686050" cy="609600"/>
          </a:xfrm>
        </p:spPr>
        <p:txBody>
          <a:bodyPr wrap="square" rtlCol="0" lIns="0" tIns="0" rIns="0" bIns="0" anchor="t"/>
          <a:lstStyle/>
          <a:p>
            <a:pPr algn="l">
              <a:lnSpc>
                <a:spcPct val="120000"/>
              </a:lnSpc>
            </a:pPr>
            <a:r>
              <a:rPr sz="1200">
                <a:solidFill>
                  <a:srgbClr val="6B7C82"/>
                </a:solidFill>
                <a:latin typeface="Segoe UI"/>
                <a:ea typeface="Segoe UI"/>
              </a:rPr>
              <a:t>de délai moyen de traitement — cible : ≤ 5 jours ouvrés</a:t>
            </a:r>
          </a:p>
        </p:txBody>
      </p:sp>
      <p:sp>
        <p:nvSpPr>
          <p:cNvPr id="10" name="Shape 10">
            <a:extLst>
              <a:ext uri="{FF2B5EF4-FFF2-40B4-BE49-F238E27FC236}">
                <a16:creationId xmlns:a16="http://schemas.microsoft.com/office/drawing/2014/main" id="{251793EA-75F4-48A9-A236-E46D2A5EFD58}"/>
              </a:ext>
            </a:extLst>
          </p:cNvPr>
          <p:cNvSpPr/>
          <p:nvPr/>
        </p:nvSpPr>
        <p:spPr>
          <a:xfrm>
            <a:off x="8286750" y="2286000"/>
            <a:ext cx="3143250" cy="1428750"/>
          </a:xfrm>
          <a:prstGeom prst="roundRect">
            <a:avLst/>
          </a:prstGeom>
          <a:solidFill>
            <a:srgbClr val="FFFFFF"/>
          </a:solidFill>
          <a:ln w="12700">
            <a:solidFill>
              <a:srgbClr val="E4D9C3"/>
            </a:solidFill>
          </a:ln>
        </p:spPr>
        <p:txBody>
          <a:bodyPr wrap="square" rtlCol="0"/>
          <a:lstStyle/>
          <a:p>
            <a:r>
              <a:rPr/>
              <a:t/>
            </a:r>
          </a:p>
        </p:txBody>
      </p:sp>
      <p:sp>
        <p:nvSpPr>
          <p:cNvPr id="11" name="TextBox 11">
            <a:extLst>
              <a:ext uri="{FF2B5EF4-FFF2-40B4-BE49-F238E27FC236}">
                <a16:creationId xmlns:a16="http://schemas.microsoft.com/office/drawing/2014/main" id="{7AA36013-EB75-40D9-B093-AC7DAF41D07C}"/>
              </a:ext>
            </a:extLst>
          </p:cNvPr>
          <p:cNvSpPr txBox="1"/>
          <p:nvPr/>
        </p:nvSpPr>
        <p:spPr>
          <a:xfrm>
            <a:off x="8515350" y="2495550"/>
            <a:ext cx="2667000" cy="514350"/>
          </a:xfrm>
        </p:spPr>
        <p:txBody>
          <a:bodyPr wrap="square" rtlCol="0" lIns="0" tIns="0" rIns="0" bIns="0" anchor="t"/>
          <a:lstStyle/>
          <a:p>
            <a:pPr algn="l"/>
            <a:r>
              <a:rPr sz="3200" b="1">
                <a:solidFill>
                  <a:srgbClr val="243B45"/>
                </a:solidFill>
                <a:latin typeface="Segoe UI"/>
                <a:ea typeface="Segoe UI"/>
              </a:rPr>
              <a:t>35 %</a:t>
            </a:r>
          </a:p>
        </p:txBody>
      </p:sp>
      <p:sp>
        <p:nvSpPr>
          <p:cNvPr id="12" name="TextBox 12">
            <a:extLst>
              <a:ext uri="{FF2B5EF4-FFF2-40B4-BE49-F238E27FC236}">
                <a16:creationId xmlns:a16="http://schemas.microsoft.com/office/drawing/2014/main" id="{C1BCC2DC-4818-484E-97F8-8039E69B7E07}"/>
              </a:ext>
            </a:extLst>
          </p:cNvPr>
          <p:cNvSpPr txBox="1"/>
          <p:nvPr/>
        </p:nvSpPr>
        <p:spPr>
          <a:xfrm>
            <a:off x="8515350" y="3028950"/>
            <a:ext cx="2686050" cy="609600"/>
          </a:xfrm>
        </p:spPr>
        <p:txBody>
          <a:bodyPr wrap="square" rtlCol="0" lIns="0" tIns="0" rIns="0" bIns="0" anchor="t"/>
          <a:lstStyle/>
          <a:p>
            <a:pPr algn="l">
              <a:lnSpc>
                <a:spcPct val="120000"/>
              </a:lnSpc>
            </a:pPr>
            <a:r>
              <a:rPr sz="1200">
                <a:solidFill>
                  <a:srgbClr val="6B7C82"/>
                </a:solidFill>
                <a:latin typeface="Segoe UI"/>
                <a:ea typeface="Segoe UI"/>
              </a:rPr>
              <a:t>de dossiers incomplets au siège — cible : ≤ 10 %</a:t>
            </a:r>
          </a:p>
        </p:txBody>
      </p:sp>
      <p:sp>
        <p:nvSpPr>
          <p:cNvPr id="13" name="Shape 13">
            <a:extLst>
              <a:ext uri="{FF2B5EF4-FFF2-40B4-BE49-F238E27FC236}">
                <a16:creationId xmlns:a16="http://schemas.microsoft.com/office/drawing/2014/main" id="{BA368921-153E-466D-8EA6-773A3BA64B76}"/>
              </a:ext>
            </a:extLst>
          </p:cNvPr>
          <p:cNvSpPr/>
          <p:nvPr/>
        </p:nvSpPr>
        <p:spPr>
          <a:xfrm>
            <a:off x="4953000" y="3905250"/>
            <a:ext cx="3143250" cy="1428750"/>
          </a:xfrm>
          <a:prstGeom prst="roundRect">
            <a:avLst/>
          </a:prstGeom>
          <a:solidFill>
            <a:srgbClr val="FFFFFF"/>
          </a:solidFill>
          <a:ln w="12700">
            <a:solidFill>
              <a:srgbClr val="E4D9C3"/>
            </a:solidFill>
          </a:ln>
        </p:spPr>
        <p:txBody>
          <a:bodyPr wrap="square" rtlCol="0"/>
          <a:lstStyle/>
          <a:p>
            <a:r>
              <a:rPr/>
              <a:t/>
            </a:r>
          </a:p>
        </p:txBody>
      </p:sp>
      <p:sp>
        <p:nvSpPr>
          <p:cNvPr id="14" name="TextBox 14">
            <a:extLst>
              <a:ext uri="{FF2B5EF4-FFF2-40B4-BE49-F238E27FC236}">
                <a16:creationId xmlns:a16="http://schemas.microsoft.com/office/drawing/2014/main" id="{356D5511-0EE1-4C03-8BF3-B97DB8A8956F}"/>
              </a:ext>
            </a:extLst>
          </p:cNvPr>
          <p:cNvSpPr txBox="1"/>
          <p:nvPr/>
        </p:nvSpPr>
        <p:spPr>
          <a:xfrm>
            <a:off x="5181600" y="4114800"/>
            <a:ext cx="2667000" cy="514350"/>
          </a:xfrm>
        </p:spPr>
        <p:txBody>
          <a:bodyPr wrap="square" rtlCol="0" lIns="0" tIns="0" rIns="0" bIns="0" anchor="t"/>
          <a:lstStyle/>
          <a:p>
            <a:pPr algn="l"/>
            <a:r>
              <a:rPr sz="3200" b="1">
                <a:solidFill>
                  <a:srgbClr val="243B45"/>
                </a:solidFill>
                <a:latin typeface="Segoe UI"/>
                <a:ea typeface="Segoe UI"/>
              </a:rPr>
              <a:t>3 saisies</a:t>
            </a:r>
          </a:p>
        </p:txBody>
      </p:sp>
      <p:sp>
        <p:nvSpPr>
          <p:cNvPr id="15" name="TextBox 15">
            <a:extLst>
              <a:ext uri="{FF2B5EF4-FFF2-40B4-BE49-F238E27FC236}">
                <a16:creationId xmlns:a16="http://schemas.microsoft.com/office/drawing/2014/main" id="{0C0B4981-516B-4543-8BDE-ADBDE02E0C31}"/>
              </a:ext>
            </a:extLst>
          </p:cNvPr>
          <p:cNvSpPr txBox="1"/>
          <p:nvPr/>
        </p:nvSpPr>
        <p:spPr>
          <a:xfrm>
            <a:off x="5181600" y="4648200"/>
            <a:ext cx="2686050" cy="609600"/>
          </a:xfrm>
        </p:spPr>
        <p:txBody>
          <a:bodyPr wrap="square" rtlCol="0" lIns="0" tIns="0" rIns="0" bIns="0" anchor="t"/>
          <a:lstStyle/>
          <a:p>
            <a:pPr algn="l">
              <a:lnSpc>
                <a:spcPct val="120000"/>
              </a:lnSpc>
            </a:pPr>
            <a:r>
              <a:rPr sz="1200">
                <a:solidFill>
                  <a:srgbClr val="6B7C82"/>
                </a:solidFill>
                <a:latin typeface="Segoe UI"/>
                <a:ea typeface="Segoe UI"/>
              </a:rPr>
              <a:t>du même dossier : fiche agence, Excel siège, compte-rendu — cible : 1</a:t>
            </a:r>
          </a:p>
        </p:txBody>
      </p:sp>
      <p:sp>
        <p:nvSpPr>
          <p:cNvPr id="16" name="Shape 16">
            <a:extLst>
              <a:ext uri="{FF2B5EF4-FFF2-40B4-BE49-F238E27FC236}">
                <a16:creationId xmlns:a16="http://schemas.microsoft.com/office/drawing/2014/main" id="{1BDC989C-C553-4B1A-9DD1-86384D199CAB}"/>
              </a:ext>
            </a:extLst>
          </p:cNvPr>
          <p:cNvSpPr/>
          <p:nvPr/>
        </p:nvSpPr>
        <p:spPr>
          <a:xfrm>
            <a:off x="8286750" y="3905250"/>
            <a:ext cx="3143250" cy="1428750"/>
          </a:xfrm>
          <a:prstGeom prst="roundRect">
            <a:avLst/>
          </a:prstGeom>
          <a:solidFill>
            <a:srgbClr val="FFFFFF"/>
          </a:solidFill>
          <a:ln w="12700">
            <a:solidFill>
              <a:srgbClr val="E4D9C3"/>
            </a:solidFill>
          </a:ln>
        </p:spPr>
        <p:txBody>
          <a:bodyPr wrap="square" rtlCol="0"/>
          <a:lstStyle/>
          <a:p>
            <a:r>
              <a:rPr/>
              <a:t/>
            </a:r>
          </a:p>
        </p:txBody>
      </p:sp>
      <p:sp>
        <p:nvSpPr>
          <p:cNvPr id="17" name="TextBox 17">
            <a:extLst>
              <a:ext uri="{FF2B5EF4-FFF2-40B4-BE49-F238E27FC236}">
                <a16:creationId xmlns:a16="http://schemas.microsoft.com/office/drawing/2014/main" id="{D37A76BD-6B9C-46E1-A2C6-91C2991B153E}"/>
              </a:ext>
            </a:extLst>
          </p:cNvPr>
          <p:cNvSpPr txBox="1"/>
          <p:nvPr/>
        </p:nvSpPr>
        <p:spPr>
          <a:xfrm>
            <a:off x="8515350" y="4114800"/>
            <a:ext cx="2667000" cy="514350"/>
          </a:xfrm>
        </p:spPr>
        <p:txBody>
          <a:bodyPr wrap="square" rtlCol="0" lIns="0" tIns="0" rIns="0" bIns="0" anchor="t"/>
          <a:lstStyle/>
          <a:p>
            <a:pPr algn="l"/>
            <a:r>
              <a:rPr sz="3200" b="1">
                <a:solidFill>
                  <a:srgbClr val="243B45"/>
                </a:solidFill>
                <a:latin typeface="Segoe UI"/>
                <a:ea typeface="Segoe UI"/>
              </a:rPr>
              <a:t>0 %</a:t>
            </a:r>
          </a:p>
        </p:txBody>
      </p:sp>
      <p:sp>
        <p:nvSpPr>
          <p:cNvPr id="18" name="TextBox 18">
            <a:extLst>
              <a:ext uri="{FF2B5EF4-FFF2-40B4-BE49-F238E27FC236}">
                <a16:creationId xmlns:a16="http://schemas.microsoft.com/office/drawing/2014/main" id="{9D41F2C8-37FA-41E2-BAF2-8FA75013C7E8}"/>
              </a:ext>
            </a:extLst>
          </p:cNvPr>
          <p:cNvSpPr txBox="1"/>
          <p:nvPr/>
        </p:nvSpPr>
        <p:spPr>
          <a:xfrm>
            <a:off x="8515350" y="4648200"/>
            <a:ext cx="2686050" cy="609600"/>
          </a:xfrm>
        </p:spPr>
        <p:txBody>
          <a:bodyPr wrap="square" rtlCol="0" lIns="0" tIns="0" rIns="0" bIns="0" anchor="t"/>
          <a:lstStyle/>
          <a:p>
            <a:pPr algn="l">
              <a:lnSpc>
                <a:spcPct val="120000"/>
              </a:lnSpc>
            </a:pPr>
            <a:r>
              <a:rPr sz="1200">
                <a:solidFill>
                  <a:srgbClr val="6B7C82"/>
                </a:solidFill>
                <a:latin typeface="Segoe UI"/>
                <a:ea typeface="Segoe UI"/>
              </a:rPr>
              <a:t>de visibilité client entre dépôt et décision — cible : 100 % notifié</a:t>
            </a:r>
          </a:p>
        </p:txBody>
      </p:sp>
      <p:sp>
        <p:nvSpPr>
          <p:cNvPr id="19" name="TextBox 19">
            <a:extLst>
              <a:ext uri="{FF2B5EF4-FFF2-40B4-BE49-F238E27FC236}">
                <a16:creationId xmlns:a16="http://schemas.microsoft.com/office/drawing/2014/main" id="{F0173C70-9974-4C3D-AE8E-31F610957395}"/>
              </a:ext>
            </a:extLst>
          </p:cNvPr>
          <p:cNvSpPr txBox="1"/>
          <p:nvPr/>
        </p:nvSpPr>
        <p:spPr>
          <a:xfrm>
            <a:off x="762000" y="6362700"/>
            <a:ext cx="10668000" cy="209550"/>
          </a:xfrm>
        </p:spPr>
        <p:txBody>
          <a:bodyPr wrap="square" rtlCol="0" lIns="0" tIns="0" rIns="0" bIns="0" anchor="t"/>
          <a:lstStyle/>
          <a:p>
            <a:pPr algn="l"/>
            <a:r>
              <a:rPr sz="1050" i="1">
                <a:solidFill>
                  <a:srgbClr val="9AA6AC"/>
                </a:solidFill>
                <a:latin typeface="Segoe UI"/>
                <a:ea typeface="Segoe UI"/>
              </a:rPr>
              <a:t>Source : matrice des douleurs &amp; BRD — E. Kanzari, 2 novembre 2026 (chiffres = hypothèses réalistes documentées, cas fictif)</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2E7"/>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BCB132F9-BAFA-4A25-865B-9BA80BE8E54A}"/>
              </a:ext>
            </a:extLst>
          </p:cNvPr>
          <p:cNvSpPr txBox="1"/>
          <p:nvPr/>
        </p:nvSpPr>
        <p:spPr>
          <a:xfrm>
            <a:off x="762000" y="533400"/>
            <a:ext cx="5715000" cy="228600"/>
          </a:xfrm>
        </p:spPr>
        <p:txBody>
          <a:bodyPr wrap="square" rtlCol="0" lIns="0" tIns="0" rIns="0" bIns="0" anchor="t"/>
          <a:lstStyle/>
          <a:p>
            <a:pPr algn="l"/>
            <a:r>
              <a:rPr sz="1300" b="1">
                <a:solidFill>
                  <a:srgbClr val="2E7D8C"/>
                </a:solidFill>
                <a:latin typeface="Segoe UI"/>
                <a:ea typeface="Segoe UI"/>
              </a:rPr>
              <a:t>POURQUOI C'EN EST LÀ</a:t>
            </a:r>
          </a:p>
        </p:txBody>
      </p:sp>
      <p:sp>
        <p:nvSpPr>
          <p:cNvPr id="4" name="TextBox 4">
            <a:extLst>
              <a:ext uri="{FF2B5EF4-FFF2-40B4-BE49-F238E27FC236}">
                <a16:creationId xmlns:a16="http://schemas.microsoft.com/office/drawing/2014/main" id="{767A11A5-F9D9-4B97-98BB-E285D54D52BC}"/>
              </a:ext>
            </a:extLst>
          </p:cNvPr>
          <p:cNvSpPr txBox="1"/>
          <p:nvPr/>
        </p:nvSpPr>
        <p:spPr>
          <a:xfrm>
            <a:off x="762000" y="819150"/>
            <a:ext cx="8572500" cy="533400"/>
          </a:xfrm>
        </p:spPr>
        <p:txBody>
          <a:bodyPr wrap="square" rtlCol="0" lIns="0" tIns="0" rIns="0" bIns="0" anchor="t"/>
          <a:lstStyle/>
          <a:p>
            <a:pPr algn="l"/>
            <a:r>
              <a:rPr sz="2800" b="1">
                <a:solidFill>
                  <a:srgbClr val="243B45"/>
                </a:solidFill>
                <a:latin typeface="Segoe UI"/>
                <a:ea typeface="Segoe UI"/>
              </a:rPr>
              <a:t>Trois causes racines, pas trois bugs</a:t>
            </a:r>
          </a:p>
        </p:txBody>
      </p:sp>
      <p:sp>
        <p:nvSpPr>
          <p:cNvPr id="5" name="TextBox 5">
            <a:extLst>
              <a:ext uri="{FF2B5EF4-FFF2-40B4-BE49-F238E27FC236}">
                <a16:creationId xmlns:a16="http://schemas.microsoft.com/office/drawing/2014/main" id="{416ABB2F-C8ED-40F7-BCAA-FFAD9B2FF788}"/>
              </a:ext>
            </a:extLst>
          </p:cNvPr>
          <p:cNvSpPr txBox="1"/>
          <p:nvPr/>
        </p:nvSpPr>
        <p:spPr>
          <a:xfrm>
            <a:off x="762000" y="1333500"/>
            <a:ext cx="10001250" cy="285750"/>
          </a:xfrm>
        </p:spPr>
        <p:txBody>
          <a:bodyPr wrap="square" rtlCol="0" lIns="0" tIns="0" rIns="0" bIns="0" anchor="t"/>
          <a:lstStyle/>
          <a:p>
            <a:pPr algn="l"/>
            <a:r>
              <a:rPr sz="1350">
                <a:solidFill>
                  <a:srgbClr val="6B7C82"/>
                </a:solidFill>
                <a:latin typeface="Segoe UI"/>
                <a:ea typeface="Segoe UI"/>
              </a:rPr>
              <a:t>Analyse « 5 pourquoi » sur les douleurs les plus coûteuses (D1, D2, D4) — chaque cause impose un principe de conception.</a:t>
            </a:r>
          </a:p>
        </p:txBody>
      </p:sp>
      <p:sp>
        <p:nvSpPr>
          <p:cNvPr id="6" name="Shape 6">
            <a:extLst>
              <a:ext uri="{FF2B5EF4-FFF2-40B4-BE49-F238E27FC236}">
                <a16:creationId xmlns:a16="http://schemas.microsoft.com/office/drawing/2014/main" id="{94F2F2D5-3362-4F09-A5EC-2D16D58ADD5A}"/>
              </a:ext>
            </a:extLst>
          </p:cNvPr>
          <p:cNvSpPr/>
          <p:nvPr/>
        </p:nvSpPr>
        <p:spPr>
          <a:xfrm>
            <a:off x="762000" y="1866900"/>
            <a:ext cx="3238500" cy="4095750"/>
          </a:xfrm>
          <a:prstGeom prst="roundRect">
            <a:avLst/>
          </a:prstGeom>
          <a:solidFill>
            <a:srgbClr val="FFFFFF"/>
          </a:solidFill>
          <a:ln w="12700">
            <a:solidFill>
              <a:srgbClr val="E4D9C3"/>
            </a:solidFill>
          </a:ln>
        </p:spPr>
        <p:txBody>
          <a:bodyPr wrap="square" rtlCol="0"/>
          <a:lstStyle/>
          <a:p>
            <a:r>
              <a:rPr/>
              <a:t/>
            </a:r>
          </a:p>
        </p:txBody>
      </p:sp>
      <p:sp>
        <p:nvSpPr>
          <p:cNvPr id="7" name="TextBox 7">
            <a:extLst>
              <a:ext uri="{FF2B5EF4-FFF2-40B4-BE49-F238E27FC236}">
                <a16:creationId xmlns:a16="http://schemas.microsoft.com/office/drawing/2014/main" id="{ED1C39AF-9671-4138-80C3-A2079313E9B2}"/>
              </a:ext>
            </a:extLst>
          </p:cNvPr>
          <p:cNvSpPr txBox="1"/>
          <p:nvPr/>
        </p:nvSpPr>
        <p:spPr>
          <a:xfrm>
            <a:off x="990600" y="2095500"/>
            <a:ext cx="2762250" cy="209550"/>
          </a:xfrm>
        </p:spPr>
        <p:txBody>
          <a:bodyPr wrap="square" rtlCol="0" lIns="0" tIns="0" rIns="0" bIns="0" anchor="t"/>
          <a:lstStyle/>
          <a:p>
            <a:pPr algn="l"/>
            <a:r>
              <a:rPr sz="1200" b="1">
                <a:solidFill>
                  <a:srgbClr val="7FB6C4"/>
                </a:solidFill>
                <a:latin typeface="Segoe UI"/>
                <a:ea typeface="Segoe UI"/>
              </a:rPr>
              <a:t>CAUSE 1</a:t>
            </a:r>
          </a:p>
        </p:txBody>
      </p:sp>
      <p:sp>
        <p:nvSpPr>
          <p:cNvPr id="8" name="TextBox 8">
            <a:extLst>
              <a:ext uri="{FF2B5EF4-FFF2-40B4-BE49-F238E27FC236}">
                <a16:creationId xmlns:a16="http://schemas.microsoft.com/office/drawing/2014/main" id="{7E62A960-5EF0-433D-A024-BC74E1A8A136}"/>
              </a:ext>
            </a:extLst>
          </p:cNvPr>
          <p:cNvSpPr txBox="1"/>
          <p:nvPr/>
        </p:nvSpPr>
        <p:spPr>
          <a:xfrm>
            <a:off x="990600" y="2362200"/>
            <a:ext cx="2762250" cy="285750"/>
          </a:xfrm>
        </p:spPr>
        <p:txBody>
          <a:bodyPr wrap="square" rtlCol="0" lIns="0" tIns="0" rIns="0" bIns="0" anchor="t"/>
          <a:lstStyle/>
          <a:p>
            <a:pPr algn="l"/>
            <a:r>
              <a:rPr sz="1800" b="1">
                <a:solidFill>
                  <a:srgbClr val="243B45"/>
                </a:solidFill>
                <a:latin typeface="Segoe UI"/>
                <a:ea typeface="Segoe UI"/>
              </a:rPr>
              <a:t>Pas de référentiel</a:t>
            </a:r>
          </a:p>
        </p:txBody>
      </p:sp>
      <p:sp>
        <p:nvSpPr>
          <p:cNvPr id="9" name="TextBox 9">
            <a:extLst>
              <a:ext uri="{FF2B5EF4-FFF2-40B4-BE49-F238E27FC236}">
                <a16:creationId xmlns:a16="http://schemas.microsoft.com/office/drawing/2014/main" id="{63CD0D63-4131-4BD2-8DDB-E20B0D4F5B1B}"/>
              </a:ext>
            </a:extLst>
          </p:cNvPr>
          <p:cNvSpPr txBox="1"/>
          <p:nvPr/>
        </p:nvSpPr>
        <p:spPr>
          <a:xfrm>
            <a:off x="990600" y="2724150"/>
            <a:ext cx="2781300" cy="1238250"/>
          </a:xfrm>
        </p:spPr>
        <p:txBody>
          <a:bodyPr wrap="square" rtlCol="0" lIns="0" tIns="0" rIns="0" bIns="0" anchor="t"/>
          <a:lstStyle/>
          <a:p>
            <a:pPr algn="l">
              <a:lnSpc>
                <a:spcPct val="128000"/>
              </a:lnSpc>
            </a:pPr>
            <a:r>
              <a:rPr sz="1250">
                <a:solidFill>
                  <a:srgbClr val="6B7C82"/>
                </a:solidFill>
                <a:latin typeface="Segoe UI"/>
                <a:ea typeface="Segoe UI"/>
              </a:rPr>
              <a:t>Les pièces exigées changent selon la personne qui vérifie : les règles vivent dans la tête des agents, pas dans un document partagé.</a:t>
            </a:r>
          </a:p>
        </p:txBody>
      </p:sp>
      <p:sp>
        <p:nvSpPr>
          <p:cNvPr id="10" name="Shape 10">
            <a:extLst>
              <a:ext uri="{FF2B5EF4-FFF2-40B4-BE49-F238E27FC236}">
                <a16:creationId xmlns:a16="http://schemas.microsoft.com/office/drawing/2014/main" id="{219C6095-382B-46F7-B19D-11E9DAC83883}"/>
              </a:ext>
            </a:extLst>
          </p:cNvPr>
          <p:cNvSpPr/>
          <p:nvPr/>
        </p:nvSpPr>
        <p:spPr>
          <a:xfrm>
            <a:off x="914400" y="4381500"/>
            <a:ext cx="2933700" cy="1409700"/>
          </a:xfrm>
          <a:prstGeom prst="roundRect">
            <a:avLst/>
          </a:prstGeom>
          <a:solidFill>
            <a:srgbClr val="EAF3F5"/>
          </a:solidFill>
        </p:spPr>
        <p:txBody>
          <a:bodyPr wrap="square" rtlCol="0"/>
          <a:lstStyle/>
          <a:p>
            <a:r>
              <a:rPr/>
              <a:t/>
            </a:r>
          </a:p>
        </p:txBody>
      </p:sp>
      <p:sp>
        <p:nvSpPr>
          <p:cNvPr id="11" name="TextBox 11">
            <a:extLst>
              <a:ext uri="{FF2B5EF4-FFF2-40B4-BE49-F238E27FC236}">
                <a16:creationId xmlns:a16="http://schemas.microsoft.com/office/drawing/2014/main" id="{CB6A21A7-E178-49B4-BA26-679623C63EB2}"/>
              </a:ext>
            </a:extLst>
          </p:cNvPr>
          <p:cNvSpPr txBox="1"/>
          <p:nvPr/>
        </p:nvSpPr>
        <p:spPr>
          <a:xfrm>
            <a:off x="1066800" y="4533900"/>
            <a:ext cx="2628900" cy="1143000"/>
          </a:xfrm>
        </p:spPr>
        <p:txBody>
          <a:bodyPr wrap="square" rtlCol="0" lIns="0" tIns="0" rIns="0" bIns="0" anchor="t"/>
          <a:lstStyle/>
          <a:p>
            <a:pPr algn="l">
              <a:lnSpc>
                <a:spcPct val="126000"/>
              </a:lnSpc>
            </a:pPr>
            <a:r>
              <a:rPr sz="1200" b="1">
                <a:solidFill>
                  <a:srgbClr val="2E7D8C"/>
                </a:solidFill>
                <a:latin typeface="Segoe UI"/>
                <a:ea typeface="Segoe UI"/>
              </a:rPr>
              <a:t>→ Pour la solution : </a:t>
            </a:r>
            <a:r>
              <a:rPr sz="1200">
                <a:solidFill>
                  <a:srgbClr val="243B45"/>
                </a:solidFill>
                <a:latin typeface="Segoe UI"/>
                <a:ea typeface="Segoe UI"/>
              </a:rPr>
              <a:t>un référentiel de complétude paramétrable dans l'outil par les métiers, pas un PDF figé que personne ne met à jour (EF-03).</a:t>
            </a:r>
          </a:p>
        </p:txBody>
      </p:sp>
      <p:sp>
        <p:nvSpPr>
          <p:cNvPr id="12" name="Shape 12">
            <a:extLst>
              <a:ext uri="{FF2B5EF4-FFF2-40B4-BE49-F238E27FC236}">
                <a16:creationId xmlns:a16="http://schemas.microsoft.com/office/drawing/2014/main" id="{8B0E0B18-94F8-4229-B976-16EB4FDDC39F}"/>
              </a:ext>
            </a:extLst>
          </p:cNvPr>
          <p:cNvSpPr/>
          <p:nvPr/>
        </p:nvSpPr>
        <p:spPr>
          <a:xfrm>
            <a:off x="4476750" y="1866900"/>
            <a:ext cx="3238500" cy="4095750"/>
          </a:xfrm>
          <a:prstGeom prst="roundRect">
            <a:avLst/>
          </a:prstGeom>
          <a:solidFill>
            <a:srgbClr val="FFFFFF"/>
          </a:solidFill>
          <a:ln w="12700">
            <a:solidFill>
              <a:srgbClr val="E4D9C3"/>
            </a:solidFill>
          </a:ln>
        </p:spPr>
        <p:txBody>
          <a:bodyPr wrap="square" rtlCol="0"/>
          <a:lstStyle/>
          <a:p>
            <a:r>
              <a:rPr/>
              <a:t/>
            </a:r>
          </a:p>
        </p:txBody>
      </p:sp>
      <p:sp>
        <p:nvSpPr>
          <p:cNvPr id="13" name="TextBox 13">
            <a:extLst>
              <a:ext uri="{FF2B5EF4-FFF2-40B4-BE49-F238E27FC236}">
                <a16:creationId xmlns:a16="http://schemas.microsoft.com/office/drawing/2014/main" id="{E62AEC26-0E14-40C6-A21A-683E9830200F}"/>
              </a:ext>
            </a:extLst>
          </p:cNvPr>
          <p:cNvSpPr txBox="1"/>
          <p:nvPr/>
        </p:nvSpPr>
        <p:spPr>
          <a:xfrm>
            <a:off x="4705350" y="2095500"/>
            <a:ext cx="2762250" cy="209550"/>
          </a:xfrm>
        </p:spPr>
        <p:txBody>
          <a:bodyPr wrap="square" rtlCol="0" lIns="0" tIns="0" rIns="0" bIns="0" anchor="t"/>
          <a:lstStyle/>
          <a:p>
            <a:pPr algn="l"/>
            <a:r>
              <a:rPr sz="1200" b="1">
                <a:solidFill>
                  <a:srgbClr val="7FB6C4"/>
                </a:solidFill>
                <a:latin typeface="Segoe UI"/>
                <a:ea typeface="Segoe UI"/>
              </a:rPr>
              <a:t>CAUSE 2</a:t>
            </a:r>
          </a:p>
        </p:txBody>
      </p:sp>
      <p:sp>
        <p:nvSpPr>
          <p:cNvPr id="14" name="TextBox 14">
            <a:extLst>
              <a:ext uri="{FF2B5EF4-FFF2-40B4-BE49-F238E27FC236}">
                <a16:creationId xmlns:a16="http://schemas.microsoft.com/office/drawing/2014/main" id="{A0D96AC1-1E0E-4FE2-A067-7EF21979DEE8}"/>
              </a:ext>
            </a:extLst>
          </p:cNvPr>
          <p:cNvSpPr txBox="1"/>
          <p:nvPr/>
        </p:nvSpPr>
        <p:spPr>
          <a:xfrm>
            <a:off x="4705350" y="2362200"/>
            <a:ext cx="2762250" cy="285750"/>
          </a:xfrm>
        </p:spPr>
        <p:txBody>
          <a:bodyPr wrap="square" rtlCol="0" lIns="0" tIns="0" rIns="0" bIns="0" anchor="t"/>
          <a:lstStyle/>
          <a:p>
            <a:pPr algn="l"/>
            <a:r>
              <a:rPr sz="1800" b="1">
                <a:solidFill>
                  <a:srgbClr val="243B45"/>
                </a:solidFill>
                <a:latin typeface="Segoe UI"/>
                <a:ea typeface="Segoe UI"/>
              </a:rPr>
              <a:t>Pas de mesure</a:t>
            </a:r>
          </a:p>
        </p:txBody>
      </p:sp>
      <p:sp>
        <p:nvSpPr>
          <p:cNvPr id="15" name="TextBox 15">
            <a:extLst>
              <a:ext uri="{FF2B5EF4-FFF2-40B4-BE49-F238E27FC236}">
                <a16:creationId xmlns:a16="http://schemas.microsoft.com/office/drawing/2014/main" id="{E63E3716-0453-46F8-8FDB-B31BEDAC58CB}"/>
              </a:ext>
            </a:extLst>
          </p:cNvPr>
          <p:cNvSpPr txBox="1"/>
          <p:nvPr/>
        </p:nvSpPr>
        <p:spPr>
          <a:xfrm>
            <a:off x="4705350" y="2724150"/>
            <a:ext cx="2781300" cy="1238250"/>
          </a:xfrm>
        </p:spPr>
        <p:txBody>
          <a:bodyPr wrap="square" rtlCol="0" lIns="0" tIns="0" rIns="0" bIns="0" anchor="t"/>
          <a:lstStyle/>
          <a:p>
            <a:pPr algn="l">
              <a:lnSpc>
                <a:spcPct val="128000"/>
              </a:lnSpc>
            </a:pPr>
            <a:r>
              <a:rPr sz="1250">
                <a:solidFill>
                  <a:srgbClr val="6B7C82"/>
                </a:solidFill>
                <a:latin typeface="Segoe UI"/>
                <a:ea typeface="Segoe UI"/>
              </a:rPr>
              <a:t>Ni indicateur de délai, ni temps de recherche mesuré : le coût des allers-retours n'a jamais été quantifié, donc personne ne le porte.</a:t>
            </a:r>
          </a:p>
        </p:txBody>
      </p:sp>
      <p:sp>
        <p:nvSpPr>
          <p:cNvPr id="16" name="Shape 16">
            <a:extLst>
              <a:ext uri="{FF2B5EF4-FFF2-40B4-BE49-F238E27FC236}">
                <a16:creationId xmlns:a16="http://schemas.microsoft.com/office/drawing/2014/main" id="{C0E5430C-D0E3-4220-83C9-89C822D8ABEB}"/>
              </a:ext>
            </a:extLst>
          </p:cNvPr>
          <p:cNvSpPr/>
          <p:nvPr/>
        </p:nvSpPr>
        <p:spPr>
          <a:xfrm>
            <a:off x="4629150" y="4381500"/>
            <a:ext cx="2933700" cy="1409700"/>
          </a:xfrm>
          <a:prstGeom prst="roundRect">
            <a:avLst/>
          </a:prstGeom>
          <a:solidFill>
            <a:srgbClr val="EAF3F5"/>
          </a:solidFill>
        </p:spPr>
        <p:txBody>
          <a:bodyPr wrap="square" rtlCol="0"/>
          <a:lstStyle/>
          <a:p>
            <a:r>
              <a:rPr/>
              <a:t/>
            </a:r>
          </a:p>
        </p:txBody>
      </p:sp>
      <p:sp>
        <p:nvSpPr>
          <p:cNvPr id="17" name="TextBox 17">
            <a:extLst>
              <a:ext uri="{FF2B5EF4-FFF2-40B4-BE49-F238E27FC236}">
                <a16:creationId xmlns:a16="http://schemas.microsoft.com/office/drawing/2014/main" id="{FBAAA9DD-FD32-411B-81A5-704A9898C773}"/>
              </a:ext>
            </a:extLst>
          </p:cNvPr>
          <p:cNvSpPr txBox="1"/>
          <p:nvPr/>
        </p:nvSpPr>
        <p:spPr>
          <a:xfrm>
            <a:off x="4781550" y="4533900"/>
            <a:ext cx="2628900" cy="1143000"/>
          </a:xfrm>
        </p:spPr>
        <p:txBody>
          <a:bodyPr wrap="square" rtlCol="0" lIns="0" tIns="0" rIns="0" bIns="0" anchor="t"/>
          <a:lstStyle/>
          <a:p>
            <a:pPr algn="l">
              <a:lnSpc>
                <a:spcPct val="126000"/>
              </a:lnSpc>
            </a:pPr>
            <a:r>
              <a:rPr sz="1200" b="1">
                <a:solidFill>
                  <a:srgbClr val="2E7D8C"/>
                </a:solidFill>
                <a:latin typeface="Segoe UI"/>
                <a:ea typeface="Segoe UI"/>
              </a:rPr>
              <a:t>→ Pour la solution : </a:t>
            </a:r>
            <a:r>
              <a:rPr sz="1200">
                <a:solidFill>
                  <a:srgbClr val="243B45"/>
                </a:solidFill>
                <a:latin typeface="Segoe UI"/>
                <a:ea typeface="Segoe UI"/>
              </a:rPr>
              <a:t>des indicateurs calculés nativement par l'outil : délais par étape, taux d'incomplétude, volumes (EF-09).</a:t>
            </a:r>
          </a:p>
        </p:txBody>
      </p:sp>
      <p:sp>
        <p:nvSpPr>
          <p:cNvPr id="18" name="Shape 18">
            <a:extLst>
              <a:ext uri="{FF2B5EF4-FFF2-40B4-BE49-F238E27FC236}">
                <a16:creationId xmlns:a16="http://schemas.microsoft.com/office/drawing/2014/main" id="{81DE8F21-191F-496A-9342-F8BF29FD8646}"/>
              </a:ext>
            </a:extLst>
          </p:cNvPr>
          <p:cNvSpPr/>
          <p:nvPr/>
        </p:nvSpPr>
        <p:spPr>
          <a:xfrm>
            <a:off x="8191500" y="1866900"/>
            <a:ext cx="3238500" cy="4095750"/>
          </a:xfrm>
          <a:prstGeom prst="roundRect">
            <a:avLst/>
          </a:prstGeom>
          <a:solidFill>
            <a:srgbClr val="FFFFFF"/>
          </a:solidFill>
          <a:ln w="12700">
            <a:solidFill>
              <a:srgbClr val="E4D9C3"/>
            </a:solidFill>
          </a:ln>
        </p:spPr>
        <p:txBody>
          <a:bodyPr wrap="square" rtlCol="0"/>
          <a:lstStyle/>
          <a:p>
            <a:r>
              <a:rPr/>
              <a:t/>
            </a:r>
          </a:p>
        </p:txBody>
      </p:sp>
      <p:sp>
        <p:nvSpPr>
          <p:cNvPr id="19" name="TextBox 19">
            <a:extLst>
              <a:ext uri="{FF2B5EF4-FFF2-40B4-BE49-F238E27FC236}">
                <a16:creationId xmlns:a16="http://schemas.microsoft.com/office/drawing/2014/main" id="{C3E934D2-6D00-41BF-A4D0-9E3D1750968B}"/>
              </a:ext>
            </a:extLst>
          </p:cNvPr>
          <p:cNvSpPr txBox="1"/>
          <p:nvPr/>
        </p:nvSpPr>
        <p:spPr>
          <a:xfrm>
            <a:off x="8420100" y="2095500"/>
            <a:ext cx="2762250" cy="209550"/>
          </a:xfrm>
        </p:spPr>
        <p:txBody>
          <a:bodyPr wrap="square" rtlCol="0" lIns="0" tIns="0" rIns="0" bIns="0" anchor="t"/>
          <a:lstStyle/>
          <a:p>
            <a:pPr algn="l"/>
            <a:r>
              <a:rPr sz="1200" b="1">
                <a:solidFill>
                  <a:srgbClr val="7FB6C4"/>
                </a:solidFill>
                <a:latin typeface="Segoe UI"/>
                <a:ea typeface="Segoe UI"/>
              </a:rPr>
              <a:t>CAUSE 3</a:t>
            </a:r>
          </a:p>
        </p:txBody>
      </p:sp>
      <p:sp>
        <p:nvSpPr>
          <p:cNvPr id="20" name="TextBox 20">
            <a:extLst>
              <a:ext uri="{FF2B5EF4-FFF2-40B4-BE49-F238E27FC236}">
                <a16:creationId xmlns:a16="http://schemas.microsoft.com/office/drawing/2014/main" id="{53087D51-4EF2-47D8-A26D-681329E4D103}"/>
              </a:ext>
            </a:extLst>
          </p:cNvPr>
          <p:cNvSpPr txBox="1"/>
          <p:nvPr/>
        </p:nvSpPr>
        <p:spPr>
          <a:xfrm>
            <a:off x="8420100" y="2362200"/>
            <a:ext cx="2762250" cy="285750"/>
          </a:xfrm>
        </p:spPr>
        <p:txBody>
          <a:bodyPr wrap="square" rtlCol="0" lIns="0" tIns="0" rIns="0" bIns="0" anchor="t"/>
          <a:lstStyle/>
          <a:p>
            <a:pPr algn="l"/>
            <a:r>
              <a:rPr sz="1800" b="1">
                <a:solidFill>
                  <a:srgbClr val="243B45"/>
                </a:solidFill>
                <a:latin typeface="Segoe UI"/>
                <a:ea typeface="Segoe UI"/>
              </a:rPr>
              <a:t>Pas de gouvernance</a:t>
            </a:r>
          </a:p>
        </p:txBody>
      </p:sp>
      <p:sp>
        <p:nvSpPr>
          <p:cNvPr id="21" name="TextBox 21">
            <a:extLst>
              <a:ext uri="{FF2B5EF4-FFF2-40B4-BE49-F238E27FC236}">
                <a16:creationId xmlns:a16="http://schemas.microsoft.com/office/drawing/2014/main" id="{9AE043C6-A8E1-4E36-9903-D5DF1A7209D5}"/>
              </a:ext>
            </a:extLst>
          </p:cNvPr>
          <p:cNvSpPr txBox="1"/>
          <p:nvPr/>
        </p:nvSpPr>
        <p:spPr>
          <a:xfrm>
            <a:off x="8420100" y="2724150"/>
            <a:ext cx="2781300" cy="1238250"/>
          </a:xfrm>
        </p:spPr>
        <p:txBody>
          <a:bodyPr wrap="square" rtlCol="0" lIns="0" tIns="0" rIns="0" bIns="0" anchor="t"/>
          <a:lstStyle/>
          <a:p>
            <a:pPr algn="l">
              <a:lnSpc>
                <a:spcPct val="128000"/>
              </a:lnSpc>
            </a:pPr>
            <a:r>
              <a:rPr sz="1250">
                <a:solidFill>
                  <a:srgbClr val="6B7C82"/>
                </a:solidFill>
                <a:latin typeface="Segoe UI"/>
                <a:ea typeface="Segoe UI"/>
              </a:rPr>
              <a:t>Le processus n'a jamais été formalisé : pas de modèle approuvé, pas de propriétaire, personne responsable de l'amélioration.</a:t>
            </a:r>
          </a:p>
        </p:txBody>
      </p:sp>
      <p:sp>
        <p:nvSpPr>
          <p:cNvPr id="22" name="Shape 22">
            <a:extLst>
              <a:ext uri="{FF2B5EF4-FFF2-40B4-BE49-F238E27FC236}">
                <a16:creationId xmlns:a16="http://schemas.microsoft.com/office/drawing/2014/main" id="{A686F1C8-65DE-45E4-AE17-ACFC85B25079}"/>
              </a:ext>
            </a:extLst>
          </p:cNvPr>
          <p:cNvSpPr/>
          <p:nvPr/>
        </p:nvSpPr>
        <p:spPr>
          <a:xfrm>
            <a:off x="8343900" y="4381500"/>
            <a:ext cx="2933700" cy="1409700"/>
          </a:xfrm>
          <a:prstGeom prst="roundRect">
            <a:avLst/>
          </a:prstGeom>
          <a:solidFill>
            <a:srgbClr val="EAF3F5"/>
          </a:solidFill>
        </p:spPr>
        <p:txBody>
          <a:bodyPr wrap="square" rtlCol="0"/>
          <a:lstStyle/>
          <a:p>
            <a:r>
              <a:rPr/>
              <a:t/>
            </a:r>
          </a:p>
        </p:txBody>
      </p:sp>
      <p:sp>
        <p:nvSpPr>
          <p:cNvPr id="23" name="TextBox 23">
            <a:extLst>
              <a:ext uri="{FF2B5EF4-FFF2-40B4-BE49-F238E27FC236}">
                <a16:creationId xmlns:a16="http://schemas.microsoft.com/office/drawing/2014/main" id="{FACFABA0-0244-481C-B7D7-F52D59857C17}"/>
              </a:ext>
            </a:extLst>
          </p:cNvPr>
          <p:cNvSpPr txBox="1"/>
          <p:nvPr/>
        </p:nvSpPr>
        <p:spPr>
          <a:xfrm>
            <a:off x="8496300" y="4533900"/>
            <a:ext cx="2628900" cy="1143000"/>
          </a:xfrm>
        </p:spPr>
        <p:txBody>
          <a:bodyPr wrap="square" rtlCol="0" lIns="0" tIns="0" rIns="0" bIns="0" anchor="t"/>
          <a:lstStyle/>
          <a:p>
            <a:pPr algn="l">
              <a:lnSpc>
                <a:spcPct val="126000"/>
              </a:lnSpc>
            </a:pPr>
            <a:r>
              <a:rPr sz="1200" b="1">
                <a:solidFill>
                  <a:srgbClr val="2E7D8C"/>
                </a:solidFill>
                <a:latin typeface="Segoe UI"/>
                <a:ea typeface="Segoe UI"/>
              </a:rPr>
              <a:t>→ Pour la solution : </a:t>
            </a:r>
            <a:r>
              <a:rPr sz="1200">
                <a:solidFill>
                  <a:srgbClr val="243B45"/>
                </a:solidFill>
                <a:latin typeface="Segoe UI"/>
                <a:ea typeface="Segoe UI"/>
              </a:rPr>
              <a:t>un workflow d'états fermé, notifié et journalisé par construction (RG-03, RG-05).</a:t>
            </a:r>
          </a:p>
        </p:txBody>
      </p:sp>
      <p:sp>
        <p:nvSpPr>
          <p:cNvPr id="24" name="TextBox 24">
            <a:extLst>
              <a:ext uri="{FF2B5EF4-FFF2-40B4-BE49-F238E27FC236}">
                <a16:creationId xmlns:a16="http://schemas.microsoft.com/office/drawing/2014/main" id="{9A852525-CF57-49B0-96B1-00CC3CBEEEA4}"/>
              </a:ext>
            </a:extLst>
          </p:cNvPr>
          <p:cNvSpPr txBox="1"/>
          <p:nvPr/>
        </p:nvSpPr>
        <p:spPr>
          <a:xfrm>
            <a:off x="762000" y="6362700"/>
            <a:ext cx="7620000" cy="209550"/>
          </a:xfrm>
        </p:spPr>
        <p:txBody>
          <a:bodyPr wrap="square" rtlCol="0" lIns="0" tIns="0" rIns="0" bIns="0" anchor="t"/>
          <a:lstStyle/>
          <a:p>
            <a:pPr algn="l"/>
            <a:r>
              <a:rPr sz="1050" i="1">
                <a:solidFill>
                  <a:srgbClr val="9AA6AC"/>
                </a:solidFill>
                <a:latin typeface="Segoe UI"/>
                <a:ea typeface="Segoe UI"/>
              </a:rPr>
              <a:t>Source : analyse des causes racines — E. Kanzari, 2 novembre 2026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2E7"/>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C516A7D2-2A1D-4E0E-BE52-92AC4892D14E}"/>
              </a:ext>
            </a:extLst>
          </p:cNvPr>
          <p:cNvSpPr txBox="1"/>
          <p:nvPr/>
        </p:nvSpPr>
        <p:spPr>
          <a:xfrm>
            <a:off x="762000" y="533400"/>
            <a:ext cx="6667500" cy="228600"/>
          </a:xfrm>
        </p:spPr>
        <p:txBody>
          <a:bodyPr wrap="square" rtlCol="0" lIns="0" tIns="0" rIns="0" bIns="0" anchor="t"/>
          <a:lstStyle/>
          <a:p>
            <a:pPr algn="l"/>
            <a:r>
              <a:rPr sz="1300" b="1">
                <a:solidFill>
                  <a:srgbClr val="2E7D8C"/>
                </a:solidFill>
                <a:latin typeface="Segoe UI"/>
                <a:ea typeface="Segoe UI"/>
              </a:rPr>
              <a:t>LA SOLUTION — PROCESSUS CIBLE (TO-BE)</a:t>
            </a:r>
          </a:p>
        </p:txBody>
      </p:sp>
      <p:sp>
        <p:nvSpPr>
          <p:cNvPr id="4" name="TextBox 4">
            <a:extLst>
              <a:ext uri="{FF2B5EF4-FFF2-40B4-BE49-F238E27FC236}">
                <a16:creationId xmlns:a16="http://schemas.microsoft.com/office/drawing/2014/main" id="{B01D6EA8-7961-4832-9F11-8FC6C0BABDEF}"/>
              </a:ext>
            </a:extLst>
          </p:cNvPr>
          <p:cNvSpPr txBox="1"/>
          <p:nvPr/>
        </p:nvSpPr>
        <p:spPr>
          <a:xfrm>
            <a:off x="762000" y="819150"/>
            <a:ext cx="9525000" cy="533400"/>
          </a:xfrm>
        </p:spPr>
        <p:txBody>
          <a:bodyPr wrap="square" rtlCol="0" lIns="0" tIns="0" rIns="0" bIns="0" anchor="t"/>
          <a:lstStyle/>
          <a:p>
            <a:pPr algn="l"/>
            <a:r>
              <a:rPr sz="2800" b="1">
                <a:solidFill>
                  <a:srgbClr val="243B45"/>
                </a:solidFill>
                <a:latin typeface="Segoe UI"/>
                <a:ea typeface="Segoe UI"/>
              </a:rPr>
              <a:t>Six étapes, une seule saisie, zéro appel de suivi</a:t>
            </a:r>
          </a:p>
        </p:txBody>
      </p:sp>
      <p:cxnSp>
        <p:nvCxnSpPr>
          <p:cNvPr id="5" name="Straight Connector 5">
            <a:extLst>
              <a:ext uri="{FF2B5EF4-FFF2-40B4-BE49-F238E27FC236}">
                <a16:creationId xmlns:a16="http://schemas.microsoft.com/office/drawing/2014/main" id="{71866B8D-9636-4663-9734-FAF7E7CAD364}"/>
              </a:ext>
            </a:extLst>
          </p:cNvPr>
          <p:cNvCxnSpPr/>
          <p:nvPr/>
        </p:nvCxnSpPr>
        <p:spPr>
          <a:xfrm>
            <a:off x="1143000" y="3800475"/>
            <a:ext cx="9906000" cy="19050"/>
          </a:xfrm>
          <a:prstGeom prst="line">
            <a:avLst/>
          </a:prstGeom>
          <a:ln w="25400" cap="flat">
            <a:solidFill>
              <a:srgbClr val="7FB6C4"/>
            </a:solidFill>
          </a:ln>
        </p:spPr>
      </p:cxnSp>
      <p:sp>
        <p:nvSpPr>
          <p:cNvPr id="6" name="Shape 6">
            <a:extLst>
              <a:ext uri="{FF2B5EF4-FFF2-40B4-BE49-F238E27FC236}">
                <a16:creationId xmlns:a16="http://schemas.microsoft.com/office/drawing/2014/main" id="{F2DBDEAE-F4B1-49E4-9C64-4665CC3FF56E}"/>
              </a:ext>
            </a:extLst>
          </p:cNvPr>
          <p:cNvSpPr/>
          <p:nvPr/>
        </p:nvSpPr>
        <p:spPr>
          <a:xfrm>
            <a:off x="1104900" y="3581400"/>
            <a:ext cx="457200" cy="457200"/>
          </a:xfrm>
          <a:prstGeom prst="ellipse">
            <a:avLst/>
          </a:prstGeom>
          <a:solidFill>
            <a:srgbClr val="2E7D8C"/>
          </a:solidFill>
        </p:spPr>
        <p:txBody>
          <a:bodyPr wrap="square" rtlCol="0" lIns="0" tIns="0" rIns="0" bIns="0" anchor="ctr"/>
          <a:lstStyle/>
          <a:p>
            <a:pPr algn="ctr"/>
            <a:r>
              <a:rPr sz="1700" b="1">
                <a:solidFill>
                  <a:srgbClr val="FFFFFF"/>
                </a:solidFill>
                <a:latin typeface="Segoe UI"/>
                <a:ea typeface="Segoe UI"/>
              </a:rPr>
              <a:t>1</a:t>
            </a:r>
          </a:p>
        </p:txBody>
      </p:sp>
      <p:sp>
        <p:nvSpPr>
          <p:cNvPr id="7" name="TextBox 7">
            <a:extLst>
              <a:ext uri="{FF2B5EF4-FFF2-40B4-BE49-F238E27FC236}">
                <a16:creationId xmlns:a16="http://schemas.microsoft.com/office/drawing/2014/main" id="{BF6FCD20-C26F-4266-97B3-73FB6835AAF3}"/>
              </a:ext>
            </a:extLst>
          </p:cNvPr>
          <p:cNvSpPr txBox="1"/>
          <p:nvPr/>
        </p:nvSpPr>
        <p:spPr>
          <a:xfrm>
            <a:off x="476250" y="2552700"/>
            <a:ext cx="1714500" cy="247650"/>
          </a:xfrm>
        </p:spPr>
        <p:txBody>
          <a:bodyPr wrap="square" rtlCol="0" lIns="0" tIns="0" rIns="0" bIns="0" anchor="t"/>
          <a:lstStyle/>
          <a:p>
            <a:pPr algn="ctr"/>
            <a:r>
              <a:rPr sz="1400" b="1">
                <a:solidFill>
                  <a:srgbClr val="243B45"/>
                </a:solidFill>
                <a:latin typeface="Segoe UI"/>
                <a:ea typeface="Segoe UI"/>
              </a:rPr>
              <a:t>Dépôt</a:t>
            </a:r>
          </a:p>
        </p:txBody>
      </p:sp>
      <p:sp>
        <p:nvSpPr>
          <p:cNvPr id="8" name="TextBox 8">
            <a:extLst>
              <a:ext uri="{FF2B5EF4-FFF2-40B4-BE49-F238E27FC236}">
                <a16:creationId xmlns:a16="http://schemas.microsoft.com/office/drawing/2014/main" id="{67F318AF-06A3-418B-9319-7114362AA66E}"/>
              </a:ext>
            </a:extLst>
          </p:cNvPr>
          <p:cNvSpPr txBox="1"/>
          <p:nvPr/>
        </p:nvSpPr>
        <p:spPr>
          <a:xfrm>
            <a:off x="476250" y="2838450"/>
            <a:ext cx="1714500" cy="641452"/>
          </a:xfrm>
        </p:spPr>
        <p:txBody>
          <a:bodyPr wrap="square" rtlCol="0" lIns="0" tIns="0" rIns="0" bIns="0" anchor="t"/>
          <a:lstStyle/>
          <a:p>
            <a:pPr algn="ctr">
              <a:lnSpc>
                <a:spcPct val="122000"/>
              </a:lnSpc>
            </a:pPr>
            <a:r>
              <a:rPr sz="1150">
                <a:solidFill>
                  <a:srgbClr val="6B7C82"/>
                </a:solidFill>
                <a:latin typeface="Segoe UI"/>
                <a:ea typeface="Segoe UI"/>
              </a:rPr>
              <a:t>En ligne ou au guichet : le même formulaire, quel que soit le canal.</a:t>
            </a:r>
          </a:p>
        </p:txBody>
      </p:sp>
      <p:sp>
        <p:nvSpPr>
          <p:cNvPr id="9" name="Shape 9">
            <a:extLst>
              <a:ext uri="{FF2B5EF4-FFF2-40B4-BE49-F238E27FC236}">
                <a16:creationId xmlns:a16="http://schemas.microsoft.com/office/drawing/2014/main" id="{212F615D-461B-4C53-9350-2A4CD5FC7B2F}"/>
              </a:ext>
            </a:extLst>
          </p:cNvPr>
          <p:cNvSpPr/>
          <p:nvPr/>
        </p:nvSpPr>
        <p:spPr>
          <a:xfrm>
            <a:off x="3009900" y="3581400"/>
            <a:ext cx="457200" cy="457200"/>
          </a:xfrm>
          <a:prstGeom prst="ellipse">
            <a:avLst/>
          </a:prstGeom>
          <a:solidFill>
            <a:srgbClr val="2E7D8C"/>
          </a:solidFill>
        </p:spPr>
        <p:txBody>
          <a:bodyPr wrap="square" rtlCol="0" lIns="0" tIns="0" rIns="0" bIns="0" anchor="ctr"/>
          <a:lstStyle/>
          <a:p>
            <a:pPr algn="ctr"/>
            <a:r>
              <a:rPr sz="1700" b="1">
                <a:solidFill>
                  <a:srgbClr val="FFFFFF"/>
                </a:solidFill>
                <a:latin typeface="Segoe UI"/>
                <a:ea typeface="Segoe UI"/>
              </a:rPr>
              <a:t>2</a:t>
            </a:r>
          </a:p>
        </p:txBody>
      </p:sp>
      <p:sp>
        <p:nvSpPr>
          <p:cNvPr id="10" name="TextBox 10">
            <a:extLst>
              <a:ext uri="{FF2B5EF4-FFF2-40B4-BE49-F238E27FC236}">
                <a16:creationId xmlns:a16="http://schemas.microsoft.com/office/drawing/2014/main" id="{6D6F3739-3068-43FF-80F7-B9428FD92498}"/>
              </a:ext>
            </a:extLst>
          </p:cNvPr>
          <p:cNvSpPr txBox="1"/>
          <p:nvPr/>
        </p:nvSpPr>
        <p:spPr>
          <a:xfrm>
            <a:off x="3333750" y="4267200"/>
            <a:ext cx="1714500" cy="247650"/>
          </a:xfrm>
        </p:spPr>
        <p:txBody>
          <a:bodyPr wrap="square" rtlCol="0" lIns="0" tIns="0" rIns="0" bIns="0" anchor="t"/>
          <a:lstStyle/>
          <a:p>
            <a:pPr algn="ctr"/>
            <a:r>
              <a:rPr sz="1400" b="1">
                <a:solidFill>
                  <a:srgbClr val="243B45"/>
                </a:solidFill>
                <a:latin typeface="Segoe UI"/>
                <a:ea typeface="Segoe UI"/>
              </a:rPr>
              <a:t>Dossier unique</a:t>
            </a:r>
          </a:p>
        </p:txBody>
      </p:sp>
      <p:sp>
        <p:nvSpPr>
          <p:cNvPr id="11" name="TextBox 11">
            <a:extLst>
              <a:ext uri="{FF2B5EF4-FFF2-40B4-BE49-F238E27FC236}">
                <a16:creationId xmlns:a16="http://schemas.microsoft.com/office/drawing/2014/main" id="{0B831ABD-1B42-4E98-BE0D-407BF2B6B57D}"/>
              </a:ext>
            </a:extLst>
          </p:cNvPr>
          <p:cNvSpPr txBox="1"/>
          <p:nvPr/>
        </p:nvSpPr>
        <p:spPr>
          <a:xfrm>
            <a:off x="3333750" y="4552950"/>
            <a:ext cx="1714500" cy="855269"/>
          </a:xfrm>
        </p:spPr>
        <p:txBody>
          <a:bodyPr wrap="square" rtlCol="0" lIns="0" tIns="0" rIns="0" bIns="0" anchor="t"/>
          <a:lstStyle/>
          <a:p>
            <a:pPr algn="ctr">
              <a:lnSpc>
                <a:spcPct val="122000"/>
              </a:lnSpc>
            </a:pPr>
            <a:r>
              <a:rPr sz="1150">
                <a:solidFill>
                  <a:srgbClr val="6B7C82"/>
                </a:solidFill>
                <a:latin typeface="Segoe UI"/>
                <a:ea typeface="Segoe UI"/>
              </a:rPr>
              <a:t>Numéro unique + récépissé immédiat, notifié au client (RG-02, RG-04).</a:t>
            </a:r>
          </a:p>
        </p:txBody>
      </p:sp>
      <p:sp>
        <p:nvSpPr>
          <p:cNvPr id="12" name="Shape 12">
            <a:extLst>
              <a:ext uri="{FF2B5EF4-FFF2-40B4-BE49-F238E27FC236}">
                <a16:creationId xmlns:a16="http://schemas.microsoft.com/office/drawing/2014/main" id="{565E7D03-D83C-4007-917F-DFE21BE0CC36}"/>
              </a:ext>
            </a:extLst>
          </p:cNvPr>
          <p:cNvSpPr/>
          <p:nvPr/>
        </p:nvSpPr>
        <p:spPr>
          <a:xfrm>
            <a:off x="4914900" y="3581400"/>
            <a:ext cx="457200" cy="457200"/>
          </a:xfrm>
          <a:prstGeom prst="ellipse">
            <a:avLst/>
          </a:prstGeom>
          <a:solidFill>
            <a:srgbClr val="2E7D8C"/>
          </a:solidFill>
        </p:spPr>
        <p:txBody>
          <a:bodyPr wrap="square" rtlCol="0" lIns="0" tIns="0" rIns="0" bIns="0" anchor="ctr"/>
          <a:lstStyle/>
          <a:p>
            <a:pPr algn="ctr"/>
            <a:r>
              <a:rPr sz="1700" b="1">
                <a:solidFill>
                  <a:srgbClr val="FFFFFF"/>
                </a:solidFill>
                <a:latin typeface="Segoe UI"/>
                <a:ea typeface="Segoe UI"/>
              </a:rPr>
              <a:t>3</a:t>
            </a:r>
          </a:p>
        </p:txBody>
      </p:sp>
      <p:sp>
        <p:nvSpPr>
          <p:cNvPr id="13" name="TextBox 13">
            <a:extLst>
              <a:ext uri="{FF2B5EF4-FFF2-40B4-BE49-F238E27FC236}">
                <a16:creationId xmlns:a16="http://schemas.microsoft.com/office/drawing/2014/main" id="{E9AA8E5A-25E8-4CE4-9B41-E120A2B85E89}"/>
              </a:ext>
            </a:extLst>
          </p:cNvPr>
          <p:cNvSpPr txBox="1"/>
          <p:nvPr/>
        </p:nvSpPr>
        <p:spPr>
          <a:xfrm>
            <a:off x="3905250" y="2381250"/>
            <a:ext cx="2476500" cy="247650"/>
          </a:xfrm>
        </p:spPr>
        <p:txBody>
          <a:bodyPr wrap="square" rtlCol="0" lIns="0" tIns="0" rIns="0" bIns="0" anchor="t"/>
          <a:lstStyle/>
          <a:p>
            <a:pPr algn="ctr"/>
            <a:r>
              <a:rPr sz="1300" b="1">
                <a:solidFill>
                  <a:srgbClr val="243B45"/>
                </a:solidFill>
                <a:latin typeface="Segoe UI"/>
                <a:ea typeface="Segoe UI"/>
              </a:rPr>
              <a:t>Contrôle automatique</a:t>
            </a:r>
          </a:p>
        </p:txBody>
      </p:sp>
      <p:sp>
        <p:nvSpPr>
          <p:cNvPr id="14" name="TextBox 14">
            <a:extLst>
              <a:ext uri="{FF2B5EF4-FFF2-40B4-BE49-F238E27FC236}">
                <a16:creationId xmlns:a16="http://schemas.microsoft.com/office/drawing/2014/main" id="{574C5669-520F-40BF-9E49-B40CD3656D17}"/>
              </a:ext>
            </a:extLst>
          </p:cNvPr>
          <p:cNvSpPr txBox="1"/>
          <p:nvPr/>
        </p:nvSpPr>
        <p:spPr>
          <a:xfrm>
            <a:off x="3905250" y="2686050"/>
            <a:ext cx="2476500" cy="800100"/>
          </a:xfrm>
        </p:spPr>
        <p:txBody>
          <a:bodyPr wrap="square" rtlCol="0" lIns="0" tIns="0" rIns="0" bIns="0" anchor="t"/>
          <a:lstStyle/>
          <a:p>
            <a:pPr algn="ctr">
              <a:lnSpc>
                <a:spcPct val="122000"/>
              </a:lnSpc>
            </a:pPr>
            <a:r>
              <a:rPr sz="1150">
                <a:solidFill>
                  <a:srgbClr val="6B7C82"/>
                </a:solidFill>
                <a:latin typeface="Segoe UI"/>
                <a:ea typeface="Segoe UI"/>
              </a:rPr>
              <a:t>Pièces vérifiées contre le référentiel ; liste exacte des manquants, blocage si incomplet.</a:t>
            </a:r>
          </a:p>
        </p:txBody>
      </p:sp>
      <p:sp>
        <p:nvSpPr>
          <p:cNvPr id="15" name="Shape 15">
            <a:extLst>
              <a:ext uri="{FF2B5EF4-FFF2-40B4-BE49-F238E27FC236}">
                <a16:creationId xmlns:a16="http://schemas.microsoft.com/office/drawing/2014/main" id="{7622C4EC-4DCE-4DC7-98AC-B10F9B62F5A7}"/>
              </a:ext>
            </a:extLst>
          </p:cNvPr>
          <p:cNvSpPr/>
          <p:nvPr/>
        </p:nvSpPr>
        <p:spPr>
          <a:xfrm>
            <a:off x="6819900" y="3581400"/>
            <a:ext cx="457200" cy="457200"/>
          </a:xfrm>
          <a:prstGeom prst="ellipse">
            <a:avLst/>
          </a:prstGeom>
          <a:solidFill>
            <a:srgbClr val="2E7D8C"/>
          </a:solidFill>
        </p:spPr>
        <p:txBody>
          <a:bodyPr wrap="square" rtlCol="0" lIns="0" tIns="0" rIns="0" bIns="0" anchor="ctr"/>
          <a:lstStyle/>
          <a:p>
            <a:pPr algn="ctr"/>
            <a:r>
              <a:rPr sz="1700" b="1">
                <a:solidFill>
                  <a:srgbClr val="FFFFFF"/>
                </a:solidFill>
                <a:latin typeface="Segoe UI"/>
                <a:ea typeface="Segoe UI"/>
              </a:rPr>
              <a:t>4</a:t>
            </a:r>
          </a:p>
        </p:txBody>
      </p:sp>
      <p:sp>
        <p:nvSpPr>
          <p:cNvPr id="16" name="TextBox 16">
            <a:extLst>
              <a:ext uri="{FF2B5EF4-FFF2-40B4-BE49-F238E27FC236}">
                <a16:creationId xmlns:a16="http://schemas.microsoft.com/office/drawing/2014/main" id="{3AE77B1F-3999-4123-B1CE-D8B3B912C2CF}"/>
              </a:ext>
            </a:extLst>
          </p:cNvPr>
          <p:cNvSpPr txBox="1"/>
          <p:nvPr/>
        </p:nvSpPr>
        <p:spPr>
          <a:xfrm>
            <a:off x="7143750" y="4267200"/>
            <a:ext cx="1714500" cy="247650"/>
          </a:xfrm>
        </p:spPr>
        <p:txBody>
          <a:bodyPr wrap="square" rtlCol="0" lIns="0" tIns="0" rIns="0" bIns="0" anchor="t"/>
          <a:lstStyle/>
          <a:p>
            <a:pPr algn="ctr"/>
            <a:r>
              <a:rPr sz="1400" b="1">
                <a:solidFill>
                  <a:srgbClr val="243B45"/>
                </a:solidFill>
                <a:latin typeface="Segoe UI"/>
                <a:ea typeface="Segoe UI"/>
              </a:rPr>
              <a:t>Instruction</a:t>
            </a:r>
          </a:p>
        </p:txBody>
      </p:sp>
      <p:sp>
        <p:nvSpPr>
          <p:cNvPr id="17" name="TextBox 17">
            <a:extLst>
              <a:ext uri="{FF2B5EF4-FFF2-40B4-BE49-F238E27FC236}">
                <a16:creationId xmlns:a16="http://schemas.microsoft.com/office/drawing/2014/main" id="{A97B57B9-A641-42BB-A9CD-780E489A81CD}"/>
              </a:ext>
            </a:extLst>
          </p:cNvPr>
          <p:cNvSpPr txBox="1"/>
          <p:nvPr/>
        </p:nvSpPr>
        <p:spPr>
          <a:xfrm>
            <a:off x="7143750" y="4552950"/>
            <a:ext cx="1714500" cy="641452"/>
          </a:xfrm>
        </p:spPr>
        <p:txBody>
          <a:bodyPr wrap="square" rtlCol="0" lIns="0" tIns="0" rIns="0" bIns="0" anchor="t"/>
          <a:lstStyle/>
          <a:p>
            <a:pPr algn="ctr">
              <a:lnSpc>
                <a:spcPct val="122000"/>
              </a:lnSpc>
            </a:pPr>
            <a:r>
              <a:rPr sz="1150">
                <a:solidFill>
                  <a:srgbClr val="6B7C82"/>
                </a:solidFill>
                <a:latin typeface="Segoe UI"/>
                <a:ea typeface="Segoe UI"/>
              </a:rPr>
              <a:t>L'analyste travaille sur le dossier unique, historique client intégré.</a:t>
            </a:r>
          </a:p>
        </p:txBody>
      </p:sp>
      <p:sp>
        <p:nvSpPr>
          <p:cNvPr id="18" name="Shape 18">
            <a:extLst>
              <a:ext uri="{FF2B5EF4-FFF2-40B4-BE49-F238E27FC236}">
                <a16:creationId xmlns:a16="http://schemas.microsoft.com/office/drawing/2014/main" id="{BC2D1B0C-6D3E-4E1B-9815-F85BE648CEB7}"/>
              </a:ext>
            </a:extLst>
          </p:cNvPr>
          <p:cNvSpPr/>
          <p:nvPr/>
        </p:nvSpPr>
        <p:spPr>
          <a:xfrm>
            <a:off x="8724900" y="3581400"/>
            <a:ext cx="457200" cy="457200"/>
          </a:xfrm>
          <a:prstGeom prst="ellipse">
            <a:avLst/>
          </a:prstGeom>
          <a:solidFill>
            <a:srgbClr val="2E7D8C"/>
          </a:solidFill>
        </p:spPr>
        <p:txBody>
          <a:bodyPr wrap="square" rtlCol="0" lIns="0" tIns="0" rIns="0" bIns="0" anchor="ctr"/>
          <a:lstStyle/>
          <a:p>
            <a:pPr algn="ctr"/>
            <a:r>
              <a:rPr sz="1700" b="1">
                <a:solidFill>
                  <a:srgbClr val="FFFFFF"/>
                </a:solidFill>
                <a:latin typeface="Segoe UI"/>
                <a:ea typeface="Segoe UI"/>
              </a:rPr>
              <a:t>5</a:t>
            </a:r>
          </a:p>
        </p:txBody>
      </p:sp>
      <p:sp>
        <p:nvSpPr>
          <p:cNvPr id="19" name="TextBox 19">
            <a:extLst>
              <a:ext uri="{FF2B5EF4-FFF2-40B4-BE49-F238E27FC236}">
                <a16:creationId xmlns:a16="http://schemas.microsoft.com/office/drawing/2014/main" id="{C9D4664A-2D97-47B3-8229-A7CB21832EB6}"/>
              </a:ext>
            </a:extLst>
          </p:cNvPr>
          <p:cNvSpPr txBox="1"/>
          <p:nvPr/>
        </p:nvSpPr>
        <p:spPr>
          <a:xfrm>
            <a:off x="8524875" y="2552700"/>
            <a:ext cx="1714500" cy="247650"/>
          </a:xfrm>
        </p:spPr>
        <p:txBody>
          <a:bodyPr wrap="square" rtlCol="0" lIns="0" tIns="0" rIns="0" bIns="0" anchor="t"/>
          <a:lstStyle/>
          <a:p>
            <a:pPr algn="ctr"/>
            <a:r>
              <a:rPr sz="1400" b="1">
                <a:solidFill>
                  <a:srgbClr val="243B45"/>
                </a:solidFill>
                <a:latin typeface="Segoe UI"/>
                <a:ea typeface="Segoe UI"/>
              </a:rPr>
              <a:t>Comité</a:t>
            </a:r>
          </a:p>
        </p:txBody>
      </p:sp>
      <p:sp>
        <p:nvSpPr>
          <p:cNvPr id="20" name="TextBox 20">
            <a:extLst>
              <a:ext uri="{FF2B5EF4-FFF2-40B4-BE49-F238E27FC236}">
                <a16:creationId xmlns:a16="http://schemas.microsoft.com/office/drawing/2014/main" id="{984352E8-0269-4F8B-95A6-8FFA8EDA5702}"/>
              </a:ext>
            </a:extLst>
          </p:cNvPr>
          <p:cNvSpPr txBox="1"/>
          <p:nvPr/>
        </p:nvSpPr>
        <p:spPr>
          <a:xfrm>
            <a:off x="8524875" y="2838450"/>
            <a:ext cx="1714500" cy="641452"/>
          </a:xfrm>
        </p:spPr>
        <p:txBody>
          <a:bodyPr wrap="square" rtlCol="0" lIns="0" tIns="0" rIns="0" bIns="0" anchor="t"/>
          <a:lstStyle/>
          <a:p>
            <a:pPr algn="ctr">
              <a:lnSpc>
                <a:spcPct val="122000"/>
              </a:lnSpc>
            </a:pPr>
            <a:r>
              <a:rPr sz="1150">
                <a:solidFill>
                  <a:srgbClr val="6B7C82"/>
                </a:solidFill>
                <a:latin typeface="Segoe UI"/>
                <a:ea typeface="Segoe UI"/>
              </a:rPr>
              <a:t>Transmission complète ; la décision reste manuelle, inchangée.</a:t>
            </a:r>
          </a:p>
        </p:txBody>
      </p:sp>
      <p:sp>
        <p:nvSpPr>
          <p:cNvPr id="21" name="Shape 21">
            <a:extLst>
              <a:ext uri="{FF2B5EF4-FFF2-40B4-BE49-F238E27FC236}">
                <a16:creationId xmlns:a16="http://schemas.microsoft.com/office/drawing/2014/main" id="{4E717499-1BF7-48A7-897E-670261BA1B0B}"/>
              </a:ext>
            </a:extLst>
          </p:cNvPr>
          <p:cNvSpPr/>
          <p:nvPr/>
        </p:nvSpPr>
        <p:spPr>
          <a:xfrm>
            <a:off x="10629900" y="3581400"/>
            <a:ext cx="457200" cy="457200"/>
          </a:xfrm>
          <a:prstGeom prst="ellipse">
            <a:avLst/>
          </a:prstGeom>
          <a:solidFill>
            <a:srgbClr val="2E7D8C"/>
          </a:solidFill>
        </p:spPr>
        <p:txBody>
          <a:bodyPr wrap="square" rtlCol="0" lIns="0" tIns="0" rIns="0" bIns="0" anchor="ctr"/>
          <a:lstStyle/>
          <a:p>
            <a:pPr algn="ctr"/>
            <a:r>
              <a:rPr sz="1700" b="1">
                <a:solidFill>
                  <a:srgbClr val="FFFFFF"/>
                </a:solidFill>
                <a:latin typeface="Segoe UI"/>
                <a:ea typeface="Segoe UI"/>
              </a:rPr>
              <a:t>6</a:t>
            </a:r>
          </a:p>
        </p:txBody>
      </p:sp>
      <p:sp>
        <p:nvSpPr>
          <p:cNvPr id="22" name="TextBox 22">
            <a:extLst>
              <a:ext uri="{FF2B5EF4-FFF2-40B4-BE49-F238E27FC236}">
                <a16:creationId xmlns:a16="http://schemas.microsoft.com/office/drawing/2014/main" id="{2E48F688-1152-4C7B-BBD3-CC6E426BAE69}"/>
              </a:ext>
            </a:extLst>
          </p:cNvPr>
          <p:cNvSpPr txBox="1"/>
          <p:nvPr/>
        </p:nvSpPr>
        <p:spPr>
          <a:xfrm>
            <a:off x="10001250" y="4267200"/>
            <a:ext cx="1714500" cy="247650"/>
          </a:xfrm>
        </p:spPr>
        <p:txBody>
          <a:bodyPr wrap="square" rtlCol="0" lIns="0" tIns="0" rIns="0" bIns="0" anchor="t"/>
          <a:lstStyle/>
          <a:p>
            <a:pPr algn="ctr"/>
            <a:r>
              <a:rPr sz="1400" b="1">
                <a:solidFill>
                  <a:srgbClr val="243B45"/>
                </a:solidFill>
                <a:latin typeface="Segoe UI"/>
                <a:ea typeface="Segoe UI"/>
              </a:rPr>
              <a:t>Notification</a:t>
            </a:r>
          </a:p>
        </p:txBody>
      </p:sp>
      <p:sp>
        <p:nvSpPr>
          <p:cNvPr id="23" name="TextBox 23">
            <a:extLst>
              <a:ext uri="{FF2B5EF4-FFF2-40B4-BE49-F238E27FC236}">
                <a16:creationId xmlns:a16="http://schemas.microsoft.com/office/drawing/2014/main" id="{4DAD33E4-1C03-48F6-B827-848E4FF1E9CA}"/>
              </a:ext>
            </a:extLst>
          </p:cNvPr>
          <p:cNvSpPr txBox="1"/>
          <p:nvPr/>
        </p:nvSpPr>
        <p:spPr>
          <a:xfrm>
            <a:off x="10001250" y="4552950"/>
            <a:ext cx="1714500" cy="641452"/>
          </a:xfrm>
        </p:spPr>
        <p:txBody>
          <a:bodyPr wrap="square" rtlCol="0" lIns="0" tIns="0" rIns="0" bIns="0" anchor="t"/>
          <a:lstStyle/>
          <a:p>
            <a:pPr algn="ctr">
              <a:lnSpc>
                <a:spcPct val="122000"/>
              </a:lnSpc>
            </a:pPr>
            <a:r>
              <a:rPr sz="1150">
                <a:solidFill>
                  <a:srgbClr val="6B7C82"/>
                </a:solidFill>
                <a:latin typeface="Segoe UI"/>
                <a:ea typeface="Segoe UI"/>
              </a:rPr>
              <a:t>Verdict communiqué au client instantanément, motif inclus.</a:t>
            </a:r>
          </a:p>
        </p:txBody>
      </p:sp>
      <p:sp>
        <p:nvSpPr>
          <p:cNvPr id="24" name="Shape 24">
            <a:extLst>
              <a:ext uri="{FF2B5EF4-FFF2-40B4-BE49-F238E27FC236}">
                <a16:creationId xmlns:a16="http://schemas.microsoft.com/office/drawing/2014/main" id="{814EEC42-0023-4623-A41D-C97FAB899A09}"/>
              </a:ext>
            </a:extLst>
          </p:cNvPr>
          <p:cNvSpPr/>
          <p:nvPr/>
        </p:nvSpPr>
        <p:spPr>
          <a:xfrm>
            <a:off x="762000" y="5334000"/>
            <a:ext cx="10668000" cy="838200"/>
          </a:xfrm>
          <a:prstGeom prst="roundRect">
            <a:avLst/>
          </a:prstGeom>
          <a:solidFill>
            <a:srgbClr val="FFFFFF"/>
          </a:solidFill>
          <a:ln w="12700">
            <a:solidFill>
              <a:srgbClr val="E4D9C3"/>
            </a:solidFill>
          </a:ln>
        </p:spPr>
        <p:txBody>
          <a:bodyPr wrap="square" rtlCol="0"/>
          <a:lstStyle/>
          <a:p>
            <a:r>
              <a:rPr/>
              <a:t/>
            </a:r>
          </a:p>
        </p:txBody>
      </p:sp>
      <p:sp>
        <p:nvSpPr>
          <p:cNvPr id="25" name="TextBox 25">
            <a:extLst>
              <a:ext uri="{FF2B5EF4-FFF2-40B4-BE49-F238E27FC236}">
                <a16:creationId xmlns:a16="http://schemas.microsoft.com/office/drawing/2014/main" id="{1D68D57C-1FF1-412D-91E3-DA1252477726}"/>
              </a:ext>
            </a:extLst>
          </p:cNvPr>
          <p:cNvSpPr txBox="1"/>
          <p:nvPr/>
        </p:nvSpPr>
        <p:spPr>
          <a:xfrm>
            <a:off x="1009650" y="5486400"/>
            <a:ext cx="10191750" cy="571500"/>
          </a:xfrm>
        </p:spPr>
        <p:txBody>
          <a:bodyPr wrap="square" rtlCol="0" lIns="0" tIns="0" rIns="0" bIns="0" anchor="t"/>
          <a:lstStyle/>
          <a:p>
            <a:pPr algn="l">
              <a:lnSpc>
                <a:spcPct val="126000"/>
              </a:lnSpc>
            </a:pPr>
            <a:r>
              <a:rPr sz="1300" b="1">
                <a:solidFill>
                  <a:srgbClr val="2E7D8C"/>
                </a:solidFill>
                <a:latin typeface="Segoe UI"/>
                <a:ea typeface="Segoe UI"/>
              </a:rPr>
              <a:t>Le client n'appelle plus : </a:t>
            </a:r>
            <a:r>
              <a:rPr sz="1300">
                <a:solidFill>
                  <a:srgbClr val="243B45"/>
                </a:solidFill>
                <a:latin typeface="Segoe UI"/>
                <a:ea typeface="Segoe UI"/>
              </a:rPr>
              <a:t>la boucle d'incomplétude reste possible, mais elle coûte quelques minutes en ligne au lieu de jours de téléphone et de relances. Les transitions sont bornées par la règle RG-03 : déposé → en instruction → au comité → décidé → notifié.</a:t>
            </a:r>
          </a:p>
        </p:txBody>
      </p:sp>
      <p:sp>
        <p:nvSpPr>
          <p:cNvPr id="26" name="TextBox 26">
            <a:extLst>
              <a:ext uri="{FF2B5EF4-FFF2-40B4-BE49-F238E27FC236}">
                <a16:creationId xmlns:a16="http://schemas.microsoft.com/office/drawing/2014/main" id="{52452E44-2B1F-4018-99D5-F02D2F622963}"/>
              </a:ext>
            </a:extLst>
          </p:cNvPr>
          <p:cNvSpPr txBox="1"/>
          <p:nvPr/>
        </p:nvSpPr>
        <p:spPr>
          <a:xfrm>
            <a:off x="762000" y="6362700"/>
            <a:ext cx="9525000" cy="209550"/>
          </a:xfrm>
        </p:spPr>
        <p:txBody>
          <a:bodyPr wrap="square" rtlCol="0" lIns="0" tIns="0" rIns="0" bIns="0" anchor="t"/>
          <a:lstStyle/>
          <a:p>
            <a:pPr algn="l"/>
            <a:r>
              <a:rPr sz="1050" i="1">
                <a:solidFill>
                  <a:srgbClr val="9AA6AC"/>
                </a:solidFill>
                <a:latin typeface="Segoe UI"/>
                <a:ea typeface="Segoe UI"/>
              </a:rPr>
              <a:t>11 tâches BPMN dont 6 automatisées — source : processus TO-BE (Bizagi), E. Kanzari, 16 novembre 2026</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2E7"/>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8E09CCD3-36D9-4623-AF7C-25E9CBD3EE3A}"/>
              </a:ext>
            </a:extLst>
          </p:cNvPr>
          <p:cNvSpPr txBox="1"/>
          <p:nvPr/>
        </p:nvSpPr>
        <p:spPr>
          <a:xfrm>
            <a:off x="762000" y="533400"/>
            <a:ext cx="3810000" cy="228600"/>
          </a:xfrm>
        </p:spPr>
        <p:txBody>
          <a:bodyPr wrap="square" rtlCol="0" lIns="0" tIns="0" rIns="0" bIns="0" anchor="t"/>
          <a:lstStyle/>
          <a:p>
            <a:pPr algn="l"/>
            <a:r>
              <a:rPr sz="1300" b="1">
                <a:solidFill>
                  <a:srgbClr val="2E7D8C"/>
                </a:solidFill>
                <a:latin typeface="Segoe UI"/>
                <a:ea typeface="Segoe UI"/>
              </a:rPr>
              <a:t>LES ÉCRANS — MAQUETTES LOW-FI</a:t>
            </a:r>
          </a:p>
        </p:txBody>
      </p:sp>
      <p:sp>
        <p:nvSpPr>
          <p:cNvPr id="4" name="TextBox 4">
            <a:extLst>
              <a:ext uri="{FF2B5EF4-FFF2-40B4-BE49-F238E27FC236}">
                <a16:creationId xmlns:a16="http://schemas.microsoft.com/office/drawing/2014/main" id="{070244ED-E0FB-4BE9-8397-D6F95ACD8E42}"/>
              </a:ext>
            </a:extLst>
          </p:cNvPr>
          <p:cNvSpPr txBox="1"/>
          <p:nvPr/>
        </p:nvSpPr>
        <p:spPr>
          <a:xfrm>
            <a:off x="762000" y="819150"/>
            <a:ext cx="3619500" cy="876300"/>
          </a:xfrm>
        </p:spPr>
        <p:txBody>
          <a:bodyPr wrap="square" rtlCol="0" lIns="0" tIns="0" rIns="0" bIns="0" anchor="t"/>
          <a:lstStyle/>
          <a:p>
            <a:pPr algn="l">
              <a:lnSpc>
                <a:spcPct val="112000"/>
              </a:lnSpc>
            </a:pPr>
            <a:r>
              <a:rPr sz="2400" b="1">
                <a:solidFill>
                  <a:srgbClr val="243B45"/>
                </a:solidFill>
                <a:latin typeface="Segoe UI"/>
                <a:ea typeface="Segoe UI"/>
              </a:rPr>
              <a:t>12 maquettes, toutes traçables</a:t>
            </a:r>
          </a:p>
        </p:txBody>
      </p:sp>
      <p:sp>
        <p:nvSpPr>
          <p:cNvPr id="5" name="TextBox 5">
            <a:extLst>
              <a:ext uri="{FF2B5EF4-FFF2-40B4-BE49-F238E27FC236}">
                <a16:creationId xmlns:a16="http://schemas.microsoft.com/office/drawing/2014/main" id="{9F16FB88-00B8-4FF7-9587-32B65E7E315A}"/>
              </a:ext>
            </a:extLst>
          </p:cNvPr>
          <p:cNvSpPr txBox="1"/>
          <p:nvPr/>
        </p:nvSpPr>
        <p:spPr>
          <a:xfrm>
            <a:off x="762000" y="1866900"/>
            <a:ext cx="3429000" cy="1638300"/>
          </a:xfrm>
        </p:spPr>
        <p:txBody>
          <a:bodyPr wrap="square" rtlCol="0" lIns="0" tIns="0" rIns="0" bIns="0" anchor="t"/>
          <a:lstStyle/>
          <a:p>
            <a:pPr algn="l">
              <a:lnSpc>
                <a:spcPct val="132000"/>
              </a:lnSpc>
            </a:pPr>
            <a:r>
              <a:rPr sz="1300">
                <a:solidFill>
                  <a:srgbClr val="6B7C82"/>
                </a:solidFill>
                <a:latin typeface="Segoe UI"/>
                <a:ea typeface="Segoe UI"/>
              </a:rPr>
              <a:t>Le client dépose en trois étapes, avec un blocage explicite quand une pièce manque. Il suit sa demande en temps réel, en arabe comme en français (miroir RTL complet). L'agent, l'analyste et le comité travaillent sur le même dossier unique.</a:t>
            </a:r>
          </a:p>
        </p:txBody>
      </p:sp>
      <p:sp>
        <p:nvSpPr>
          <p:cNvPr id="6" name="Shape 6">
            <a:extLst>
              <a:ext uri="{FF2B5EF4-FFF2-40B4-BE49-F238E27FC236}">
                <a16:creationId xmlns:a16="http://schemas.microsoft.com/office/drawing/2014/main" id="{822E031D-3573-454C-8728-9BC06234B401}"/>
              </a:ext>
            </a:extLst>
          </p:cNvPr>
          <p:cNvSpPr/>
          <p:nvPr/>
        </p:nvSpPr>
        <p:spPr>
          <a:xfrm>
            <a:off x="762000" y="3810000"/>
            <a:ext cx="3429000" cy="1219200"/>
          </a:xfrm>
          <a:prstGeom prst="roundRect">
            <a:avLst/>
          </a:prstGeom>
          <a:solidFill>
            <a:srgbClr val="EAF3F5"/>
          </a:solidFill>
        </p:spPr>
        <p:txBody>
          <a:bodyPr wrap="square" rtlCol="0"/>
          <a:lstStyle/>
          <a:p>
            <a:r>
              <a:rPr/>
              <a:t/>
            </a:r>
          </a:p>
        </p:txBody>
      </p:sp>
      <p:sp>
        <p:nvSpPr>
          <p:cNvPr id="7" name="TextBox 7">
            <a:extLst>
              <a:ext uri="{FF2B5EF4-FFF2-40B4-BE49-F238E27FC236}">
                <a16:creationId xmlns:a16="http://schemas.microsoft.com/office/drawing/2014/main" id="{C64E8C2D-FFED-4F8B-AE7C-C4C1E2554568}"/>
              </a:ext>
            </a:extLst>
          </p:cNvPr>
          <p:cNvSpPr txBox="1"/>
          <p:nvPr/>
        </p:nvSpPr>
        <p:spPr>
          <a:xfrm>
            <a:off x="952500" y="3962400"/>
            <a:ext cx="3048000" cy="987552"/>
          </a:xfrm>
        </p:spPr>
        <p:txBody>
          <a:bodyPr wrap="square" rtlCol="0" lIns="0" tIns="0" rIns="0" bIns="0" anchor="t"/>
          <a:lstStyle/>
          <a:p>
            <a:pPr algn="l">
              <a:lnSpc>
                <a:spcPct val="135000"/>
              </a:lnSpc>
            </a:pPr>
            <a:r>
              <a:rPr sz="1200" b="1">
                <a:solidFill>
                  <a:srgbClr val="2E7D8C"/>
                </a:solidFill>
                <a:latin typeface="Segoe UI"/>
                <a:ea typeface="Segoe UI"/>
              </a:rPr>
              <a:t>Mobile 390 × 844 · Desktop 1440 × 900</a:t>
            </a:r>
            <a:br/>
            <a:r>
              <a:rPr sz="1200">
                <a:solidFill>
                  <a:srgbClr val="243B45"/>
                </a:solidFill>
                <a:latin typeface="Segoe UI"/>
                <a:ea typeface="Segoe UI"/>
              </a:rPr>
              <a:t>Niveaux de gris, cibles tactiles ≥ 44 px. Chaque frame référence ses user stories (US) et ses règles de gestion (RG).</a:t>
            </a:r>
          </a:p>
        </p:txBody>
      </p:sp>
      <p:pic>
        <p:nvPicPr>
          <p:cNvPr id="8" name="Picture 8">
            <a:extLst>
              <a:ext uri="{FF2B5EF4-FFF2-40B4-BE49-F238E27FC236}">
                <a16:creationId xmlns:a16="http://schemas.microsoft.com/office/drawing/2014/main" id="{0CBE2715-D552-4955-A49F-EBE042CA3633}"/>
              </a:ext>
            </a:extLst>
          </p:cNvPr>
          <p:cNvPicPr/>
          <p:nvPr/>
        </p:nvPicPr>
        <p:blipFill>
          <a:blip r:embed="rId2"/>
          <a:srcRect l="11014" r="11014"/>
          <a:stretch>
            <a:fillRect/>
          </a:stretch>
        </p:blipFill>
        <p:spPr>
          <a:xfrm>
            <a:off x="4762500" y="1047750"/>
            <a:ext cx="2019300" cy="4381500"/>
          </a:xfrm>
          <a:prstGeom prst="rect">
            <a:avLst/>
          </a:prstGeom>
        </p:spPr>
      </p:pic>
      <p:pic>
        <p:nvPicPr>
          <p:cNvPr id="9" name="Picture 9">
            <a:extLst>
              <a:ext uri="{FF2B5EF4-FFF2-40B4-BE49-F238E27FC236}">
                <a16:creationId xmlns:a16="http://schemas.microsoft.com/office/drawing/2014/main" id="{9254C717-2346-483F-AB5E-9394A2A78CFE}"/>
              </a:ext>
            </a:extLst>
          </p:cNvPr>
          <p:cNvPicPr/>
          <p:nvPr/>
        </p:nvPicPr>
        <p:blipFill>
          <a:blip r:embed="rId3"/>
          <a:srcRect t="1645" b="1645"/>
          <a:stretch>
            <a:fillRect/>
          </a:stretch>
        </p:blipFill>
        <p:spPr>
          <a:xfrm>
            <a:off x="7048500" y="1047750"/>
            <a:ext cx="4381500" cy="2733675"/>
          </a:xfrm>
          <a:prstGeom prst="rect">
            <a:avLst/>
          </a:prstGeom>
        </p:spPr>
      </p:pic>
      <p:sp>
        <p:nvSpPr>
          <p:cNvPr id="10" name="TextBox 10">
            <a:extLst>
              <a:ext uri="{FF2B5EF4-FFF2-40B4-BE49-F238E27FC236}">
                <a16:creationId xmlns:a16="http://schemas.microsoft.com/office/drawing/2014/main" id="{3CCCB03C-8ED1-463D-BC5A-B180236145D3}"/>
              </a:ext>
            </a:extLst>
          </p:cNvPr>
          <p:cNvSpPr txBox="1"/>
          <p:nvPr/>
        </p:nvSpPr>
        <p:spPr>
          <a:xfrm>
            <a:off x="7048500" y="3952875"/>
            <a:ext cx="4381500" cy="1428750"/>
          </a:xfrm>
        </p:spPr>
        <p:txBody>
          <a:bodyPr wrap="square" rtlCol="0" lIns="0" tIns="0" rIns="0" bIns="0" anchor="t"/>
          <a:lstStyle/>
          <a:p>
            <a:pPr algn="l">
              <a:lnSpc>
                <a:spcPct val="130000"/>
              </a:lnSpc>
            </a:pPr>
            <a:r>
              <a:rPr sz="1200">
                <a:solidFill>
                  <a:srgbClr val="6B7C82"/>
                </a:solidFill>
                <a:latin typeface="Segoe UI"/>
                <a:ea typeface="Segoe UI"/>
              </a:rPr>
              <a:t>À gauche : suivi client — timeline des états, alerte « pièce manquante » à compléter, rappel automatique J+7. À droite : tableau de bord analyste — file de travail triée par ancienneté, pièces déjà qualifiées par le contrôle auto, avis d'instruction et journal en lecture seule.</a:t>
            </a:r>
          </a:p>
        </p:txBody>
      </p:sp>
      <p:sp>
        <p:nvSpPr>
          <p:cNvPr id="11" name="TextBox 11">
            <a:extLst>
              <a:ext uri="{FF2B5EF4-FFF2-40B4-BE49-F238E27FC236}">
                <a16:creationId xmlns:a16="http://schemas.microsoft.com/office/drawing/2014/main" id="{F21046C6-652F-46CB-AB96-6278CBF4D057}"/>
              </a:ext>
            </a:extLst>
          </p:cNvPr>
          <p:cNvSpPr txBox="1"/>
          <p:nvPr/>
        </p:nvSpPr>
        <p:spPr>
          <a:xfrm>
            <a:off x="762000" y="6362700"/>
            <a:ext cx="7620000" cy="209550"/>
          </a:xfrm>
        </p:spPr>
        <p:txBody>
          <a:bodyPr wrap="square" rtlCol="0" lIns="0" tIns="0" rIns="0" bIns="0" anchor="t"/>
          <a:lstStyle/>
          <a:p>
            <a:pPr algn="l"/>
            <a:r>
              <a:rPr sz="1050" i="1">
                <a:solidFill>
                  <a:srgbClr val="9AA6AC"/>
                </a:solidFill>
                <a:latin typeface="Segoe UI"/>
                <a:ea typeface="Segoe UI"/>
              </a:rPr>
              <a:t>Source : wireframes low-fi (galerie GitHub) — E. Kanzari, 20 novembre 2026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2E7"/>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6A5998BB-BE24-468D-B64E-10800ED2393F}"/>
              </a:ext>
            </a:extLst>
          </p:cNvPr>
          <p:cNvSpPr txBox="1"/>
          <p:nvPr/>
        </p:nvSpPr>
        <p:spPr>
          <a:xfrm>
            <a:off x="762000" y="533400"/>
            <a:ext cx="8572500" cy="228600"/>
          </a:xfrm>
        </p:spPr>
        <p:txBody>
          <a:bodyPr wrap="square" rtlCol="0" lIns="0" tIns="0" rIns="0" bIns="0" anchor="t"/>
          <a:lstStyle/>
          <a:p>
            <a:pPr algn="l"/>
            <a:r>
              <a:rPr sz="1300" b="1">
                <a:solidFill>
                  <a:srgbClr val="2E7D8C"/>
                </a:solidFill>
                <a:latin typeface="Segoe UI"/>
                <a:ea typeface="Segoe UI"/>
              </a:rPr>
              <a:t>RÉSULTATS CIBLES — 6 MOIS APRÈS MISE EN PRODUCTION</a:t>
            </a:r>
          </a:p>
        </p:txBody>
      </p:sp>
      <p:sp>
        <p:nvSpPr>
          <p:cNvPr id="4" name="TextBox 4">
            <a:extLst>
              <a:ext uri="{FF2B5EF4-FFF2-40B4-BE49-F238E27FC236}">
                <a16:creationId xmlns:a16="http://schemas.microsoft.com/office/drawing/2014/main" id="{A1D834E4-284C-4E84-9044-8008938D9253}"/>
              </a:ext>
            </a:extLst>
          </p:cNvPr>
          <p:cNvSpPr txBox="1"/>
          <p:nvPr/>
        </p:nvSpPr>
        <p:spPr>
          <a:xfrm>
            <a:off x="762000" y="819150"/>
            <a:ext cx="7620000" cy="533400"/>
          </a:xfrm>
        </p:spPr>
        <p:txBody>
          <a:bodyPr wrap="square" rtlCol="0" lIns="0" tIns="0" rIns="0" bIns="0" anchor="t"/>
          <a:lstStyle/>
          <a:p>
            <a:pPr algn="l"/>
            <a:r>
              <a:rPr sz="2800" b="1">
                <a:solidFill>
                  <a:srgbClr val="243B45"/>
                </a:solidFill>
                <a:latin typeface="Segoe UI"/>
                <a:ea typeface="Segoe UI"/>
              </a:rPr>
              <a:t>Quatre promesses mesurables</a:t>
            </a:r>
          </a:p>
        </p:txBody>
      </p:sp>
      <p:sp>
        <p:nvSpPr>
          <p:cNvPr id="5" name="Shape 5">
            <a:extLst>
              <a:ext uri="{FF2B5EF4-FFF2-40B4-BE49-F238E27FC236}">
                <a16:creationId xmlns:a16="http://schemas.microsoft.com/office/drawing/2014/main" id="{4E15AA6A-55B4-45F6-99B7-6DB4A83693EA}"/>
              </a:ext>
            </a:extLst>
          </p:cNvPr>
          <p:cNvSpPr/>
          <p:nvPr/>
        </p:nvSpPr>
        <p:spPr>
          <a:xfrm>
            <a:off x="762000" y="1619250"/>
            <a:ext cx="2381250" cy="2857500"/>
          </a:xfrm>
          <a:prstGeom prst="roundRect">
            <a:avLst/>
          </a:prstGeom>
          <a:solidFill>
            <a:srgbClr val="FFFFFF"/>
          </a:solidFill>
          <a:ln w="12700">
            <a:solidFill>
              <a:srgbClr val="E4D9C3"/>
            </a:solidFill>
          </a:ln>
        </p:spPr>
        <p:txBody>
          <a:bodyPr wrap="square" rtlCol="0"/>
          <a:lstStyle/>
          <a:p>
            <a:r>
              <a:rPr/>
              <a:t/>
            </a:r>
          </a:p>
        </p:txBody>
      </p:sp>
      <p:sp>
        <p:nvSpPr>
          <p:cNvPr id="6" name="TextBox 6">
            <a:extLst>
              <a:ext uri="{FF2B5EF4-FFF2-40B4-BE49-F238E27FC236}">
                <a16:creationId xmlns:a16="http://schemas.microsoft.com/office/drawing/2014/main" id="{C0BB8D8F-34AE-4DBD-930C-E7015215903B}"/>
              </a:ext>
            </a:extLst>
          </p:cNvPr>
          <p:cNvSpPr txBox="1"/>
          <p:nvPr/>
        </p:nvSpPr>
        <p:spPr>
          <a:xfrm>
            <a:off x="990600" y="1828800"/>
            <a:ext cx="1905000" cy="190500"/>
          </a:xfrm>
        </p:spPr>
        <p:txBody>
          <a:bodyPr wrap="square" rtlCol="0" lIns="0" tIns="0" rIns="0" bIns="0" anchor="t"/>
          <a:lstStyle/>
          <a:p>
            <a:pPr algn="l"/>
            <a:r>
              <a:rPr sz="1100" b="1">
                <a:solidFill>
                  <a:srgbClr val="9AA6AC"/>
                </a:solidFill>
                <a:latin typeface="Segoe UI"/>
                <a:ea typeface="Segoe UI"/>
              </a:rPr>
              <a:t>AUJOURD'HUI</a:t>
            </a:r>
          </a:p>
        </p:txBody>
      </p:sp>
      <p:sp>
        <p:nvSpPr>
          <p:cNvPr id="7" name="TextBox 7">
            <a:extLst>
              <a:ext uri="{FF2B5EF4-FFF2-40B4-BE49-F238E27FC236}">
                <a16:creationId xmlns:a16="http://schemas.microsoft.com/office/drawing/2014/main" id="{D09B1817-0905-4A1F-9AC1-8CF94B50C625}"/>
              </a:ext>
            </a:extLst>
          </p:cNvPr>
          <p:cNvSpPr txBox="1"/>
          <p:nvPr/>
        </p:nvSpPr>
        <p:spPr>
          <a:xfrm>
            <a:off x="990600" y="2038350"/>
            <a:ext cx="1905000" cy="342900"/>
          </a:xfrm>
        </p:spPr>
        <p:txBody>
          <a:bodyPr wrap="square" rtlCol="0" lIns="0" tIns="0" rIns="0" bIns="0" anchor="t"/>
          <a:lstStyle/>
          <a:p>
            <a:pPr algn="l"/>
            <a:r>
              <a:rPr sz="2000">
                <a:solidFill>
                  <a:srgbClr val="6B7C82"/>
                </a:solidFill>
                <a:latin typeface="Segoe UI"/>
                <a:ea typeface="Segoe UI"/>
              </a:rPr>
              <a:t>12 jours</a:t>
            </a:r>
          </a:p>
        </p:txBody>
      </p:sp>
      <p:sp>
        <p:nvSpPr>
          <p:cNvPr id="8" name="TextBox 8">
            <a:extLst>
              <a:ext uri="{FF2B5EF4-FFF2-40B4-BE49-F238E27FC236}">
                <a16:creationId xmlns:a16="http://schemas.microsoft.com/office/drawing/2014/main" id="{6BDDA6FF-76D6-45C9-981A-919E4378472A}"/>
              </a:ext>
            </a:extLst>
          </p:cNvPr>
          <p:cNvSpPr txBox="1"/>
          <p:nvPr/>
        </p:nvSpPr>
        <p:spPr>
          <a:xfrm>
            <a:off x="990600" y="2552700"/>
            <a:ext cx="1905000" cy="190500"/>
          </a:xfrm>
        </p:spPr>
        <p:txBody>
          <a:bodyPr wrap="square" rtlCol="0" lIns="0" tIns="0" rIns="0" bIns="0" anchor="t"/>
          <a:lstStyle/>
          <a:p>
            <a:pPr algn="l"/>
            <a:r>
              <a:rPr sz="1100" b="1">
                <a:solidFill>
                  <a:srgbClr val="2E7D8C"/>
                </a:solidFill>
                <a:latin typeface="Segoe UI"/>
                <a:ea typeface="Segoe UI"/>
              </a:rPr>
              <a:t>CIBLE</a:t>
            </a:r>
          </a:p>
        </p:txBody>
      </p:sp>
      <p:sp>
        <p:nvSpPr>
          <p:cNvPr id="9" name="TextBox 9">
            <a:extLst>
              <a:ext uri="{FF2B5EF4-FFF2-40B4-BE49-F238E27FC236}">
                <a16:creationId xmlns:a16="http://schemas.microsoft.com/office/drawing/2014/main" id="{0C6839E0-04A7-49BB-A196-44A93DB0B043}"/>
              </a:ext>
            </a:extLst>
          </p:cNvPr>
          <p:cNvSpPr txBox="1"/>
          <p:nvPr/>
        </p:nvSpPr>
        <p:spPr>
          <a:xfrm>
            <a:off x="990600" y="2762250"/>
            <a:ext cx="1905000" cy="426720"/>
          </a:xfrm>
        </p:spPr>
        <p:txBody>
          <a:bodyPr wrap="square" rtlCol="0" lIns="0" tIns="0" rIns="0" bIns="0" anchor="t"/>
          <a:lstStyle/>
          <a:p>
            <a:pPr algn="l"/>
            <a:r>
              <a:rPr sz="2800" b="1">
                <a:solidFill>
                  <a:srgbClr val="2E7D8C"/>
                </a:solidFill>
                <a:latin typeface="Segoe UI"/>
                <a:ea typeface="Segoe UI"/>
              </a:rPr>
              <a:t>≤ 5 j</a:t>
            </a:r>
          </a:p>
        </p:txBody>
      </p:sp>
      <p:sp>
        <p:nvSpPr>
          <p:cNvPr id="10" name="TextBox 10">
            <a:extLst>
              <a:ext uri="{FF2B5EF4-FFF2-40B4-BE49-F238E27FC236}">
                <a16:creationId xmlns:a16="http://schemas.microsoft.com/office/drawing/2014/main" id="{6DDCE590-E553-4BD0-9434-F2599855334C}"/>
              </a:ext>
            </a:extLst>
          </p:cNvPr>
          <p:cNvSpPr txBox="1"/>
          <p:nvPr/>
        </p:nvSpPr>
        <p:spPr>
          <a:xfrm>
            <a:off x="990600" y="3314700"/>
            <a:ext cx="1924050" cy="952500"/>
          </a:xfrm>
        </p:spPr>
        <p:txBody>
          <a:bodyPr wrap="square" rtlCol="0" lIns="0" tIns="0" rIns="0" bIns="0" anchor="t"/>
          <a:lstStyle/>
          <a:p>
            <a:pPr algn="l">
              <a:lnSpc>
                <a:spcPct val="128000"/>
              </a:lnSpc>
            </a:pPr>
            <a:r>
              <a:rPr sz="1200">
                <a:solidFill>
                  <a:srgbClr val="6B7C82"/>
                </a:solidFill>
                <a:latin typeface="Segoe UI"/>
                <a:ea typeface="Segoe UI"/>
              </a:rPr>
              <a:t>délai moyen de traitement d'une demande</a:t>
            </a:r>
          </a:p>
        </p:txBody>
      </p:sp>
      <p:sp>
        <p:nvSpPr>
          <p:cNvPr id="11" name="Shape 11">
            <a:extLst>
              <a:ext uri="{FF2B5EF4-FFF2-40B4-BE49-F238E27FC236}">
                <a16:creationId xmlns:a16="http://schemas.microsoft.com/office/drawing/2014/main" id="{47EB80A3-D013-4B3A-8638-65B215BDDA74}"/>
              </a:ext>
            </a:extLst>
          </p:cNvPr>
          <p:cNvSpPr/>
          <p:nvPr/>
        </p:nvSpPr>
        <p:spPr>
          <a:xfrm>
            <a:off x="3524250" y="1619250"/>
            <a:ext cx="2381250" cy="2857500"/>
          </a:xfrm>
          <a:prstGeom prst="roundRect">
            <a:avLst/>
          </a:prstGeom>
          <a:solidFill>
            <a:srgbClr val="FFFFFF"/>
          </a:solidFill>
          <a:ln w="12700">
            <a:solidFill>
              <a:srgbClr val="E4D9C3"/>
            </a:solidFill>
          </a:ln>
        </p:spPr>
        <p:txBody>
          <a:bodyPr wrap="square" rtlCol="0"/>
          <a:lstStyle/>
          <a:p>
            <a:r>
              <a:rPr/>
              <a:t/>
            </a:r>
          </a:p>
        </p:txBody>
      </p:sp>
      <p:sp>
        <p:nvSpPr>
          <p:cNvPr id="12" name="TextBox 12">
            <a:extLst>
              <a:ext uri="{FF2B5EF4-FFF2-40B4-BE49-F238E27FC236}">
                <a16:creationId xmlns:a16="http://schemas.microsoft.com/office/drawing/2014/main" id="{C10D6BE9-B073-468E-AB34-3649653EFA80}"/>
              </a:ext>
            </a:extLst>
          </p:cNvPr>
          <p:cNvSpPr txBox="1"/>
          <p:nvPr/>
        </p:nvSpPr>
        <p:spPr>
          <a:xfrm>
            <a:off x="3752850" y="1828800"/>
            <a:ext cx="1905000" cy="190500"/>
          </a:xfrm>
        </p:spPr>
        <p:txBody>
          <a:bodyPr wrap="square" rtlCol="0" lIns="0" tIns="0" rIns="0" bIns="0" anchor="t"/>
          <a:lstStyle/>
          <a:p>
            <a:pPr algn="l"/>
            <a:r>
              <a:rPr sz="1100" b="1">
                <a:solidFill>
                  <a:srgbClr val="9AA6AC"/>
                </a:solidFill>
                <a:latin typeface="Segoe UI"/>
                <a:ea typeface="Segoe UI"/>
              </a:rPr>
              <a:t>AUJOURD'HUI</a:t>
            </a:r>
          </a:p>
        </p:txBody>
      </p:sp>
      <p:sp>
        <p:nvSpPr>
          <p:cNvPr id="13" name="TextBox 13">
            <a:extLst>
              <a:ext uri="{FF2B5EF4-FFF2-40B4-BE49-F238E27FC236}">
                <a16:creationId xmlns:a16="http://schemas.microsoft.com/office/drawing/2014/main" id="{1DF6A49C-6309-41C1-8570-5CAD40700222}"/>
              </a:ext>
            </a:extLst>
          </p:cNvPr>
          <p:cNvSpPr txBox="1"/>
          <p:nvPr/>
        </p:nvSpPr>
        <p:spPr>
          <a:xfrm>
            <a:off x="3752850" y="2038350"/>
            <a:ext cx="1905000" cy="342900"/>
          </a:xfrm>
        </p:spPr>
        <p:txBody>
          <a:bodyPr wrap="square" rtlCol="0" lIns="0" tIns="0" rIns="0" bIns="0" anchor="t"/>
          <a:lstStyle/>
          <a:p>
            <a:pPr algn="l"/>
            <a:r>
              <a:rPr sz="2000">
                <a:solidFill>
                  <a:srgbClr val="6B7C82"/>
                </a:solidFill>
                <a:latin typeface="Segoe UI"/>
                <a:ea typeface="Segoe UI"/>
              </a:rPr>
              <a:t>35 %</a:t>
            </a:r>
          </a:p>
        </p:txBody>
      </p:sp>
      <p:sp>
        <p:nvSpPr>
          <p:cNvPr id="14" name="TextBox 14">
            <a:extLst>
              <a:ext uri="{FF2B5EF4-FFF2-40B4-BE49-F238E27FC236}">
                <a16:creationId xmlns:a16="http://schemas.microsoft.com/office/drawing/2014/main" id="{CB8C6F46-76B2-452D-9787-C625F109826D}"/>
              </a:ext>
            </a:extLst>
          </p:cNvPr>
          <p:cNvSpPr txBox="1"/>
          <p:nvPr/>
        </p:nvSpPr>
        <p:spPr>
          <a:xfrm>
            <a:off x="3752850" y="2552700"/>
            <a:ext cx="1905000" cy="190500"/>
          </a:xfrm>
        </p:spPr>
        <p:txBody>
          <a:bodyPr wrap="square" rtlCol="0" lIns="0" tIns="0" rIns="0" bIns="0" anchor="t"/>
          <a:lstStyle/>
          <a:p>
            <a:pPr algn="l"/>
            <a:r>
              <a:rPr sz="1100" b="1">
                <a:solidFill>
                  <a:srgbClr val="2E7D8C"/>
                </a:solidFill>
                <a:latin typeface="Segoe UI"/>
                <a:ea typeface="Segoe UI"/>
              </a:rPr>
              <a:t>CIBLE</a:t>
            </a:r>
          </a:p>
        </p:txBody>
      </p:sp>
      <p:sp>
        <p:nvSpPr>
          <p:cNvPr id="15" name="TextBox 15">
            <a:extLst>
              <a:ext uri="{FF2B5EF4-FFF2-40B4-BE49-F238E27FC236}">
                <a16:creationId xmlns:a16="http://schemas.microsoft.com/office/drawing/2014/main" id="{EFD42BBA-5A08-49B0-885F-DA8C2C59DEBB}"/>
              </a:ext>
            </a:extLst>
          </p:cNvPr>
          <p:cNvSpPr txBox="1"/>
          <p:nvPr/>
        </p:nvSpPr>
        <p:spPr>
          <a:xfrm>
            <a:off x="3752850" y="2762250"/>
            <a:ext cx="1905000" cy="426720"/>
          </a:xfrm>
        </p:spPr>
        <p:txBody>
          <a:bodyPr wrap="square" rtlCol="0" lIns="0" tIns="0" rIns="0" bIns="0" anchor="t"/>
          <a:lstStyle/>
          <a:p>
            <a:pPr algn="l"/>
            <a:r>
              <a:rPr sz="2800" b="1">
                <a:solidFill>
                  <a:srgbClr val="2E7D8C"/>
                </a:solidFill>
                <a:latin typeface="Segoe UI"/>
                <a:ea typeface="Segoe UI"/>
              </a:rPr>
              <a:t>≤ 10 %</a:t>
            </a:r>
          </a:p>
        </p:txBody>
      </p:sp>
      <p:sp>
        <p:nvSpPr>
          <p:cNvPr id="16" name="TextBox 16">
            <a:extLst>
              <a:ext uri="{FF2B5EF4-FFF2-40B4-BE49-F238E27FC236}">
                <a16:creationId xmlns:a16="http://schemas.microsoft.com/office/drawing/2014/main" id="{83349ACD-05AE-44BD-8A2C-E7124AB79CF3}"/>
              </a:ext>
            </a:extLst>
          </p:cNvPr>
          <p:cNvSpPr txBox="1"/>
          <p:nvPr/>
        </p:nvSpPr>
        <p:spPr>
          <a:xfrm>
            <a:off x="3752850" y="3314700"/>
            <a:ext cx="1924050" cy="952500"/>
          </a:xfrm>
        </p:spPr>
        <p:txBody>
          <a:bodyPr wrap="square" rtlCol="0" lIns="0" tIns="0" rIns="0" bIns="0" anchor="t"/>
          <a:lstStyle/>
          <a:p>
            <a:pPr algn="l">
              <a:lnSpc>
                <a:spcPct val="128000"/>
              </a:lnSpc>
            </a:pPr>
            <a:r>
              <a:rPr sz="1200">
                <a:solidFill>
                  <a:srgbClr val="6B7C82"/>
                </a:solidFill>
                <a:latin typeface="Segoe UI"/>
                <a:ea typeface="Segoe UI"/>
              </a:rPr>
              <a:t>de dossiers incomplets arrivant au siège</a:t>
            </a:r>
          </a:p>
        </p:txBody>
      </p:sp>
      <p:sp>
        <p:nvSpPr>
          <p:cNvPr id="17" name="Shape 17">
            <a:extLst>
              <a:ext uri="{FF2B5EF4-FFF2-40B4-BE49-F238E27FC236}">
                <a16:creationId xmlns:a16="http://schemas.microsoft.com/office/drawing/2014/main" id="{1E466833-A761-4EB2-A02A-79A4A2D0D67A}"/>
              </a:ext>
            </a:extLst>
          </p:cNvPr>
          <p:cNvSpPr/>
          <p:nvPr/>
        </p:nvSpPr>
        <p:spPr>
          <a:xfrm>
            <a:off x="6286500" y="1619250"/>
            <a:ext cx="2381250" cy="2857500"/>
          </a:xfrm>
          <a:prstGeom prst="roundRect">
            <a:avLst/>
          </a:prstGeom>
          <a:solidFill>
            <a:srgbClr val="FFFFFF"/>
          </a:solidFill>
          <a:ln w="12700">
            <a:solidFill>
              <a:srgbClr val="E4D9C3"/>
            </a:solidFill>
          </a:ln>
        </p:spPr>
        <p:txBody>
          <a:bodyPr wrap="square" rtlCol="0"/>
          <a:lstStyle/>
          <a:p>
            <a:r>
              <a:rPr/>
              <a:t/>
            </a:r>
          </a:p>
        </p:txBody>
      </p:sp>
      <p:sp>
        <p:nvSpPr>
          <p:cNvPr id="18" name="TextBox 18">
            <a:extLst>
              <a:ext uri="{FF2B5EF4-FFF2-40B4-BE49-F238E27FC236}">
                <a16:creationId xmlns:a16="http://schemas.microsoft.com/office/drawing/2014/main" id="{9D7A80EF-D518-4636-B083-F7790E5D651F}"/>
              </a:ext>
            </a:extLst>
          </p:cNvPr>
          <p:cNvSpPr txBox="1"/>
          <p:nvPr/>
        </p:nvSpPr>
        <p:spPr>
          <a:xfrm>
            <a:off x="6515100" y="1828800"/>
            <a:ext cx="1905000" cy="190500"/>
          </a:xfrm>
        </p:spPr>
        <p:txBody>
          <a:bodyPr wrap="square" rtlCol="0" lIns="0" tIns="0" rIns="0" bIns="0" anchor="t"/>
          <a:lstStyle/>
          <a:p>
            <a:pPr algn="l"/>
            <a:r>
              <a:rPr sz="1100" b="1">
                <a:solidFill>
                  <a:srgbClr val="9AA6AC"/>
                </a:solidFill>
                <a:latin typeface="Segoe UI"/>
                <a:ea typeface="Segoe UI"/>
              </a:rPr>
              <a:t>AUJOURD'HUI</a:t>
            </a:r>
          </a:p>
        </p:txBody>
      </p:sp>
      <p:sp>
        <p:nvSpPr>
          <p:cNvPr id="19" name="TextBox 19">
            <a:extLst>
              <a:ext uri="{FF2B5EF4-FFF2-40B4-BE49-F238E27FC236}">
                <a16:creationId xmlns:a16="http://schemas.microsoft.com/office/drawing/2014/main" id="{ED5797B3-8A03-4C26-86C8-FE4DA1D4513F}"/>
              </a:ext>
            </a:extLst>
          </p:cNvPr>
          <p:cNvSpPr txBox="1"/>
          <p:nvPr/>
        </p:nvSpPr>
        <p:spPr>
          <a:xfrm>
            <a:off x="6515100" y="2038350"/>
            <a:ext cx="1905000" cy="342900"/>
          </a:xfrm>
        </p:spPr>
        <p:txBody>
          <a:bodyPr wrap="square" rtlCol="0" lIns="0" tIns="0" rIns="0" bIns="0" anchor="t"/>
          <a:lstStyle/>
          <a:p>
            <a:pPr algn="l"/>
            <a:r>
              <a:rPr sz="2000">
                <a:solidFill>
                  <a:srgbClr val="6B7C82"/>
                </a:solidFill>
                <a:latin typeface="Segoe UI"/>
                <a:ea typeface="Segoe UI"/>
              </a:rPr>
              <a:t>3 saisies</a:t>
            </a:r>
          </a:p>
        </p:txBody>
      </p:sp>
      <p:sp>
        <p:nvSpPr>
          <p:cNvPr id="20" name="TextBox 20">
            <a:extLst>
              <a:ext uri="{FF2B5EF4-FFF2-40B4-BE49-F238E27FC236}">
                <a16:creationId xmlns:a16="http://schemas.microsoft.com/office/drawing/2014/main" id="{EA714A10-D3B6-4F6C-8E7C-8BD7BC335092}"/>
              </a:ext>
            </a:extLst>
          </p:cNvPr>
          <p:cNvSpPr txBox="1"/>
          <p:nvPr/>
        </p:nvSpPr>
        <p:spPr>
          <a:xfrm>
            <a:off x="6515100" y="2552700"/>
            <a:ext cx="1905000" cy="190500"/>
          </a:xfrm>
        </p:spPr>
        <p:txBody>
          <a:bodyPr wrap="square" rtlCol="0" lIns="0" tIns="0" rIns="0" bIns="0" anchor="t"/>
          <a:lstStyle/>
          <a:p>
            <a:pPr algn="l"/>
            <a:r>
              <a:rPr sz="1100" b="1">
                <a:solidFill>
                  <a:srgbClr val="2E7D8C"/>
                </a:solidFill>
                <a:latin typeface="Segoe UI"/>
                <a:ea typeface="Segoe UI"/>
              </a:rPr>
              <a:t>CIBLE</a:t>
            </a:r>
          </a:p>
        </p:txBody>
      </p:sp>
      <p:sp>
        <p:nvSpPr>
          <p:cNvPr id="21" name="TextBox 21">
            <a:extLst>
              <a:ext uri="{FF2B5EF4-FFF2-40B4-BE49-F238E27FC236}">
                <a16:creationId xmlns:a16="http://schemas.microsoft.com/office/drawing/2014/main" id="{070D5559-EFE8-406C-9DD6-7855DF6F225C}"/>
              </a:ext>
            </a:extLst>
          </p:cNvPr>
          <p:cNvSpPr txBox="1"/>
          <p:nvPr/>
        </p:nvSpPr>
        <p:spPr>
          <a:xfrm>
            <a:off x="6515100" y="2762250"/>
            <a:ext cx="1905000" cy="426720"/>
          </a:xfrm>
        </p:spPr>
        <p:txBody>
          <a:bodyPr wrap="square" rtlCol="0" lIns="0" tIns="0" rIns="0" bIns="0" anchor="t"/>
          <a:lstStyle/>
          <a:p>
            <a:pPr algn="l"/>
            <a:r>
              <a:rPr sz="2800" b="1">
                <a:solidFill>
                  <a:srgbClr val="2E7D8C"/>
                </a:solidFill>
                <a:latin typeface="Segoe UI"/>
                <a:ea typeface="Segoe UI"/>
              </a:rPr>
              <a:t>1 saisie</a:t>
            </a:r>
          </a:p>
        </p:txBody>
      </p:sp>
      <p:sp>
        <p:nvSpPr>
          <p:cNvPr id="22" name="TextBox 22">
            <a:extLst>
              <a:ext uri="{FF2B5EF4-FFF2-40B4-BE49-F238E27FC236}">
                <a16:creationId xmlns:a16="http://schemas.microsoft.com/office/drawing/2014/main" id="{073F3B7F-9232-408A-99AE-9E9569A7E43D}"/>
              </a:ext>
            </a:extLst>
          </p:cNvPr>
          <p:cNvSpPr txBox="1"/>
          <p:nvPr/>
        </p:nvSpPr>
        <p:spPr>
          <a:xfrm>
            <a:off x="6515100" y="3314700"/>
            <a:ext cx="1924050" cy="952500"/>
          </a:xfrm>
        </p:spPr>
        <p:txBody>
          <a:bodyPr wrap="square" rtlCol="0" lIns="0" tIns="0" rIns="0" bIns="0" anchor="t"/>
          <a:lstStyle/>
          <a:p>
            <a:pPr algn="l">
              <a:lnSpc>
                <a:spcPct val="128000"/>
              </a:lnSpc>
            </a:pPr>
            <a:r>
              <a:rPr sz="1200">
                <a:solidFill>
                  <a:srgbClr val="6B7C82"/>
                </a:solidFill>
                <a:latin typeface="Segoe UI"/>
                <a:ea typeface="Segoe UI"/>
              </a:rPr>
              <a:t>pour le même dossier, quel que soit le canal</a:t>
            </a:r>
          </a:p>
        </p:txBody>
      </p:sp>
      <p:sp>
        <p:nvSpPr>
          <p:cNvPr id="23" name="Shape 23">
            <a:extLst>
              <a:ext uri="{FF2B5EF4-FFF2-40B4-BE49-F238E27FC236}">
                <a16:creationId xmlns:a16="http://schemas.microsoft.com/office/drawing/2014/main" id="{9AA00E56-F873-47E7-89A5-EFD7CDF3BF75}"/>
              </a:ext>
            </a:extLst>
          </p:cNvPr>
          <p:cNvSpPr/>
          <p:nvPr/>
        </p:nvSpPr>
        <p:spPr>
          <a:xfrm>
            <a:off x="9048750" y="1619250"/>
            <a:ext cx="2381250" cy="2857500"/>
          </a:xfrm>
          <a:prstGeom prst="roundRect">
            <a:avLst/>
          </a:prstGeom>
          <a:solidFill>
            <a:srgbClr val="FFFFFF"/>
          </a:solidFill>
          <a:ln w="12700">
            <a:solidFill>
              <a:srgbClr val="E4D9C3"/>
            </a:solidFill>
          </a:ln>
        </p:spPr>
        <p:txBody>
          <a:bodyPr wrap="square" rtlCol="0"/>
          <a:lstStyle/>
          <a:p>
            <a:r>
              <a:rPr/>
              <a:t/>
            </a:r>
          </a:p>
        </p:txBody>
      </p:sp>
      <p:sp>
        <p:nvSpPr>
          <p:cNvPr id="24" name="TextBox 24">
            <a:extLst>
              <a:ext uri="{FF2B5EF4-FFF2-40B4-BE49-F238E27FC236}">
                <a16:creationId xmlns:a16="http://schemas.microsoft.com/office/drawing/2014/main" id="{A25E7D6F-A81F-4EA1-A18D-8F0A2B009471}"/>
              </a:ext>
            </a:extLst>
          </p:cNvPr>
          <p:cNvSpPr txBox="1"/>
          <p:nvPr/>
        </p:nvSpPr>
        <p:spPr>
          <a:xfrm>
            <a:off x="9277350" y="1828800"/>
            <a:ext cx="1905000" cy="190500"/>
          </a:xfrm>
        </p:spPr>
        <p:txBody>
          <a:bodyPr wrap="square" rtlCol="0" lIns="0" tIns="0" rIns="0" bIns="0" anchor="t"/>
          <a:lstStyle/>
          <a:p>
            <a:pPr algn="l"/>
            <a:r>
              <a:rPr sz="1100" b="1">
                <a:solidFill>
                  <a:srgbClr val="9AA6AC"/>
                </a:solidFill>
                <a:latin typeface="Segoe UI"/>
                <a:ea typeface="Segoe UI"/>
              </a:rPr>
              <a:t>AUJOURD'HUI</a:t>
            </a:r>
          </a:p>
        </p:txBody>
      </p:sp>
      <p:sp>
        <p:nvSpPr>
          <p:cNvPr id="25" name="TextBox 25">
            <a:extLst>
              <a:ext uri="{FF2B5EF4-FFF2-40B4-BE49-F238E27FC236}">
                <a16:creationId xmlns:a16="http://schemas.microsoft.com/office/drawing/2014/main" id="{E5F5204A-FDC6-46B7-B66D-80B74B554E9D}"/>
              </a:ext>
            </a:extLst>
          </p:cNvPr>
          <p:cNvSpPr txBox="1"/>
          <p:nvPr/>
        </p:nvSpPr>
        <p:spPr>
          <a:xfrm>
            <a:off x="9277350" y="2038350"/>
            <a:ext cx="1905000" cy="342900"/>
          </a:xfrm>
        </p:spPr>
        <p:txBody>
          <a:bodyPr wrap="square" rtlCol="0" lIns="0" tIns="0" rIns="0" bIns="0" anchor="t"/>
          <a:lstStyle/>
          <a:p>
            <a:pPr algn="l"/>
            <a:r>
              <a:rPr sz="2000">
                <a:solidFill>
                  <a:srgbClr val="6B7C82"/>
                </a:solidFill>
                <a:latin typeface="Segoe UI"/>
                <a:ea typeface="Segoe UI"/>
              </a:rPr>
              <a:t>0 %</a:t>
            </a:r>
          </a:p>
        </p:txBody>
      </p:sp>
      <p:sp>
        <p:nvSpPr>
          <p:cNvPr id="26" name="TextBox 26">
            <a:extLst>
              <a:ext uri="{FF2B5EF4-FFF2-40B4-BE49-F238E27FC236}">
                <a16:creationId xmlns:a16="http://schemas.microsoft.com/office/drawing/2014/main" id="{854F162A-6075-4AD3-98CB-69D65C80ABB5}"/>
              </a:ext>
            </a:extLst>
          </p:cNvPr>
          <p:cNvSpPr txBox="1"/>
          <p:nvPr/>
        </p:nvSpPr>
        <p:spPr>
          <a:xfrm>
            <a:off x="9277350" y="2552700"/>
            <a:ext cx="1905000" cy="190500"/>
          </a:xfrm>
        </p:spPr>
        <p:txBody>
          <a:bodyPr wrap="square" rtlCol="0" lIns="0" tIns="0" rIns="0" bIns="0" anchor="t"/>
          <a:lstStyle/>
          <a:p>
            <a:pPr algn="l"/>
            <a:r>
              <a:rPr sz="1100" b="1">
                <a:solidFill>
                  <a:srgbClr val="2E7D8C"/>
                </a:solidFill>
                <a:latin typeface="Segoe UI"/>
                <a:ea typeface="Segoe UI"/>
              </a:rPr>
              <a:t>CIBLE</a:t>
            </a:r>
          </a:p>
        </p:txBody>
      </p:sp>
      <p:sp>
        <p:nvSpPr>
          <p:cNvPr id="27" name="TextBox 27">
            <a:extLst>
              <a:ext uri="{FF2B5EF4-FFF2-40B4-BE49-F238E27FC236}">
                <a16:creationId xmlns:a16="http://schemas.microsoft.com/office/drawing/2014/main" id="{7358E66D-1181-4C17-938D-CBE4BBDF5FEA}"/>
              </a:ext>
            </a:extLst>
          </p:cNvPr>
          <p:cNvSpPr txBox="1"/>
          <p:nvPr/>
        </p:nvSpPr>
        <p:spPr>
          <a:xfrm>
            <a:off x="9277350" y="2762250"/>
            <a:ext cx="1905000" cy="426720"/>
          </a:xfrm>
        </p:spPr>
        <p:txBody>
          <a:bodyPr wrap="square" rtlCol="0" lIns="0" tIns="0" rIns="0" bIns="0" anchor="t"/>
          <a:lstStyle/>
          <a:p>
            <a:pPr algn="l"/>
            <a:r>
              <a:rPr sz="2800" b="1">
                <a:solidFill>
                  <a:srgbClr val="2E7D8C"/>
                </a:solidFill>
                <a:latin typeface="Segoe UI"/>
                <a:ea typeface="Segoe UI"/>
              </a:rPr>
              <a:t>100 %</a:t>
            </a:r>
          </a:p>
        </p:txBody>
      </p:sp>
      <p:sp>
        <p:nvSpPr>
          <p:cNvPr id="28" name="TextBox 28">
            <a:extLst>
              <a:ext uri="{FF2B5EF4-FFF2-40B4-BE49-F238E27FC236}">
                <a16:creationId xmlns:a16="http://schemas.microsoft.com/office/drawing/2014/main" id="{F2205D0D-6A89-4605-AA79-0481C7236C49}"/>
              </a:ext>
            </a:extLst>
          </p:cNvPr>
          <p:cNvSpPr txBox="1"/>
          <p:nvPr/>
        </p:nvSpPr>
        <p:spPr>
          <a:xfrm>
            <a:off x="9277350" y="3314700"/>
            <a:ext cx="1924050" cy="952500"/>
          </a:xfrm>
        </p:spPr>
        <p:txBody>
          <a:bodyPr wrap="square" rtlCol="0" lIns="0" tIns="0" rIns="0" bIns="0" anchor="t"/>
          <a:lstStyle/>
          <a:p>
            <a:pPr algn="l">
              <a:lnSpc>
                <a:spcPct val="128000"/>
              </a:lnSpc>
            </a:pPr>
            <a:r>
              <a:rPr sz="1200">
                <a:solidFill>
                  <a:srgbClr val="6B7C82"/>
                </a:solidFill>
                <a:latin typeface="Segoe UI"/>
                <a:ea typeface="Segoe UI"/>
              </a:rPr>
              <a:t>de clients notifiés à chaque changement d'état</a:t>
            </a:r>
          </a:p>
        </p:txBody>
      </p:sp>
      <p:sp>
        <p:nvSpPr>
          <p:cNvPr id="29" name="Shape 29">
            <a:extLst>
              <a:ext uri="{FF2B5EF4-FFF2-40B4-BE49-F238E27FC236}">
                <a16:creationId xmlns:a16="http://schemas.microsoft.com/office/drawing/2014/main" id="{78DA7D85-58D3-439C-BAB7-78025F23CC98}"/>
              </a:ext>
            </a:extLst>
          </p:cNvPr>
          <p:cNvSpPr/>
          <p:nvPr/>
        </p:nvSpPr>
        <p:spPr>
          <a:xfrm>
            <a:off x="762000" y="4762500"/>
            <a:ext cx="10668000" cy="857250"/>
          </a:xfrm>
          <a:prstGeom prst="roundRect">
            <a:avLst/>
          </a:prstGeom>
          <a:solidFill>
            <a:srgbClr val="EAF3F5"/>
          </a:solidFill>
        </p:spPr>
        <p:txBody>
          <a:bodyPr wrap="square" rtlCol="0"/>
          <a:lstStyle/>
          <a:p>
            <a:r>
              <a:rPr/>
              <a:t/>
            </a:r>
          </a:p>
        </p:txBody>
      </p:sp>
      <p:sp>
        <p:nvSpPr>
          <p:cNvPr id="30" name="TextBox 30">
            <a:extLst>
              <a:ext uri="{FF2B5EF4-FFF2-40B4-BE49-F238E27FC236}">
                <a16:creationId xmlns:a16="http://schemas.microsoft.com/office/drawing/2014/main" id="{FF6F2107-31F8-4943-BC80-2B42299BCAA4}"/>
              </a:ext>
            </a:extLst>
          </p:cNvPr>
          <p:cNvSpPr txBox="1"/>
          <p:nvPr/>
        </p:nvSpPr>
        <p:spPr>
          <a:xfrm>
            <a:off x="1009650" y="4972050"/>
            <a:ext cx="10096500" cy="594360"/>
          </a:xfrm>
        </p:spPr>
        <p:txBody>
          <a:bodyPr wrap="square" rtlCol="0" lIns="0" tIns="0" rIns="0" bIns="0" anchor="t"/>
          <a:lstStyle/>
          <a:p>
            <a:pPr algn="l">
              <a:lnSpc>
                <a:spcPct val="130000"/>
              </a:lnSpc>
            </a:pPr>
            <a:r>
              <a:rPr sz="1600" b="1">
                <a:solidFill>
                  <a:srgbClr val="2E7D8C"/>
                </a:solidFill>
                <a:latin typeface="Segoe UI"/>
                <a:ea typeface="Segoe UI"/>
              </a:rPr>
              <a:t>≈ 2 200 appels de suivi évités chaque semaine. </a:t>
            </a:r>
            <a:r>
              <a:rPr sz="1400">
                <a:solidFill>
                  <a:srgbClr val="243B45"/>
                </a:solidFill>
                <a:latin typeface="Segoe UI"/>
                <a:ea typeface="Segoe UI"/>
              </a:rPr>
              <a:t>L'agence redevient un espace de vente, pas un guichet de renseignements.</a:t>
            </a:r>
          </a:p>
        </p:txBody>
      </p:sp>
      <p:sp>
        <p:nvSpPr>
          <p:cNvPr id="31" name="TextBox 31">
            <a:extLst>
              <a:ext uri="{FF2B5EF4-FFF2-40B4-BE49-F238E27FC236}">
                <a16:creationId xmlns:a16="http://schemas.microsoft.com/office/drawing/2014/main" id="{711BA54B-E614-4BF8-8E33-331F936060C3}"/>
              </a:ext>
            </a:extLst>
          </p:cNvPr>
          <p:cNvSpPr txBox="1"/>
          <p:nvPr/>
        </p:nvSpPr>
        <p:spPr>
          <a:xfrm>
            <a:off x="762000" y="6362700"/>
            <a:ext cx="9525000" cy="209550"/>
          </a:xfrm>
        </p:spPr>
        <p:txBody>
          <a:bodyPr wrap="square" rtlCol="0" lIns="0" tIns="0" rIns="0" bIns="0" anchor="t"/>
          <a:lstStyle/>
          <a:p>
            <a:pPr algn="l"/>
            <a:r>
              <a:rPr sz="1050" i="1">
                <a:solidFill>
                  <a:srgbClr val="9AA6AC"/>
                </a:solidFill>
                <a:latin typeface="Segoe UI"/>
                <a:ea typeface="Segoe UI"/>
              </a:rPr>
              <a:t>Source : objectifs O1–O4 du BRD (2 novembre 2026) · décomposition du délai cible TO-BE (16 novembre 2026)</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2E7"/>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C2F51330-FF34-4FBE-8EB1-B4D95510EDD6}"/>
              </a:ext>
            </a:extLst>
          </p:cNvPr>
          <p:cNvSpPr txBox="1"/>
          <p:nvPr/>
        </p:nvSpPr>
        <p:spPr>
          <a:xfrm>
            <a:off x="762000" y="419100"/>
            <a:ext cx="10668000" cy="533400"/>
          </a:xfrm>
        </p:spPr>
        <p:txBody>
          <a:bodyPr wrap="square" rtlCol="0" lIns="0" tIns="0" rIns="0" bIns="0" anchor="t"/>
          <a:lstStyle/>
          <a:p>
            <a:pPr algn="l">
              <a:lnSpc>
                <a:spcPct val="110000"/>
              </a:lnSpc>
            </a:pPr>
            <a:r>
              <a:rPr sz="3000" b="1">
                <a:solidFill>
                  <a:srgbClr val="243B45"/>
                </a:solidFill>
                <a:latin typeface="Segoe UI"/>
                <a:ea typeface="Segoe UI"/>
              </a:rPr>
              <a:t>Un business case honnête, défendable ligne à ligne</a:t>
            </a:r>
          </a:p>
        </p:txBody>
      </p:sp>
      <p:sp>
        <p:nvSpPr>
          <p:cNvPr id="4" name="TextBox 4">
            <a:extLst>
              <a:ext uri="{FF2B5EF4-FFF2-40B4-BE49-F238E27FC236}">
                <a16:creationId xmlns:a16="http://schemas.microsoft.com/office/drawing/2014/main" id="{49A89101-E3D2-4F75-ACB7-351A520D5995}"/>
              </a:ext>
            </a:extLst>
          </p:cNvPr>
          <p:cNvSpPr txBox="1"/>
          <p:nvPr/>
        </p:nvSpPr>
        <p:spPr>
          <a:xfrm>
            <a:off x="762000" y="1181100"/>
            <a:ext cx="5334000" cy="247650"/>
          </a:xfrm>
        </p:spPr>
        <p:txBody>
          <a:bodyPr wrap="square" rtlCol="0" lIns="0" tIns="0" rIns="0" bIns="0" anchor="t"/>
          <a:lstStyle/>
          <a:p>
            <a:pPr algn="l"/>
            <a:r>
              <a:rPr sz="1500" b="1">
                <a:solidFill>
                  <a:srgbClr val="6B7C82"/>
                </a:solidFill>
                <a:latin typeface="Segoe UI"/>
                <a:ea typeface="Segoe UI"/>
              </a:rPr>
              <a:t>Flux nets par année (milliers de DT)</a:t>
            </a:r>
          </a:p>
        </p:txBody>
      </p:sp>
      <p:sp>
        <p:nvSpPr>
          <p:cNvPr id="5" name="TextBox 5">
            <a:extLst>
              <a:ext uri="{FF2B5EF4-FFF2-40B4-BE49-F238E27FC236}">
                <a16:creationId xmlns:a16="http://schemas.microsoft.com/office/drawing/2014/main" id="{C999F672-D74A-4994-9CA0-377BC502B76B}"/>
              </a:ext>
            </a:extLst>
          </p:cNvPr>
          <p:cNvSpPr txBox="1"/>
          <p:nvPr/>
        </p:nvSpPr>
        <p:spPr>
          <a:xfrm>
            <a:off x="762000" y="1866900"/>
            <a:ext cx="5524500" cy="1166622"/>
          </a:xfrm>
        </p:spPr>
        <p:txBody>
          <a:bodyPr wrap="square" rtlCol="0" lIns="0" tIns="0" rIns="0" bIns="0" anchor="t"/>
          <a:lstStyle/>
          <a:p>
            <a:pPr algn="l">
              <a:lnSpc>
                <a:spcPct val="135000"/>
              </a:lnSpc>
              <a:spcAft>
                <a:spcPts val="600"/>
              </a:spcAft>
            </a:pPr>
            <a:r>
              <a:rPr sz="1400">
                <a:solidFill>
                  <a:srgbClr val="243B45"/>
                </a:solidFill>
                <a:latin typeface="Segoe UI"/>
                <a:ea typeface="Segoe UI"/>
              </a:rPr>
              <a:t>Cumul après trois ans : </a:t>
            </a:r>
            <a:r>
              <a:rPr sz="1400" b="1">
                <a:solidFill>
                  <a:srgbClr val="2E7D8C"/>
                </a:solidFill>
                <a:latin typeface="Segoe UI"/>
                <a:ea typeface="Segoe UI"/>
              </a:rPr>
              <a:t>−40 kDT</a:t>
            </a:r>
            <a:r>
              <a:rPr sz="1400">
                <a:solidFill>
                  <a:srgbClr val="243B45"/>
                </a:solidFill>
                <a:latin typeface="Segoe UI"/>
                <a:ea typeface="Segoe UI"/>
              </a:rPr>
              <a:t> — le module se rembourse presque sur la seule productivité récupérée.</a:t>
            </a:r>
          </a:p>
          <a:p>
            <a:pPr algn="l">
              <a:lnSpc>
                <a:spcPct val="135000"/>
              </a:lnSpc>
            </a:pPr>
            <a:r>
              <a:rPr sz="1250" i="1">
                <a:solidFill>
                  <a:srgbClr val="6B7C82"/>
                </a:solidFill>
                <a:latin typeface="Segoe UI"/>
                <a:ea typeface="Segoe UI"/>
              </a:rPr>
              <a:t>Sans compter les gains non chiffrés ici : ~2 200 appels de suivi évités chaque semaine.</a:t>
            </a:r>
          </a:p>
        </p:txBody>
      </p:sp>
      <p:sp>
        <p:nvSpPr>
          <p:cNvPr id="6" name="Shape 6">
            <a:extLst>
              <a:ext uri="{FF2B5EF4-FFF2-40B4-BE49-F238E27FC236}">
                <a16:creationId xmlns:a16="http://schemas.microsoft.com/office/drawing/2014/main" id="{88F7FEF4-0E27-406A-A19A-E8F10C1D9BAC}"/>
              </a:ext>
            </a:extLst>
          </p:cNvPr>
          <p:cNvSpPr/>
          <p:nvPr/>
        </p:nvSpPr>
        <p:spPr>
          <a:xfrm>
            <a:off x="1238250" y="4114800"/>
            <a:ext cx="857250" cy="1714500"/>
          </a:xfrm>
          <a:prstGeom prst="rect">
            <a:avLst/>
          </a:prstGeom>
          <a:solidFill>
            <a:srgbClr val="7FB6C4"/>
          </a:solidFill>
        </p:spPr>
        <p:txBody>
          <a:bodyPr wrap="square" rtlCol="0"/>
          <a:lstStyle/>
          <a:p>
            <a:r>
              <a:rPr/>
              <a:t/>
            </a:r>
          </a:p>
        </p:txBody>
      </p:sp>
      <p:sp>
        <p:nvSpPr>
          <p:cNvPr id="7" name="Shape 7">
            <a:extLst>
              <a:ext uri="{FF2B5EF4-FFF2-40B4-BE49-F238E27FC236}">
                <a16:creationId xmlns:a16="http://schemas.microsoft.com/office/drawing/2014/main" id="{EB5AD4F6-72FC-4F39-9814-388638F31B47}"/>
              </a:ext>
            </a:extLst>
          </p:cNvPr>
          <p:cNvSpPr/>
          <p:nvPr/>
        </p:nvSpPr>
        <p:spPr>
          <a:xfrm>
            <a:off x="2571750" y="3838575"/>
            <a:ext cx="857250" cy="276225"/>
          </a:xfrm>
          <a:prstGeom prst="rect">
            <a:avLst/>
          </a:prstGeom>
          <a:solidFill>
            <a:srgbClr val="2E7D8C"/>
          </a:solidFill>
        </p:spPr>
        <p:txBody>
          <a:bodyPr wrap="square" rtlCol="0"/>
          <a:lstStyle/>
          <a:p>
            <a:r>
              <a:rPr/>
              <a:t/>
            </a:r>
          </a:p>
        </p:txBody>
      </p:sp>
      <p:sp>
        <p:nvSpPr>
          <p:cNvPr id="8" name="Shape 8">
            <a:extLst>
              <a:ext uri="{FF2B5EF4-FFF2-40B4-BE49-F238E27FC236}">
                <a16:creationId xmlns:a16="http://schemas.microsoft.com/office/drawing/2014/main" id="{603941E8-5CA9-4EF9-8E83-5C9F1AE51821}"/>
              </a:ext>
            </a:extLst>
          </p:cNvPr>
          <p:cNvSpPr/>
          <p:nvPr/>
        </p:nvSpPr>
        <p:spPr>
          <a:xfrm>
            <a:off x="3905250" y="3486150"/>
            <a:ext cx="857250" cy="609600"/>
          </a:xfrm>
          <a:prstGeom prst="rect">
            <a:avLst/>
          </a:prstGeom>
          <a:solidFill>
            <a:srgbClr val="2E7D8C"/>
          </a:solidFill>
        </p:spPr>
        <p:txBody>
          <a:bodyPr wrap="square" rtlCol="0"/>
          <a:lstStyle/>
          <a:p>
            <a:r>
              <a:rPr/>
              <a:t/>
            </a:r>
          </a:p>
        </p:txBody>
      </p:sp>
      <p:sp>
        <p:nvSpPr>
          <p:cNvPr id="9" name="Shape 9">
            <a:extLst>
              <a:ext uri="{FF2B5EF4-FFF2-40B4-BE49-F238E27FC236}">
                <a16:creationId xmlns:a16="http://schemas.microsoft.com/office/drawing/2014/main" id="{383C9616-55B6-4488-B018-D7B475137EB8}"/>
              </a:ext>
            </a:extLst>
          </p:cNvPr>
          <p:cNvSpPr/>
          <p:nvPr/>
        </p:nvSpPr>
        <p:spPr>
          <a:xfrm>
            <a:off x="5238750" y="3381375"/>
            <a:ext cx="857250" cy="714375"/>
          </a:xfrm>
          <a:prstGeom prst="rect">
            <a:avLst/>
          </a:prstGeom>
          <a:solidFill>
            <a:srgbClr val="2E7D8C"/>
          </a:solidFill>
        </p:spPr>
        <p:txBody>
          <a:bodyPr wrap="square" rtlCol="0"/>
          <a:lstStyle/>
          <a:p>
            <a:r>
              <a:rPr/>
              <a:t/>
            </a:r>
          </a:p>
        </p:txBody>
      </p:sp>
      <p:sp>
        <p:nvSpPr>
          <p:cNvPr id="10" name="Shape 10">
            <a:extLst>
              <a:ext uri="{FF2B5EF4-FFF2-40B4-BE49-F238E27FC236}">
                <a16:creationId xmlns:a16="http://schemas.microsoft.com/office/drawing/2014/main" id="{4AA70267-9E2F-455C-B1DC-85E13EE88C9B}"/>
              </a:ext>
            </a:extLst>
          </p:cNvPr>
          <p:cNvSpPr/>
          <p:nvPr/>
        </p:nvSpPr>
        <p:spPr>
          <a:xfrm>
            <a:off x="1047750" y="4095750"/>
            <a:ext cx="5334000" cy="19050"/>
          </a:xfrm>
          <a:prstGeom prst="rect">
            <a:avLst/>
          </a:prstGeom>
          <a:solidFill>
            <a:srgbClr val="243B45"/>
          </a:solidFill>
        </p:spPr>
        <p:txBody>
          <a:bodyPr wrap="square" rtlCol="0"/>
          <a:lstStyle/>
          <a:p>
            <a:r>
              <a:rPr/>
              <a:t/>
            </a:r>
          </a:p>
        </p:txBody>
      </p:sp>
      <p:sp>
        <p:nvSpPr>
          <p:cNvPr id="11" name="TextBox 11">
            <a:extLst>
              <a:ext uri="{FF2B5EF4-FFF2-40B4-BE49-F238E27FC236}">
                <a16:creationId xmlns:a16="http://schemas.microsoft.com/office/drawing/2014/main" id="{CB85B3E2-900F-4235-951B-8911A14ABAF9}"/>
              </a:ext>
            </a:extLst>
          </p:cNvPr>
          <p:cNvSpPr txBox="1"/>
          <p:nvPr/>
        </p:nvSpPr>
        <p:spPr>
          <a:xfrm>
            <a:off x="704850" y="3990975"/>
            <a:ext cx="323850" cy="209550"/>
          </a:xfrm>
        </p:spPr>
        <p:txBody>
          <a:bodyPr wrap="square" rtlCol="0" lIns="0" tIns="0" rIns="0" bIns="0" anchor="t"/>
          <a:lstStyle/>
          <a:p>
            <a:pPr algn="ctr"/>
            <a:r>
              <a:rPr sz="1200">
                <a:solidFill>
                  <a:srgbClr val="6B7C82"/>
                </a:solidFill>
                <a:latin typeface="Segoe UI"/>
                <a:ea typeface="Segoe UI"/>
              </a:rPr>
              <a:t>0</a:t>
            </a:r>
          </a:p>
        </p:txBody>
      </p:sp>
      <p:sp>
        <p:nvSpPr>
          <p:cNvPr id="12" name="TextBox 12">
            <a:extLst>
              <a:ext uri="{FF2B5EF4-FFF2-40B4-BE49-F238E27FC236}">
                <a16:creationId xmlns:a16="http://schemas.microsoft.com/office/drawing/2014/main" id="{8FC3BD37-28C6-4528-81E8-17505964C0FB}"/>
              </a:ext>
            </a:extLst>
          </p:cNvPr>
          <p:cNvSpPr txBox="1"/>
          <p:nvPr/>
        </p:nvSpPr>
        <p:spPr>
          <a:xfrm>
            <a:off x="1143000" y="5476875"/>
            <a:ext cx="1047750" cy="228600"/>
          </a:xfrm>
        </p:spPr>
        <p:txBody>
          <a:bodyPr wrap="square" rtlCol="0" lIns="0" tIns="0" rIns="0" bIns="0" anchor="t"/>
          <a:lstStyle/>
          <a:p>
            <a:pPr algn="ctr"/>
            <a:r>
              <a:rPr sz="1500" b="1">
                <a:solidFill>
                  <a:srgbClr val="243B45"/>
                </a:solidFill>
                <a:latin typeface="Segoe UI"/>
                <a:ea typeface="Segoe UI"/>
              </a:rPr>
              <a:t>−610 kDT</a:t>
            </a:r>
          </a:p>
        </p:txBody>
      </p:sp>
      <p:sp>
        <p:nvSpPr>
          <p:cNvPr id="13" name="TextBox 13">
            <a:extLst>
              <a:ext uri="{FF2B5EF4-FFF2-40B4-BE49-F238E27FC236}">
                <a16:creationId xmlns:a16="http://schemas.microsoft.com/office/drawing/2014/main" id="{CA87D481-7FF0-43D5-A0D2-5418F2AA0E04}"/>
              </a:ext>
            </a:extLst>
          </p:cNvPr>
          <p:cNvSpPr txBox="1"/>
          <p:nvPr/>
        </p:nvSpPr>
        <p:spPr>
          <a:xfrm>
            <a:off x="2476500" y="3562350"/>
            <a:ext cx="1047750" cy="228600"/>
          </a:xfrm>
        </p:spPr>
        <p:txBody>
          <a:bodyPr wrap="square" rtlCol="0" lIns="0" tIns="0" rIns="0" bIns="0" anchor="t"/>
          <a:lstStyle/>
          <a:p>
            <a:pPr algn="ctr"/>
            <a:r>
              <a:rPr sz="1500" b="1">
                <a:solidFill>
                  <a:srgbClr val="2E7D8C"/>
                </a:solidFill>
                <a:latin typeface="Segoe UI"/>
                <a:ea typeface="Segoe UI"/>
              </a:rPr>
              <a:t>+99</a:t>
            </a:r>
          </a:p>
        </p:txBody>
      </p:sp>
      <p:sp>
        <p:nvSpPr>
          <p:cNvPr id="14" name="TextBox 14">
            <a:extLst>
              <a:ext uri="{FF2B5EF4-FFF2-40B4-BE49-F238E27FC236}">
                <a16:creationId xmlns:a16="http://schemas.microsoft.com/office/drawing/2014/main" id="{64AE5952-BBE4-4315-9E68-A7F22862FA1C}"/>
              </a:ext>
            </a:extLst>
          </p:cNvPr>
          <p:cNvSpPr txBox="1"/>
          <p:nvPr/>
        </p:nvSpPr>
        <p:spPr>
          <a:xfrm>
            <a:off x="3810000" y="3209925"/>
            <a:ext cx="1047750" cy="228600"/>
          </a:xfrm>
        </p:spPr>
        <p:txBody>
          <a:bodyPr wrap="square" rtlCol="0" lIns="0" tIns="0" rIns="0" bIns="0" anchor="t"/>
          <a:lstStyle/>
          <a:p>
            <a:pPr algn="ctr"/>
            <a:r>
              <a:rPr sz="1500" b="1">
                <a:solidFill>
                  <a:srgbClr val="2E7D8C"/>
                </a:solidFill>
                <a:latin typeface="Segoe UI"/>
                <a:ea typeface="Segoe UI"/>
              </a:rPr>
              <a:t>+216</a:t>
            </a:r>
          </a:p>
        </p:txBody>
      </p:sp>
      <p:sp>
        <p:nvSpPr>
          <p:cNvPr id="15" name="TextBox 15">
            <a:extLst>
              <a:ext uri="{FF2B5EF4-FFF2-40B4-BE49-F238E27FC236}">
                <a16:creationId xmlns:a16="http://schemas.microsoft.com/office/drawing/2014/main" id="{58954E30-B124-4E93-9E4D-C3900A21D0DA}"/>
              </a:ext>
            </a:extLst>
          </p:cNvPr>
          <p:cNvSpPr txBox="1"/>
          <p:nvPr/>
        </p:nvSpPr>
        <p:spPr>
          <a:xfrm>
            <a:off x="5143500" y="3105150"/>
            <a:ext cx="1047750" cy="228600"/>
          </a:xfrm>
        </p:spPr>
        <p:txBody>
          <a:bodyPr wrap="square" rtlCol="0" lIns="0" tIns="0" rIns="0" bIns="0" anchor="t"/>
          <a:lstStyle/>
          <a:p>
            <a:pPr algn="ctr"/>
            <a:r>
              <a:rPr sz="1500" b="1">
                <a:solidFill>
                  <a:srgbClr val="2E7D8C"/>
                </a:solidFill>
                <a:latin typeface="Segoe UI"/>
                <a:ea typeface="Segoe UI"/>
              </a:rPr>
              <a:t>+255</a:t>
            </a:r>
          </a:p>
        </p:txBody>
      </p:sp>
      <p:sp>
        <p:nvSpPr>
          <p:cNvPr id="16" name="TextBox 16">
            <a:extLst>
              <a:ext uri="{FF2B5EF4-FFF2-40B4-BE49-F238E27FC236}">
                <a16:creationId xmlns:a16="http://schemas.microsoft.com/office/drawing/2014/main" id="{C1E4060C-712A-439F-82A5-5EB73DCF4DA8}"/>
              </a:ext>
            </a:extLst>
          </p:cNvPr>
          <p:cNvSpPr txBox="1"/>
          <p:nvPr/>
        </p:nvSpPr>
        <p:spPr>
          <a:xfrm>
            <a:off x="1076325" y="6057900"/>
            <a:ext cx="1181100" cy="209550"/>
          </a:xfrm>
        </p:spPr>
        <p:txBody>
          <a:bodyPr wrap="square" rtlCol="0" lIns="0" tIns="0" rIns="0" bIns="0" anchor="t"/>
          <a:lstStyle/>
          <a:p>
            <a:pPr algn="ctr"/>
            <a:r>
              <a:rPr sz="1200">
                <a:solidFill>
                  <a:srgbClr val="6B7C82"/>
                </a:solidFill>
                <a:latin typeface="Segoe UI"/>
                <a:ea typeface="Segoe UI"/>
              </a:rPr>
              <a:t>Investissement</a:t>
            </a:r>
          </a:p>
        </p:txBody>
      </p:sp>
      <p:sp>
        <p:nvSpPr>
          <p:cNvPr id="17" name="TextBox 17">
            <a:extLst>
              <a:ext uri="{FF2B5EF4-FFF2-40B4-BE49-F238E27FC236}">
                <a16:creationId xmlns:a16="http://schemas.microsoft.com/office/drawing/2014/main" id="{8B5EE4D7-7897-4D42-AE6B-CBD7072304CF}"/>
              </a:ext>
            </a:extLst>
          </p:cNvPr>
          <p:cNvSpPr txBox="1"/>
          <p:nvPr/>
        </p:nvSpPr>
        <p:spPr>
          <a:xfrm>
            <a:off x="2409825" y="6057900"/>
            <a:ext cx="1181100" cy="209550"/>
          </a:xfrm>
        </p:spPr>
        <p:txBody>
          <a:bodyPr wrap="square" rtlCol="0" lIns="0" tIns="0" rIns="0" bIns="0" anchor="t"/>
          <a:lstStyle/>
          <a:p>
            <a:pPr algn="ctr"/>
            <a:r>
              <a:rPr sz="1200">
                <a:solidFill>
                  <a:srgbClr val="6B7C82"/>
                </a:solidFill>
                <a:latin typeface="Segoe UI"/>
                <a:ea typeface="Segoe UI"/>
              </a:rPr>
              <a:t>An 1 · 60 %</a:t>
            </a:r>
          </a:p>
        </p:txBody>
      </p:sp>
      <p:sp>
        <p:nvSpPr>
          <p:cNvPr id="18" name="TextBox 18">
            <a:extLst>
              <a:ext uri="{FF2B5EF4-FFF2-40B4-BE49-F238E27FC236}">
                <a16:creationId xmlns:a16="http://schemas.microsoft.com/office/drawing/2014/main" id="{B4679D04-2F19-4E95-9F07-90D5F4D7339E}"/>
              </a:ext>
            </a:extLst>
          </p:cNvPr>
          <p:cNvSpPr txBox="1"/>
          <p:nvPr/>
        </p:nvSpPr>
        <p:spPr>
          <a:xfrm>
            <a:off x="3743325" y="6057900"/>
            <a:ext cx="1181100" cy="209550"/>
          </a:xfrm>
        </p:spPr>
        <p:txBody>
          <a:bodyPr wrap="square" rtlCol="0" lIns="0" tIns="0" rIns="0" bIns="0" anchor="t"/>
          <a:lstStyle/>
          <a:p>
            <a:pPr algn="ctr"/>
            <a:r>
              <a:rPr sz="1200">
                <a:solidFill>
                  <a:srgbClr val="6B7C82"/>
                </a:solidFill>
                <a:latin typeface="Segoe UI"/>
                <a:ea typeface="Segoe UI"/>
              </a:rPr>
              <a:t>An 2 · 90 %</a:t>
            </a:r>
          </a:p>
        </p:txBody>
      </p:sp>
      <p:sp>
        <p:nvSpPr>
          <p:cNvPr id="19" name="TextBox 19">
            <a:extLst>
              <a:ext uri="{FF2B5EF4-FFF2-40B4-BE49-F238E27FC236}">
                <a16:creationId xmlns:a16="http://schemas.microsoft.com/office/drawing/2014/main" id="{1E05E6AB-4688-4F6C-9443-3253A0913FB0}"/>
              </a:ext>
            </a:extLst>
          </p:cNvPr>
          <p:cNvSpPr txBox="1"/>
          <p:nvPr/>
        </p:nvSpPr>
        <p:spPr>
          <a:xfrm>
            <a:off x="5076825" y="6057900"/>
            <a:ext cx="1181100" cy="209550"/>
          </a:xfrm>
        </p:spPr>
        <p:txBody>
          <a:bodyPr wrap="square" rtlCol="0" lIns="0" tIns="0" rIns="0" bIns="0" anchor="t"/>
          <a:lstStyle/>
          <a:p>
            <a:pPr algn="ctr"/>
            <a:r>
              <a:rPr sz="1200">
                <a:solidFill>
                  <a:srgbClr val="6B7C82"/>
                </a:solidFill>
                <a:latin typeface="Segoe UI"/>
                <a:ea typeface="Segoe UI"/>
              </a:rPr>
              <a:t>An 3 · 100 %</a:t>
            </a:r>
          </a:p>
        </p:txBody>
      </p:sp>
      <p:sp>
        <p:nvSpPr>
          <p:cNvPr id="20" name="Shape 20">
            <a:extLst>
              <a:ext uri="{FF2B5EF4-FFF2-40B4-BE49-F238E27FC236}">
                <a16:creationId xmlns:a16="http://schemas.microsoft.com/office/drawing/2014/main" id="{A56948E9-1E80-4CE4-87A8-B83A5565F689}"/>
              </a:ext>
            </a:extLst>
          </p:cNvPr>
          <p:cNvSpPr/>
          <p:nvPr/>
        </p:nvSpPr>
        <p:spPr>
          <a:xfrm>
            <a:off x="7048500" y="1428750"/>
            <a:ext cx="4381500" cy="2190750"/>
          </a:xfrm>
          <a:prstGeom prst="roundRect">
            <a:avLst/>
          </a:prstGeom>
          <a:solidFill>
            <a:srgbClr val="FFFFFF"/>
          </a:solidFill>
          <a:ln w="12700">
            <a:solidFill>
              <a:srgbClr val="E4D9C3"/>
            </a:solidFill>
          </a:ln>
        </p:spPr>
        <p:txBody>
          <a:bodyPr wrap="square" rtlCol="0"/>
          <a:lstStyle/>
          <a:p>
            <a:r>
              <a:rPr/>
              <a:t/>
            </a:r>
          </a:p>
        </p:txBody>
      </p:sp>
      <p:sp>
        <p:nvSpPr>
          <p:cNvPr id="21" name="TextBox 21">
            <a:extLst>
              <a:ext uri="{FF2B5EF4-FFF2-40B4-BE49-F238E27FC236}">
                <a16:creationId xmlns:a16="http://schemas.microsoft.com/office/drawing/2014/main" id="{F1288025-2D26-49CD-BDA9-B50A1542A773}"/>
              </a:ext>
            </a:extLst>
          </p:cNvPr>
          <p:cNvSpPr txBox="1"/>
          <p:nvPr/>
        </p:nvSpPr>
        <p:spPr>
          <a:xfrm>
            <a:off x="7277100" y="1638300"/>
            <a:ext cx="1905000" cy="209550"/>
          </a:xfrm>
        </p:spPr>
        <p:txBody>
          <a:bodyPr wrap="square" rtlCol="0" lIns="0" tIns="0" rIns="0" bIns="0" anchor="t"/>
          <a:lstStyle/>
          <a:p>
            <a:pPr algn="l"/>
            <a:r>
              <a:rPr sz="1300" b="1">
                <a:solidFill>
                  <a:srgbClr val="6B7C82"/>
                </a:solidFill>
                <a:latin typeface="Segoe UI"/>
                <a:ea typeface="Segoe UI"/>
              </a:rPr>
              <a:t>PAYBACK</a:t>
            </a:r>
          </a:p>
        </p:txBody>
      </p:sp>
      <p:sp>
        <p:nvSpPr>
          <p:cNvPr id="22" name="TextBox 22">
            <a:extLst>
              <a:ext uri="{FF2B5EF4-FFF2-40B4-BE49-F238E27FC236}">
                <a16:creationId xmlns:a16="http://schemas.microsoft.com/office/drawing/2014/main" id="{3C69C09E-FDDF-45A8-982C-6B91AC6100DE}"/>
              </a:ext>
            </a:extLst>
          </p:cNvPr>
          <p:cNvSpPr txBox="1"/>
          <p:nvPr/>
        </p:nvSpPr>
        <p:spPr>
          <a:xfrm>
            <a:off x="7277100" y="1905000"/>
            <a:ext cx="3238500" cy="518160"/>
          </a:xfrm>
        </p:spPr>
        <p:txBody>
          <a:bodyPr wrap="square" rtlCol="0" lIns="0" tIns="0" rIns="0" bIns="0" anchor="t"/>
          <a:lstStyle/>
          <a:p>
            <a:pPr algn="l"/>
            <a:r>
              <a:rPr sz="3400" b="1">
                <a:solidFill>
                  <a:srgbClr val="2E7D8C"/>
                </a:solidFill>
                <a:latin typeface="Segoe UI"/>
                <a:ea typeface="Segoe UI"/>
              </a:rPr>
              <a:t>18–24 mois</a:t>
            </a:r>
          </a:p>
        </p:txBody>
      </p:sp>
      <p:sp>
        <p:nvSpPr>
          <p:cNvPr id="23" name="TextBox 23">
            <a:extLst>
              <a:ext uri="{FF2B5EF4-FFF2-40B4-BE49-F238E27FC236}">
                <a16:creationId xmlns:a16="http://schemas.microsoft.com/office/drawing/2014/main" id="{B15F1CE2-2B1A-423A-A017-C364A4742673}"/>
              </a:ext>
            </a:extLst>
          </p:cNvPr>
          <p:cNvSpPr txBox="1"/>
          <p:nvPr/>
        </p:nvSpPr>
        <p:spPr>
          <a:xfrm>
            <a:off x="7277100" y="2438400"/>
            <a:ext cx="3924300" cy="381000"/>
          </a:xfrm>
        </p:spPr>
        <p:txBody>
          <a:bodyPr wrap="square" rtlCol="0" lIns="0" tIns="0" rIns="0" bIns="0" anchor="t"/>
          <a:lstStyle/>
          <a:p>
            <a:pPr algn="l">
              <a:lnSpc>
                <a:spcPct val="120000"/>
              </a:lnSpc>
            </a:pPr>
            <a:r>
              <a:rPr sz="1250">
                <a:solidFill>
                  <a:srgbClr val="6B7C82"/>
                </a:solidFill>
                <a:latin typeface="Segoe UI"/>
                <a:ea typeface="Segoe UI"/>
              </a:rPr>
              <a:t>en élargissant aux appels évités et au risque justifiable</a:t>
            </a:r>
          </a:p>
        </p:txBody>
      </p:sp>
      <p:sp>
        <p:nvSpPr>
          <p:cNvPr id="24" name="TextBox 24">
            <a:extLst>
              <a:ext uri="{FF2B5EF4-FFF2-40B4-BE49-F238E27FC236}">
                <a16:creationId xmlns:a16="http://schemas.microsoft.com/office/drawing/2014/main" id="{853E4ED0-42E8-4B88-B7F2-7C83635D6ADA}"/>
              </a:ext>
            </a:extLst>
          </p:cNvPr>
          <p:cNvSpPr txBox="1"/>
          <p:nvPr/>
        </p:nvSpPr>
        <p:spPr>
          <a:xfrm>
            <a:off x="7277100" y="2895600"/>
            <a:ext cx="1905000" cy="365760"/>
          </a:xfrm>
        </p:spPr>
        <p:txBody>
          <a:bodyPr wrap="square" rtlCol="0" lIns="0" tIns="0" rIns="0" bIns="0" anchor="t"/>
          <a:lstStyle/>
          <a:p>
            <a:pPr algn="l"/>
            <a:r>
              <a:rPr sz="2400" b="1">
                <a:solidFill>
                  <a:srgbClr val="243B45"/>
                </a:solidFill>
                <a:latin typeface="Segoe UI"/>
                <a:ea typeface="Segoe UI"/>
              </a:rPr>
              <a:t>≈ 3 ans</a:t>
            </a:r>
          </a:p>
        </p:txBody>
      </p:sp>
      <p:sp>
        <p:nvSpPr>
          <p:cNvPr id="25" name="TextBox 25">
            <a:extLst>
              <a:ext uri="{FF2B5EF4-FFF2-40B4-BE49-F238E27FC236}">
                <a16:creationId xmlns:a16="http://schemas.microsoft.com/office/drawing/2014/main" id="{52E9BE39-58DD-41E7-852B-85D91E171673}"/>
              </a:ext>
            </a:extLst>
          </p:cNvPr>
          <p:cNvSpPr txBox="1"/>
          <p:nvPr/>
        </p:nvSpPr>
        <p:spPr>
          <a:xfrm>
            <a:off x="7277100" y="3295650"/>
            <a:ext cx="3924300" cy="247650"/>
          </a:xfrm>
        </p:spPr>
        <p:txBody>
          <a:bodyPr wrap="square" rtlCol="0" lIns="0" tIns="0" rIns="0" bIns="0" anchor="t"/>
          <a:lstStyle/>
          <a:p>
            <a:pPr algn="l">
              <a:lnSpc>
                <a:spcPct val="120000"/>
              </a:lnSpc>
            </a:pPr>
            <a:r>
              <a:rPr sz="1250">
                <a:solidFill>
                  <a:srgbClr val="6B7C82"/>
                </a:solidFill>
                <a:latin typeface="Segoe UI"/>
                <a:ea typeface="Segoe UI"/>
              </a:rPr>
              <a:t>productivité seule, hypothèses prudentes</a:t>
            </a:r>
          </a:p>
        </p:txBody>
      </p:sp>
      <p:sp>
        <p:nvSpPr>
          <p:cNvPr id="26" name="Shape 26">
            <a:extLst>
              <a:ext uri="{FF2B5EF4-FFF2-40B4-BE49-F238E27FC236}">
                <a16:creationId xmlns:a16="http://schemas.microsoft.com/office/drawing/2014/main" id="{86391945-1F7F-4948-8111-87675E2691E2}"/>
              </a:ext>
            </a:extLst>
          </p:cNvPr>
          <p:cNvSpPr/>
          <p:nvPr/>
        </p:nvSpPr>
        <p:spPr>
          <a:xfrm>
            <a:off x="7048500" y="3810000"/>
            <a:ext cx="4381500" cy="2190750"/>
          </a:xfrm>
          <a:prstGeom prst="roundRect">
            <a:avLst/>
          </a:prstGeom>
          <a:solidFill>
            <a:srgbClr val="FFFFFF"/>
          </a:solidFill>
          <a:ln w="12700">
            <a:solidFill>
              <a:srgbClr val="E4D9C3"/>
            </a:solidFill>
          </a:ln>
        </p:spPr>
        <p:txBody>
          <a:bodyPr wrap="square" rtlCol="0"/>
          <a:lstStyle/>
          <a:p>
            <a:r>
              <a:rPr/>
              <a:t/>
            </a:r>
          </a:p>
        </p:txBody>
      </p:sp>
      <p:sp>
        <p:nvSpPr>
          <p:cNvPr id="27" name="TextBox 27">
            <a:extLst>
              <a:ext uri="{FF2B5EF4-FFF2-40B4-BE49-F238E27FC236}">
                <a16:creationId xmlns:a16="http://schemas.microsoft.com/office/drawing/2014/main" id="{656E6790-0B7D-468D-89F1-D8AD779FA652}"/>
              </a:ext>
            </a:extLst>
          </p:cNvPr>
          <p:cNvSpPr txBox="1"/>
          <p:nvPr/>
        </p:nvSpPr>
        <p:spPr>
          <a:xfrm>
            <a:off x="7277100" y="4019550"/>
            <a:ext cx="2476500" cy="209550"/>
          </a:xfrm>
        </p:spPr>
        <p:txBody>
          <a:bodyPr wrap="square" rtlCol="0" lIns="0" tIns="0" rIns="0" bIns="0" anchor="t"/>
          <a:lstStyle/>
          <a:p>
            <a:pPr algn="l"/>
            <a:r>
              <a:rPr sz="1300" b="1">
                <a:solidFill>
                  <a:srgbClr val="6B7C82"/>
                </a:solidFill>
                <a:latin typeface="Segoe UI"/>
                <a:ea typeface="Segoe UI"/>
              </a:rPr>
              <a:t>CHIFFRES À DÉFENDRE</a:t>
            </a:r>
          </a:p>
        </p:txBody>
      </p:sp>
      <p:sp>
        <p:nvSpPr>
          <p:cNvPr id="28" name="TextBox 28">
            <a:extLst>
              <a:ext uri="{FF2B5EF4-FFF2-40B4-BE49-F238E27FC236}">
                <a16:creationId xmlns:a16="http://schemas.microsoft.com/office/drawing/2014/main" id="{8768249B-31F5-4F6F-A0DA-D05D01996CAB}"/>
              </a:ext>
            </a:extLst>
          </p:cNvPr>
          <p:cNvSpPr txBox="1"/>
          <p:nvPr/>
        </p:nvSpPr>
        <p:spPr>
          <a:xfrm>
            <a:off x="7277100" y="4343400"/>
            <a:ext cx="1619250" cy="259080"/>
          </a:xfrm>
        </p:spPr>
        <p:txBody>
          <a:bodyPr wrap="square" rtlCol="0" lIns="0" tIns="0" rIns="0" bIns="0" anchor="t"/>
          <a:lstStyle/>
          <a:p>
            <a:pPr algn="l"/>
            <a:r>
              <a:rPr sz="1700" b="1">
                <a:solidFill>
                  <a:srgbClr val="2E7D8C"/>
                </a:solidFill>
                <a:latin typeface="Segoe UI"/>
                <a:ea typeface="Segoe UI"/>
              </a:rPr>
              <a:t>390 000 DT/an</a:t>
            </a:r>
          </a:p>
        </p:txBody>
      </p:sp>
      <p:sp>
        <p:nvSpPr>
          <p:cNvPr id="29" name="TextBox 29">
            <a:extLst>
              <a:ext uri="{FF2B5EF4-FFF2-40B4-BE49-F238E27FC236}">
                <a16:creationId xmlns:a16="http://schemas.microsoft.com/office/drawing/2014/main" id="{877D0C23-2AF1-4B57-8A97-B2CEC7766061}"/>
              </a:ext>
            </a:extLst>
          </p:cNvPr>
          <p:cNvSpPr txBox="1"/>
          <p:nvPr/>
        </p:nvSpPr>
        <p:spPr>
          <a:xfrm>
            <a:off x="8991600" y="4362450"/>
            <a:ext cx="2381250" cy="431597"/>
          </a:xfrm>
        </p:spPr>
        <p:txBody>
          <a:bodyPr wrap="square" rtlCol="0" lIns="0" tIns="0" rIns="0" bIns="0" anchor="t"/>
          <a:lstStyle/>
          <a:p>
            <a:pPr algn="l">
              <a:lnSpc>
                <a:spcPct val="118000"/>
              </a:lnSpc>
            </a:pPr>
            <a:r>
              <a:rPr sz="1200">
                <a:solidFill>
                  <a:srgbClr val="243B45"/>
                </a:solidFill>
                <a:latin typeface="Segoe UI"/>
                <a:ea typeface="Segoe UI"/>
              </a:rPr>
              <a:t>gains de productivité à pleine adoption (325 h/semaine)</a:t>
            </a:r>
          </a:p>
        </p:txBody>
      </p:sp>
      <p:sp>
        <p:nvSpPr>
          <p:cNvPr id="30" name="TextBox 30">
            <a:extLst>
              <a:ext uri="{FF2B5EF4-FFF2-40B4-BE49-F238E27FC236}">
                <a16:creationId xmlns:a16="http://schemas.microsoft.com/office/drawing/2014/main" id="{E56C1A0A-5E37-45AC-AF2E-28D293283FA5}"/>
              </a:ext>
            </a:extLst>
          </p:cNvPr>
          <p:cNvSpPr txBox="1"/>
          <p:nvPr/>
        </p:nvSpPr>
        <p:spPr>
          <a:xfrm>
            <a:off x="7277100" y="4953000"/>
            <a:ext cx="1524000" cy="259080"/>
          </a:xfrm>
        </p:spPr>
        <p:txBody>
          <a:bodyPr wrap="square" rtlCol="0" lIns="0" tIns="0" rIns="0" bIns="0" anchor="t"/>
          <a:lstStyle/>
          <a:p>
            <a:pPr algn="l"/>
            <a:r>
              <a:rPr sz="1700" b="1">
                <a:solidFill>
                  <a:srgbClr val="2E7D8C"/>
                </a:solidFill>
                <a:latin typeface="Segoe UI"/>
                <a:ea typeface="Segoe UI"/>
              </a:rPr>
              <a:t>610 000 DT</a:t>
            </a:r>
          </a:p>
        </p:txBody>
      </p:sp>
      <p:sp>
        <p:nvSpPr>
          <p:cNvPr id="31" name="TextBox 31">
            <a:extLst>
              <a:ext uri="{FF2B5EF4-FFF2-40B4-BE49-F238E27FC236}">
                <a16:creationId xmlns:a16="http://schemas.microsoft.com/office/drawing/2014/main" id="{3DF682C5-1487-4636-BA38-261ACCA01B23}"/>
              </a:ext>
            </a:extLst>
          </p:cNvPr>
          <p:cNvSpPr txBox="1"/>
          <p:nvPr/>
        </p:nvSpPr>
        <p:spPr>
          <a:xfrm>
            <a:off x="8991600" y="4972050"/>
            <a:ext cx="2381250" cy="419100"/>
          </a:xfrm>
        </p:spPr>
        <p:txBody>
          <a:bodyPr wrap="square" rtlCol="0" lIns="0" tIns="0" rIns="0" bIns="0" anchor="t"/>
          <a:lstStyle/>
          <a:p>
            <a:pPr algn="l">
              <a:lnSpc>
                <a:spcPct val="118000"/>
              </a:lnSpc>
            </a:pPr>
            <a:r>
              <a:rPr sz="1200">
                <a:solidFill>
                  <a:srgbClr val="243B45"/>
                </a:solidFill>
                <a:latin typeface="Segoe UI"/>
                <a:ea typeface="Segoe UI"/>
              </a:rPr>
              <a:t>investissement initial, dont 420 kDT de développement</a:t>
            </a:r>
          </a:p>
        </p:txBody>
      </p:sp>
      <p:sp>
        <p:nvSpPr>
          <p:cNvPr id="32" name="TextBox 32">
            <a:extLst>
              <a:ext uri="{FF2B5EF4-FFF2-40B4-BE49-F238E27FC236}">
                <a16:creationId xmlns:a16="http://schemas.microsoft.com/office/drawing/2014/main" id="{0B885F6C-5ECE-4934-904F-894F4E22E90F}"/>
              </a:ext>
            </a:extLst>
          </p:cNvPr>
          <p:cNvSpPr txBox="1"/>
          <p:nvPr/>
        </p:nvSpPr>
        <p:spPr>
          <a:xfrm>
            <a:off x="7277100" y="5524500"/>
            <a:ext cx="1619250" cy="259080"/>
          </a:xfrm>
        </p:spPr>
        <p:txBody>
          <a:bodyPr wrap="square" rtlCol="0" lIns="0" tIns="0" rIns="0" bIns="0" anchor="t"/>
          <a:lstStyle/>
          <a:p>
            <a:pPr algn="l"/>
            <a:r>
              <a:rPr sz="1700" b="1">
                <a:solidFill>
                  <a:srgbClr val="2E7D8C"/>
                </a:solidFill>
                <a:latin typeface="Segoe UI"/>
                <a:ea typeface="Segoe UI"/>
              </a:rPr>
              <a:t>135 000 DT/an</a:t>
            </a:r>
          </a:p>
        </p:txBody>
      </p:sp>
      <p:sp>
        <p:nvSpPr>
          <p:cNvPr id="33" name="TextBox 33">
            <a:extLst>
              <a:ext uri="{FF2B5EF4-FFF2-40B4-BE49-F238E27FC236}">
                <a16:creationId xmlns:a16="http://schemas.microsoft.com/office/drawing/2014/main" id="{982E679E-3166-4A32-989C-D4B3B198261E}"/>
              </a:ext>
            </a:extLst>
          </p:cNvPr>
          <p:cNvSpPr txBox="1"/>
          <p:nvPr/>
        </p:nvSpPr>
        <p:spPr>
          <a:xfrm>
            <a:off x="8991600" y="5524500"/>
            <a:ext cx="2381250" cy="247650"/>
          </a:xfrm>
        </p:spPr>
        <p:txBody>
          <a:bodyPr wrap="square" rtlCol="0" lIns="0" tIns="0" rIns="0" bIns="0" anchor="t"/>
          <a:lstStyle/>
          <a:p>
            <a:pPr algn="l"/>
            <a:r>
              <a:rPr sz="1200">
                <a:solidFill>
                  <a:srgbClr val="243B45"/>
                </a:solidFill>
                <a:latin typeface="Segoe UI"/>
                <a:ea typeface="Segoe UI"/>
              </a:rPr>
              <a:t>coût récurrent (licence et support)</a:t>
            </a:r>
          </a:p>
        </p:txBody>
      </p:sp>
      <p:sp>
        <p:nvSpPr>
          <p:cNvPr id="34" name="TextBox 34">
            <a:extLst>
              <a:ext uri="{FF2B5EF4-FFF2-40B4-BE49-F238E27FC236}">
                <a16:creationId xmlns:a16="http://schemas.microsoft.com/office/drawing/2014/main" id="{1C6A9A2C-9F26-4157-B3B0-7DDA9B925CC1}"/>
              </a:ext>
            </a:extLst>
          </p:cNvPr>
          <p:cNvSpPr txBox="1"/>
          <p:nvPr/>
        </p:nvSpPr>
        <p:spPr>
          <a:xfrm>
            <a:off x="762000" y="6438900"/>
            <a:ext cx="10668000" cy="247650"/>
          </a:xfrm>
        </p:spPr>
        <p:txBody>
          <a:bodyPr wrap="square" rtlCol="0" lIns="0" tIns="0" rIns="0" bIns="0" anchor="t"/>
          <a:lstStyle/>
          <a:p>
            <a:pPr algn="l">
              <a:lnSpc>
                <a:spcPct val="115000"/>
              </a:lnSpc>
            </a:pPr>
            <a:r>
              <a:rPr sz="1050" i="1">
                <a:solidFill>
                  <a:srgbClr val="9AA6AC"/>
                </a:solidFill>
                <a:latin typeface="Segoe UI"/>
                <a:ea typeface="Segoe UI"/>
              </a:rPr>
              <a:t>Source : business case — E. Kanzari, 20 novembre 2026 · hypothèses : 25 DT/h, 48 semaines, adoption 60 / 90 / 100 %</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2E7"/>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DC3994A4-8B2E-4678-B0B5-2BEE20A66A82}"/>
              </a:ext>
            </a:extLst>
          </p:cNvPr>
          <p:cNvSpPr txBox="1"/>
          <p:nvPr/>
        </p:nvSpPr>
        <p:spPr>
          <a:xfrm>
            <a:off x="762000" y="419100"/>
            <a:ext cx="10668000" cy="533400"/>
          </a:xfrm>
        </p:spPr>
        <p:txBody>
          <a:bodyPr wrap="square" rtlCol="0" lIns="0" tIns="0" rIns="0" bIns="0" anchor="t"/>
          <a:lstStyle/>
          <a:p>
            <a:pPr algn="l">
              <a:lnSpc>
                <a:spcPct val="110000"/>
              </a:lnSpc>
            </a:pPr>
            <a:r>
              <a:rPr sz="3000" b="1">
                <a:solidFill>
                  <a:srgbClr val="243B45"/>
                </a:solidFill>
                <a:latin typeface="Segoe UI"/>
                <a:ea typeface="Segoe UI"/>
              </a:rPr>
              <a:t>Lancer maintenant — et commencer par le MVP</a:t>
            </a:r>
          </a:p>
        </p:txBody>
      </p:sp>
      <p:sp>
        <p:nvSpPr>
          <p:cNvPr id="4" name="TextBox 4">
            <a:extLst>
              <a:ext uri="{FF2B5EF4-FFF2-40B4-BE49-F238E27FC236}">
                <a16:creationId xmlns:a16="http://schemas.microsoft.com/office/drawing/2014/main" id="{75643470-3348-4A6A-BFC0-9E0D63C9F70F}"/>
              </a:ext>
            </a:extLst>
          </p:cNvPr>
          <p:cNvSpPr txBox="1"/>
          <p:nvPr/>
        </p:nvSpPr>
        <p:spPr>
          <a:xfrm>
            <a:off x="762000" y="1047750"/>
            <a:ext cx="9906000" cy="800100"/>
          </a:xfrm>
        </p:spPr>
        <p:txBody>
          <a:bodyPr wrap="square" rtlCol="0" lIns="0" tIns="0" rIns="0" bIns="0" anchor="t"/>
          <a:lstStyle/>
          <a:p>
            <a:pPr algn="l">
              <a:lnSpc>
                <a:spcPct val="135000"/>
              </a:lnSpc>
            </a:pPr>
            <a:r>
              <a:rPr sz="1500">
                <a:solidFill>
                  <a:srgbClr val="6B7C82"/>
                </a:solidFill>
                <a:latin typeface="Segoe UI"/>
                <a:ea typeface="Segoe UI"/>
              </a:rPr>
              <a:t>Le premier sprint concentre les gains D2/D3 et tout le risque réglementaire ; le reste s'enchaîne en sprints 2 à 4.</a:t>
            </a:r>
          </a:p>
        </p:txBody>
      </p:sp>
      <p:sp>
        <p:nvSpPr>
          <p:cNvPr id="5" name="Shape 5">
            <a:extLst>
              <a:ext uri="{FF2B5EF4-FFF2-40B4-BE49-F238E27FC236}">
                <a16:creationId xmlns:a16="http://schemas.microsoft.com/office/drawing/2014/main" id="{CEDE4934-1CF1-4BA1-9EA5-BD0558196642}"/>
              </a:ext>
            </a:extLst>
          </p:cNvPr>
          <p:cNvSpPr/>
          <p:nvPr/>
        </p:nvSpPr>
        <p:spPr>
          <a:xfrm>
            <a:off x="762000" y="1809750"/>
            <a:ext cx="5238750" cy="4095750"/>
          </a:xfrm>
          <a:prstGeom prst="roundRect">
            <a:avLst/>
          </a:prstGeom>
          <a:solidFill>
            <a:srgbClr val="2E7D8C"/>
          </a:solidFill>
        </p:spPr>
        <p:txBody>
          <a:bodyPr wrap="square" rtlCol="0"/>
          <a:lstStyle/>
          <a:p>
            <a:r>
              <a:rPr/>
              <a:t/>
            </a:r>
          </a:p>
        </p:txBody>
      </p:sp>
      <p:sp>
        <p:nvSpPr>
          <p:cNvPr id="6" name="TextBox 6">
            <a:extLst>
              <a:ext uri="{FF2B5EF4-FFF2-40B4-BE49-F238E27FC236}">
                <a16:creationId xmlns:a16="http://schemas.microsoft.com/office/drawing/2014/main" id="{69FDA8CF-3E27-4697-98E1-26A3DC084A9B}"/>
              </a:ext>
            </a:extLst>
          </p:cNvPr>
          <p:cNvSpPr txBox="1"/>
          <p:nvPr/>
        </p:nvSpPr>
        <p:spPr>
          <a:xfrm>
            <a:off x="1066800" y="2038350"/>
            <a:ext cx="2286000" cy="247650"/>
          </a:xfrm>
        </p:spPr>
        <p:txBody>
          <a:bodyPr wrap="square" rtlCol="0" lIns="0" tIns="0" rIns="0" bIns="0" anchor="t"/>
          <a:lstStyle/>
          <a:p>
            <a:pPr algn="l"/>
            <a:r>
              <a:rPr sz="1400" b="1">
                <a:solidFill>
                  <a:srgbClr val="BFE0E9"/>
                </a:solidFill>
                <a:latin typeface="Segoe UI"/>
                <a:ea typeface="Segoe UI"/>
              </a:rPr>
              <a:t>MVP — SPRINT 1</a:t>
            </a:r>
          </a:p>
        </p:txBody>
      </p:sp>
      <p:sp>
        <p:nvSpPr>
          <p:cNvPr id="7" name="TextBox 7">
            <a:extLst>
              <a:ext uri="{FF2B5EF4-FFF2-40B4-BE49-F238E27FC236}">
                <a16:creationId xmlns:a16="http://schemas.microsoft.com/office/drawing/2014/main" id="{82B86E6A-ECB1-46EF-BE3E-CB8FE1DF3BB0}"/>
              </a:ext>
            </a:extLst>
          </p:cNvPr>
          <p:cNvSpPr txBox="1"/>
          <p:nvPr/>
        </p:nvSpPr>
        <p:spPr>
          <a:xfrm>
            <a:off x="1066800" y="2343150"/>
            <a:ext cx="4629150" cy="323850"/>
          </a:xfrm>
        </p:spPr>
        <p:txBody>
          <a:bodyPr wrap="square" rtlCol="0" lIns="0" tIns="0" rIns="0" bIns="0" anchor="t"/>
          <a:lstStyle/>
          <a:p>
            <a:pPr algn="l"/>
            <a:r>
              <a:rPr sz="2000" b="1">
                <a:solidFill>
                  <a:srgbClr val="FFFFFF"/>
                </a:solidFill>
                <a:latin typeface="Segoe UI"/>
                <a:ea typeface="Segoe UI"/>
              </a:rPr>
              <a:t>Dépôt + contrôle de complétude</a:t>
            </a:r>
          </a:p>
        </p:txBody>
      </p:sp>
      <p:sp>
        <p:nvSpPr>
          <p:cNvPr id="8" name="TextBox 8">
            <a:extLst>
              <a:ext uri="{FF2B5EF4-FFF2-40B4-BE49-F238E27FC236}">
                <a16:creationId xmlns:a16="http://schemas.microsoft.com/office/drawing/2014/main" id="{110B87AE-254C-4E06-8892-9DF6B59253D2}"/>
              </a:ext>
            </a:extLst>
          </p:cNvPr>
          <p:cNvSpPr txBox="1"/>
          <p:nvPr/>
        </p:nvSpPr>
        <p:spPr>
          <a:xfrm>
            <a:off x="1066800" y="2781300"/>
            <a:ext cx="4629150" cy="2381250"/>
          </a:xfrm>
        </p:spPr>
        <p:txBody>
          <a:bodyPr wrap="square" rtlCol="0" lIns="0" tIns="0" rIns="0" bIns="0" anchor="t"/>
          <a:lstStyle/>
          <a:p>
            <a:pPr algn="l">
              <a:lnSpc>
                <a:spcPct val="130000"/>
              </a:lnSpc>
              <a:spcAft>
                <a:spcPts val="1400"/>
              </a:spcAft>
            </a:pPr>
            <a:r>
              <a:rPr sz="1400">
                <a:solidFill>
                  <a:srgbClr val="FFFFFF"/>
                </a:solidFill>
                <a:latin typeface="Segoe UI"/>
                <a:ea typeface="Segoe UI"/>
              </a:rPr>
              <a:t>Un seul formulaire, en ligne et en agence : zéro ressaisie</a:t>
            </a:r>
          </a:p>
          <a:p>
            <a:pPr algn="l">
              <a:lnSpc>
                <a:spcPct val="130000"/>
              </a:lnSpc>
              <a:spcAft>
                <a:spcPts val="1400"/>
              </a:spcAft>
            </a:pPr>
            <a:r>
              <a:rPr sz="1400">
                <a:solidFill>
                  <a:srgbClr val="FFFFFF"/>
                </a:solidFill>
                <a:latin typeface="Segoe UI"/>
                <a:ea typeface="Segoe UI"/>
              </a:rPr>
              <a:t>Demande bloquée si pièces manquantes, avec la liste exacte affichée</a:t>
            </a:r>
          </a:p>
          <a:p>
            <a:pPr algn="l">
              <a:lnSpc>
                <a:spcPct val="130000"/>
              </a:lnSpc>
              <a:spcAft>
                <a:spcPts val="1400"/>
              </a:spcAft>
            </a:pPr>
            <a:r>
              <a:rPr sz="1400">
                <a:solidFill>
                  <a:srgbClr val="FFFFFF"/>
                </a:solidFill>
                <a:latin typeface="Segoe UI"/>
                <a:ea typeface="Segoe UI"/>
              </a:rPr>
              <a:t>Journal de traçabilité natif dès le premier écran (risque D7 couvert)</a:t>
            </a:r>
          </a:p>
          <a:p>
            <a:pPr algn="l">
              <a:lnSpc>
                <a:spcPct val="130000"/>
              </a:lnSpc>
              <a:spcAft>
                <a:spcPts val="1400"/>
              </a:spcAft>
            </a:pPr>
            <a:r>
              <a:rPr sz="1400">
                <a:solidFill>
                  <a:srgbClr val="FFFFFF"/>
                </a:solidFill>
                <a:latin typeface="Segoe UI"/>
                <a:ea typeface="Segoe UI"/>
              </a:rPr>
              <a:t>Cible : dossiers incomplets 35 % → ≤ 10 %</a:t>
            </a:r>
          </a:p>
        </p:txBody>
      </p:sp>
      <p:sp>
        <p:nvSpPr>
          <p:cNvPr id="9" name="TextBox 9">
            <a:extLst>
              <a:ext uri="{FF2B5EF4-FFF2-40B4-BE49-F238E27FC236}">
                <a16:creationId xmlns:a16="http://schemas.microsoft.com/office/drawing/2014/main" id="{BEC9F62F-C7AB-49D9-AE33-019FDDC5D99D}"/>
              </a:ext>
            </a:extLst>
          </p:cNvPr>
          <p:cNvSpPr txBox="1"/>
          <p:nvPr/>
        </p:nvSpPr>
        <p:spPr>
          <a:xfrm>
            <a:off x="1066800" y="5334000"/>
            <a:ext cx="4629150" cy="476250"/>
          </a:xfrm>
        </p:spPr>
        <p:txBody>
          <a:bodyPr wrap="square" rtlCol="0" lIns="0" tIns="0" rIns="0" bIns="0" anchor="t"/>
          <a:lstStyle/>
          <a:p>
            <a:pPr algn="l">
              <a:lnSpc>
                <a:spcPct val="125000"/>
              </a:lnSpc>
            </a:pPr>
            <a:r>
              <a:rPr sz="1250" i="1">
                <a:solidFill>
                  <a:srgbClr val="BFE0E9"/>
                </a:solidFill>
                <a:latin typeface="Segoe UI"/>
                <a:ea typeface="Segoe UI"/>
              </a:rPr>
              <a:t>Suivi client, instruction et pilotage complètent le parcours en sprints 2 à 4.</a:t>
            </a:r>
          </a:p>
        </p:txBody>
      </p:sp>
      <p:sp>
        <p:nvSpPr>
          <p:cNvPr id="10" name="Shape 10">
            <a:extLst>
              <a:ext uri="{FF2B5EF4-FFF2-40B4-BE49-F238E27FC236}">
                <a16:creationId xmlns:a16="http://schemas.microsoft.com/office/drawing/2014/main" id="{17F0B2A9-6F7D-412F-A7FC-0AEA5780DB4E}"/>
              </a:ext>
            </a:extLst>
          </p:cNvPr>
          <p:cNvSpPr/>
          <p:nvPr/>
        </p:nvSpPr>
        <p:spPr>
          <a:xfrm>
            <a:off x="6572250" y="1809750"/>
            <a:ext cx="4857750" cy="4095750"/>
          </a:xfrm>
          <a:prstGeom prst="roundRect">
            <a:avLst/>
          </a:prstGeom>
          <a:solidFill>
            <a:srgbClr val="FFFFFF"/>
          </a:solidFill>
          <a:ln w="12700">
            <a:solidFill>
              <a:srgbClr val="E4D9C3"/>
            </a:solidFill>
          </a:ln>
        </p:spPr>
        <p:txBody>
          <a:bodyPr wrap="square" rtlCol="0"/>
          <a:lstStyle/>
          <a:p>
            <a:r>
              <a:rPr/>
              <a:t/>
            </a:r>
          </a:p>
        </p:txBody>
      </p:sp>
      <p:sp>
        <p:nvSpPr>
          <p:cNvPr id="11" name="TextBox 11">
            <a:extLst>
              <a:ext uri="{FF2B5EF4-FFF2-40B4-BE49-F238E27FC236}">
                <a16:creationId xmlns:a16="http://schemas.microsoft.com/office/drawing/2014/main" id="{21B467F0-32D3-4A49-97CB-58E8D1AA6AE9}"/>
              </a:ext>
            </a:extLst>
          </p:cNvPr>
          <p:cNvSpPr txBox="1"/>
          <p:nvPr/>
        </p:nvSpPr>
        <p:spPr>
          <a:xfrm>
            <a:off x="6877050" y="2038350"/>
            <a:ext cx="3429000" cy="247650"/>
          </a:xfrm>
        </p:spPr>
        <p:txBody>
          <a:bodyPr wrap="square" rtlCol="0" lIns="0" tIns="0" rIns="0" bIns="0" anchor="t"/>
          <a:lstStyle/>
          <a:p>
            <a:pPr algn="l"/>
            <a:r>
              <a:rPr sz="1400" b="1">
                <a:solidFill>
                  <a:srgbClr val="6B7C82"/>
                </a:solidFill>
                <a:latin typeface="Segoe UI"/>
                <a:ea typeface="Segoe UI"/>
              </a:rPr>
              <a:t>3 DÉCISIONS ATTENDUES DU SPONSOR</a:t>
            </a:r>
          </a:p>
        </p:txBody>
      </p:sp>
      <p:sp>
        <p:nvSpPr>
          <p:cNvPr id="12" name="TextBox 12">
            <a:extLst>
              <a:ext uri="{FF2B5EF4-FFF2-40B4-BE49-F238E27FC236}">
                <a16:creationId xmlns:a16="http://schemas.microsoft.com/office/drawing/2014/main" id="{5CD2CFCB-AD4D-41AF-9672-5DE337FB8C0D}"/>
              </a:ext>
            </a:extLst>
          </p:cNvPr>
          <p:cNvSpPr txBox="1"/>
          <p:nvPr/>
        </p:nvSpPr>
        <p:spPr>
          <a:xfrm>
            <a:off x="6877050" y="2476500"/>
            <a:ext cx="571500" cy="419100"/>
          </a:xfrm>
        </p:spPr>
        <p:txBody>
          <a:bodyPr wrap="square" rtlCol="0" lIns="0" tIns="0" rIns="0" bIns="0" anchor="t"/>
          <a:lstStyle/>
          <a:p>
            <a:pPr algn="l"/>
            <a:r>
              <a:rPr sz="2600" b="1">
                <a:solidFill>
                  <a:srgbClr val="7FB6C4"/>
                </a:solidFill>
                <a:latin typeface="Segoe UI"/>
                <a:ea typeface="Segoe UI"/>
              </a:rPr>
              <a:t>01</a:t>
            </a:r>
          </a:p>
        </p:txBody>
      </p:sp>
      <p:sp>
        <p:nvSpPr>
          <p:cNvPr id="13" name="TextBox 13">
            <a:extLst>
              <a:ext uri="{FF2B5EF4-FFF2-40B4-BE49-F238E27FC236}">
                <a16:creationId xmlns:a16="http://schemas.microsoft.com/office/drawing/2014/main" id="{202A8F58-A446-4FA9-9F7F-CD86689AF2DF}"/>
              </a:ext>
            </a:extLst>
          </p:cNvPr>
          <p:cNvSpPr txBox="1"/>
          <p:nvPr/>
        </p:nvSpPr>
        <p:spPr>
          <a:xfrm>
            <a:off x="7543800" y="2514600"/>
            <a:ext cx="3619500" cy="266700"/>
          </a:xfrm>
        </p:spPr>
        <p:txBody>
          <a:bodyPr wrap="square" rtlCol="0" lIns="0" tIns="0" rIns="0" bIns="0" anchor="t"/>
          <a:lstStyle/>
          <a:p>
            <a:pPr algn="l"/>
            <a:r>
              <a:rPr sz="1700" b="1">
                <a:solidFill>
                  <a:srgbClr val="243B45"/>
                </a:solidFill>
                <a:latin typeface="Segoe UI"/>
                <a:ea typeface="Segoe UI"/>
              </a:rPr>
              <a:t>Valider le périmètre</a:t>
            </a:r>
          </a:p>
        </p:txBody>
      </p:sp>
      <p:sp>
        <p:nvSpPr>
          <p:cNvPr id="14" name="TextBox 14">
            <a:extLst>
              <a:ext uri="{FF2B5EF4-FFF2-40B4-BE49-F238E27FC236}">
                <a16:creationId xmlns:a16="http://schemas.microsoft.com/office/drawing/2014/main" id="{8DD97362-6218-4CCC-A6A5-256F0DEE1B7A}"/>
              </a:ext>
            </a:extLst>
          </p:cNvPr>
          <p:cNvSpPr txBox="1"/>
          <p:nvPr/>
        </p:nvSpPr>
        <p:spPr>
          <a:xfrm>
            <a:off x="7543800" y="2800350"/>
            <a:ext cx="3619500" cy="476250"/>
          </a:xfrm>
        </p:spPr>
        <p:txBody>
          <a:bodyPr wrap="square" rtlCol="0" lIns="0" tIns="0" rIns="0" bIns="0" anchor="t"/>
          <a:lstStyle/>
          <a:p>
            <a:pPr algn="l">
              <a:lnSpc>
                <a:spcPct val="125000"/>
              </a:lnSpc>
            </a:pPr>
            <a:r>
              <a:rPr sz="1250">
                <a:solidFill>
                  <a:srgbClr val="6B7C82"/>
                </a:solidFill>
                <a:latin typeface="Segoe UI"/>
                <a:ea typeface="Segoe UI"/>
              </a:rPr>
              <a:t>la décision du comité de crédit reste inchangée, hors solution</a:t>
            </a:r>
          </a:p>
        </p:txBody>
      </p:sp>
      <p:sp>
        <p:nvSpPr>
          <p:cNvPr id="15" name="TextBox 15">
            <a:extLst>
              <a:ext uri="{FF2B5EF4-FFF2-40B4-BE49-F238E27FC236}">
                <a16:creationId xmlns:a16="http://schemas.microsoft.com/office/drawing/2014/main" id="{E79FE321-7506-40D5-8A00-04CE0CBA3F21}"/>
              </a:ext>
            </a:extLst>
          </p:cNvPr>
          <p:cNvSpPr txBox="1"/>
          <p:nvPr/>
        </p:nvSpPr>
        <p:spPr>
          <a:xfrm>
            <a:off x="6877050" y="3619500"/>
            <a:ext cx="571500" cy="419100"/>
          </a:xfrm>
        </p:spPr>
        <p:txBody>
          <a:bodyPr wrap="square" rtlCol="0" lIns="0" tIns="0" rIns="0" bIns="0" anchor="t"/>
          <a:lstStyle/>
          <a:p>
            <a:pPr algn="l"/>
            <a:r>
              <a:rPr sz="2600" b="1">
                <a:solidFill>
                  <a:srgbClr val="7FB6C4"/>
                </a:solidFill>
                <a:latin typeface="Segoe UI"/>
                <a:ea typeface="Segoe UI"/>
              </a:rPr>
              <a:t>02</a:t>
            </a:r>
          </a:p>
        </p:txBody>
      </p:sp>
      <p:sp>
        <p:nvSpPr>
          <p:cNvPr id="16" name="TextBox 16">
            <a:extLst>
              <a:ext uri="{FF2B5EF4-FFF2-40B4-BE49-F238E27FC236}">
                <a16:creationId xmlns:a16="http://schemas.microsoft.com/office/drawing/2014/main" id="{19583FDF-15D9-473A-ADB7-41CEE00833E5}"/>
              </a:ext>
            </a:extLst>
          </p:cNvPr>
          <p:cNvSpPr txBox="1"/>
          <p:nvPr/>
        </p:nvSpPr>
        <p:spPr>
          <a:xfrm>
            <a:off x="7543800" y="3657600"/>
            <a:ext cx="3619500" cy="266700"/>
          </a:xfrm>
        </p:spPr>
        <p:txBody>
          <a:bodyPr wrap="square" rtlCol="0" lIns="0" tIns="0" rIns="0" bIns="0" anchor="t"/>
          <a:lstStyle/>
          <a:p>
            <a:pPr algn="l"/>
            <a:r>
              <a:rPr sz="1700" b="1">
                <a:solidFill>
                  <a:srgbClr val="243B45"/>
                </a:solidFill>
                <a:latin typeface="Segoe UI"/>
                <a:ea typeface="Segoe UI"/>
              </a:rPr>
              <a:t>Arbitrer un point ouvert</a:t>
            </a:r>
          </a:p>
        </p:txBody>
      </p:sp>
      <p:sp>
        <p:nvSpPr>
          <p:cNvPr id="17" name="TextBox 17">
            <a:extLst>
              <a:ext uri="{FF2B5EF4-FFF2-40B4-BE49-F238E27FC236}">
                <a16:creationId xmlns:a16="http://schemas.microsoft.com/office/drawing/2014/main" id="{A5C56594-5A32-4120-80D0-C5A0571D74A5}"/>
              </a:ext>
            </a:extLst>
          </p:cNvPr>
          <p:cNvSpPr txBox="1"/>
          <p:nvPr/>
        </p:nvSpPr>
        <p:spPr>
          <a:xfrm>
            <a:off x="7543800" y="3943350"/>
            <a:ext cx="3619500" cy="714375"/>
          </a:xfrm>
        </p:spPr>
        <p:txBody>
          <a:bodyPr wrap="square" rtlCol="0" lIns="0" tIns="0" rIns="0" bIns="0" anchor="t"/>
          <a:lstStyle/>
          <a:p>
            <a:pPr algn="l">
              <a:lnSpc>
                <a:spcPct val="125000"/>
              </a:lnSpc>
            </a:pPr>
            <a:r>
              <a:rPr sz="1250">
                <a:solidFill>
                  <a:srgbClr val="6B7C82"/>
                </a:solidFill>
                <a:latin typeface="Segoe UI"/>
                <a:ea typeface="Segoe UI"/>
              </a:rPr>
              <a:t>écran de pilotage direction distinct, ou les indicateurs intégrés au tableau de bord analyste suffisent-ils ?</a:t>
            </a:r>
          </a:p>
        </p:txBody>
      </p:sp>
      <p:sp>
        <p:nvSpPr>
          <p:cNvPr id="18" name="TextBox 18">
            <a:extLst>
              <a:ext uri="{FF2B5EF4-FFF2-40B4-BE49-F238E27FC236}">
                <a16:creationId xmlns:a16="http://schemas.microsoft.com/office/drawing/2014/main" id="{CAF6D6C6-BEA5-472D-8C57-88AFDF2DF14E}"/>
              </a:ext>
            </a:extLst>
          </p:cNvPr>
          <p:cNvSpPr txBox="1"/>
          <p:nvPr/>
        </p:nvSpPr>
        <p:spPr>
          <a:xfrm>
            <a:off x="6877050" y="4857750"/>
            <a:ext cx="571500" cy="419100"/>
          </a:xfrm>
        </p:spPr>
        <p:txBody>
          <a:bodyPr wrap="square" rtlCol="0" lIns="0" tIns="0" rIns="0" bIns="0" anchor="t"/>
          <a:lstStyle/>
          <a:p>
            <a:pPr algn="l"/>
            <a:r>
              <a:rPr sz="2600" b="1">
                <a:solidFill>
                  <a:srgbClr val="7FB6C4"/>
                </a:solidFill>
                <a:latin typeface="Segoe UI"/>
                <a:ea typeface="Segoe UI"/>
              </a:rPr>
              <a:t>03</a:t>
            </a:r>
          </a:p>
        </p:txBody>
      </p:sp>
      <p:sp>
        <p:nvSpPr>
          <p:cNvPr id="19" name="TextBox 19">
            <a:extLst>
              <a:ext uri="{FF2B5EF4-FFF2-40B4-BE49-F238E27FC236}">
                <a16:creationId xmlns:a16="http://schemas.microsoft.com/office/drawing/2014/main" id="{B427495A-56B6-47CB-9A19-2E28B86FFF58}"/>
              </a:ext>
            </a:extLst>
          </p:cNvPr>
          <p:cNvSpPr txBox="1"/>
          <p:nvPr/>
        </p:nvSpPr>
        <p:spPr>
          <a:xfrm>
            <a:off x="7543800" y="4895850"/>
            <a:ext cx="4000500" cy="266700"/>
          </a:xfrm>
        </p:spPr>
        <p:txBody>
          <a:bodyPr wrap="square" rtlCol="0" lIns="0" tIns="0" rIns="0" bIns="0" anchor="t"/>
          <a:lstStyle/>
          <a:p>
            <a:pPr algn="l"/>
            <a:r>
              <a:rPr sz="1700" b="1">
                <a:solidFill>
                  <a:srgbClr val="243B45"/>
                </a:solidFill>
                <a:latin typeface="Segoe UI"/>
                <a:ea typeface="Segoe UI"/>
              </a:rPr>
              <a:t>Confirmer les hypothèses de chiffrage</a:t>
            </a:r>
          </a:p>
        </p:txBody>
      </p:sp>
      <p:sp>
        <p:nvSpPr>
          <p:cNvPr id="20" name="TextBox 20">
            <a:extLst>
              <a:ext uri="{FF2B5EF4-FFF2-40B4-BE49-F238E27FC236}">
                <a16:creationId xmlns:a16="http://schemas.microsoft.com/office/drawing/2014/main" id="{CA76895E-85C9-4786-8BC6-BCE2FC9E7C23}"/>
              </a:ext>
            </a:extLst>
          </p:cNvPr>
          <p:cNvSpPr txBox="1"/>
          <p:nvPr/>
        </p:nvSpPr>
        <p:spPr>
          <a:xfrm>
            <a:off x="7543800" y="5181600"/>
            <a:ext cx="3810000" cy="476250"/>
          </a:xfrm>
        </p:spPr>
        <p:txBody>
          <a:bodyPr wrap="square" rtlCol="0" lIns="0" tIns="0" rIns="0" bIns="0" anchor="t"/>
          <a:lstStyle/>
          <a:p>
            <a:pPr algn="l">
              <a:lnSpc>
                <a:spcPct val="125000"/>
              </a:lnSpc>
            </a:pPr>
            <a:r>
              <a:rPr sz="1250">
                <a:solidFill>
                  <a:srgbClr val="6B7C82"/>
                </a:solidFill>
                <a:latin typeface="Segoe UI"/>
                <a:ea typeface="Segoe UI"/>
              </a:rPr>
              <a:t>coût horaire 25 DT, adoption progressive 60 / 90 / 100 %</a:t>
            </a:r>
          </a:p>
        </p:txBody>
      </p:sp>
      <p:sp>
        <p:nvSpPr>
          <p:cNvPr id="21" name="TextBox 21">
            <a:extLst>
              <a:ext uri="{FF2B5EF4-FFF2-40B4-BE49-F238E27FC236}">
                <a16:creationId xmlns:a16="http://schemas.microsoft.com/office/drawing/2014/main" id="{487F604D-B643-4E41-80CF-7B9AF828BE3F}"/>
              </a:ext>
            </a:extLst>
          </p:cNvPr>
          <p:cNvSpPr txBox="1"/>
          <p:nvPr/>
        </p:nvSpPr>
        <p:spPr>
          <a:xfrm>
            <a:off x="762000" y="6438900"/>
            <a:ext cx="10668000" cy="247650"/>
          </a:xfrm>
        </p:spPr>
        <p:txBody>
          <a:bodyPr wrap="square" rtlCol="0" lIns="0" tIns="0" rIns="0" bIns="0" anchor="t"/>
          <a:lstStyle/>
          <a:p>
            <a:pPr algn="l">
              <a:lnSpc>
                <a:spcPct val="115000"/>
              </a:lnSpc>
            </a:pPr>
            <a:r>
              <a:rPr sz="1050" i="1">
                <a:solidFill>
                  <a:srgbClr val="9AA6AC"/>
                </a:solidFill>
                <a:latin typeface="Segoe UI"/>
                <a:ea typeface="Segoe UI"/>
              </a:rPr>
              <a:t>Source : synthèse executive + recommandation business case — E. Kanzari, 20 novembre 2026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F4E5F"/>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C09ACB8D-CCEB-4F16-B326-276FDD8CA84B}"/>
              </a:ext>
            </a:extLst>
          </p:cNvPr>
          <p:cNvSpPr txBox="1"/>
          <p:nvPr/>
        </p:nvSpPr>
        <p:spPr>
          <a:xfrm>
            <a:off x="762000" y="704850"/>
            <a:ext cx="10668000" cy="552450"/>
          </a:xfrm>
        </p:spPr>
        <p:txBody>
          <a:bodyPr wrap="square" rtlCol="0" lIns="0" tIns="0" rIns="0" bIns="0" anchor="t"/>
          <a:lstStyle/>
          <a:p>
            <a:pPr algn="ctr"/>
            <a:r>
              <a:rPr sz="3400" b="1">
                <a:solidFill>
                  <a:srgbClr val="FFFFFF"/>
                </a:solidFill>
                <a:latin typeface="Segoe UI"/>
                <a:ea typeface="Segoe UI"/>
              </a:rPr>
              <a:t>Le dossier complet est public</a:t>
            </a:r>
          </a:p>
        </p:txBody>
      </p:sp>
      <p:sp>
        <p:nvSpPr>
          <p:cNvPr id="4" name="TextBox 4">
            <a:extLst>
              <a:ext uri="{FF2B5EF4-FFF2-40B4-BE49-F238E27FC236}">
                <a16:creationId xmlns:a16="http://schemas.microsoft.com/office/drawing/2014/main" id="{45079EA5-964B-42A6-B52E-97B571C192D5}"/>
              </a:ext>
            </a:extLst>
          </p:cNvPr>
          <p:cNvSpPr txBox="1"/>
          <p:nvPr/>
        </p:nvSpPr>
        <p:spPr>
          <a:xfrm>
            <a:off x="1809750" y="1314450"/>
            <a:ext cx="8572500" cy="594360"/>
          </a:xfrm>
        </p:spPr>
        <p:txBody>
          <a:bodyPr wrap="square" rtlCol="0" lIns="0" tIns="0" rIns="0" bIns="0" anchor="t"/>
          <a:lstStyle/>
          <a:p>
            <a:pPr algn="ctr">
              <a:lnSpc>
                <a:spcPct val="130000"/>
              </a:lnSpc>
            </a:pPr>
            <a:r>
              <a:rPr sz="1500">
                <a:solidFill>
                  <a:srgbClr val="BFE0E9"/>
                </a:solidFill>
                <a:latin typeface="Segoe UI"/>
                <a:ea typeface="Segoe UI"/>
              </a:rPr>
              <a:t>Cadrage, élicitation, AS-IS et TO-BE, BRD, backlog, wireframes, business case et traçabilité — tout est consultable en ligne.</a:t>
            </a:r>
          </a:p>
        </p:txBody>
      </p:sp>
      <p:sp>
        <p:nvSpPr>
          <p:cNvPr id="5" name="Shape 5">
            <a:extLst>
              <a:ext uri="{FF2B5EF4-FFF2-40B4-BE49-F238E27FC236}">
                <a16:creationId xmlns:a16="http://schemas.microsoft.com/office/drawing/2014/main" id="{61817A1C-9128-4A36-B0A2-FD6454BDE73B}"/>
              </a:ext>
            </a:extLst>
          </p:cNvPr>
          <p:cNvSpPr/>
          <p:nvPr/>
        </p:nvSpPr>
        <p:spPr>
          <a:xfrm>
            <a:off x="2381250" y="2057400"/>
            <a:ext cx="7429500" cy="609600"/>
          </a:xfrm>
          <a:prstGeom prst="roundRect">
            <a:avLst/>
          </a:prstGeom>
          <a:solidFill>
            <a:srgbClr val="FFFFFF"/>
          </a:solidFill>
        </p:spPr>
        <p:txBody>
          <a:bodyPr wrap="square" rtlCol="0"/>
          <a:lstStyle/>
          <a:p>
            <a:r>
              <a:rPr/>
              <a:t/>
            </a:r>
          </a:p>
        </p:txBody>
      </p:sp>
      <p:sp>
        <p:nvSpPr>
          <p:cNvPr id="6" name="TextBox 6">
            <a:extLst>
              <a:ext uri="{FF2B5EF4-FFF2-40B4-BE49-F238E27FC236}">
                <a16:creationId xmlns:a16="http://schemas.microsoft.com/office/drawing/2014/main" id="{43651845-AEAD-4ACC-A1E1-EBA412204EF0}"/>
              </a:ext>
            </a:extLst>
          </p:cNvPr>
          <p:cNvSpPr txBox="1"/>
          <p:nvPr/>
        </p:nvSpPr>
        <p:spPr>
          <a:xfrm>
            <a:off x="2381250" y="2057400"/>
            <a:ext cx="7429500" cy="609600"/>
          </a:xfrm>
        </p:spPr>
        <p:txBody>
          <a:bodyPr wrap="square" rtlCol="0" lIns="0" tIns="0" rIns="0" bIns="0" anchor="ctr"/>
          <a:lstStyle/>
          <a:p>
            <a:pPr algn="ctr"/>
            <a:r>
              <a:rPr sz="1800" b="1">
                <a:solidFill>
                  <a:srgbClr val="1F4E5F"/>
                </a:solidFill>
                <a:latin typeface="Segoe UI"/>
                <a:ea typeface="Segoe UI"/>
              </a:rPr>
              <a:t>github.com/kanzarieya/banque-elyssa-analyse-fonctionnelle</a:t>
            </a:r>
          </a:p>
        </p:txBody>
      </p:sp>
      <p:sp>
        <p:nvSpPr>
          <p:cNvPr id="7" name="TextBox 7">
            <a:extLst>
              <a:ext uri="{FF2B5EF4-FFF2-40B4-BE49-F238E27FC236}">
                <a16:creationId xmlns:a16="http://schemas.microsoft.com/office/drawing/2014/main" id="{139DF8A4-7D30-4D39-8103-2B135E56C19C}"/>
              </a:ext>
            </a:extLst>
          </p:cNvPr>
          <p:cNvSpPr txBox="1"/>
          <p:nvPr/>
        </p:nvSpPr>
        <p:spPr>
          <a:xfrm>
            <a:off x="762000" y="2819400"/>
            <a:ext cx="10668000" cy="266700"/>
          </a:xfrm>
        </p:spPr>
        <p:txBody>
          <a:bodyPr wrap="square" rtlCol="0" lIns="0" tIns="0" rIns="0" bIns="0" anchor="t"/>
          <a:lstStyle/>
          <a:p>
            <a:pPr algn="ctr"/>
            <a:r>
              <a:rPr sz="1400">
                <a:solidFill>
                  <a:srgbClr val="BFE0E9"/>
                </a:solidFill>
                <a:latin typeface="Segoe UI"/>
                <a:ea typeface="Segoe UI"/>
              </a:rPr>
              <a:t>Eya Kanzari — analyste fonctionnelle · ek.kanzari@gmail.com</a:t>
            </a:r>
          </a:p>
        </p:txBody>
      </p:sp>
      <p:sp>
        <p:nvSpPr>
          <p:cNvPr id="8" name="TextBox 8">
            <a:extLst>
              <a:ext uri="{FF2B5EF4-FFF2-40B4-BE49-F238E27FC236}">
                <a16:creationId xmlns:a16="http://schemas.microsoft.com/office/drawing/2014/main" id="{BAD83E3C-12BC-4E34-97D9-88267D877485}"/>
              </a:ext>
            </a:extLst>
          </p:cNvPr>
          <p:cNvSpPr txBox="1"/>
          <p:nvPr/>
        </p:nvSpPr>
        <p:spPr>
          <a:xfrm>
            <a:off x="2381250" y="3486150"/>
            <a:ext cx="3810000" cy="247650"/>
          </a:xfrm>
        </p:spPr>
        <p:txBody>
          <a:bodyPr wrap="square" rtlCol="0" lIns="0" tIns="0" rIns="0" bIns="0" anchor="t"/>
          <a:lstStyle/>
          <a:p>
            <a:pPr algn="l"/>
            <a:r>
              <a:rPr sz="1300" b="1">
                <a:solidFill>
                  <a:srgbClr val="7FB6C4"/>
                </a:solidFill>
                <a:latin typeface="Segoe UI"/>
                <a:ea typeface="Segoe UI"/>
              </a:rPr>
              <a:t>SOURCES DE CE DECK</a:t>
            </a:r>
          </a:p>
        </p:txBody>
      </p:sp>
      <p:sp>
        <p:nvSpPr>
          <p:cNvPr id="9" name="TextBox 9">
            <a:extLst>
              <a:ext uri="{FF2B5EF4-FFF2-40B4-BE49-F238E27FC236}">
                <a16:creationId xmlns:a16="http://schemas.microsoft.com/office/drawing/2014/main" id="{AA6AFD91-00EF-45BA-8EBC-B19EF4EB8EE4}"/>
              </a:ext>
            </a:extLst>
          </p:cNvPr>
          <p:cNvSpPr txBox="1"/>
          <p:nvPr/>
        </p:nvSpPr>
        <p:spPr>
          <a:xfrm>
            <a:off x="2381250" y="3790950"/>
            <a:ext cx="7429500" cy="2019300"/>
          </a:xfrm>
        </p:spPr>
        <p:txBody>
          <a:bodyPr wrap="square" rtlCol="0" lIns="0" tIns="0" rIns="0" bIns="0" anchor="t"/>
          <a:lstStyle/>
          <a:p>
            <a:pPr algn="l">
              <a:lnSpc>
                <a:spcPct val="150000"/>
              </a:lnSpc>
              <a:spcAft>
                <a:spcPts val="400"/>
              </a:spcAft>
            </a:pPr>
            <a:r>
              <a:rPr sz="1250">
                <a:solidFill>
                  <a:srgbClr val="BFE0E9"/>
                </a:solidFill>
                <a:latin typeface="Segoe UI"/>
                <a:ea typeface="Segoe UI"/>
              </a:rPr>
              <a:t>Note de cadrage et parties prenantes — 19 octobre 2026</a:t>
            </a:r>
          </a:p>
          <a:p>
            <a:pPr algn="l">
              <a:lnSpc>
                <a:spcPct val="150000"/>
              </a:lnSpc>
              <a:spcAft>
                <a:spcPts val="400"/>
              </a:spcAft>
            </a:pPr>
            <a:r>
              <a:rPr sz="1250">
                <a:solidFill>
                  <a:srgbClr val="BFE0E9"/>
                </a:solidFill>
                <a:latin typeface="Segoe UI"/>
                <a:ea typeface="Segoe UI"/>
              </a:rPr>
              <a:t>Synthèse des constats et cartographie AS-IS — 26 octobre 2026</a:t>
            </a:r>
          </a:p>
          <a:p>
            <a:pPr algn="l">
              <a:lnSpc>
                <a:spcPct val="150000"/>
              </a:lnSpc>
              <a:spcAft>
                <a:spcPts val="400"/>
              </a:spcAft>
            </a:pPr>
            <a:r>
              <a:rPr sz="1250">
                <a:solidFill>
                  <a:srgbClr val="BFE0E9"/>
                </a:solidFill>
                <a:latin typeface="Segoe UI"/>
                <a:ea typeface="Segoe UI"/>
              </a:rPr>
              <a:t>BRD, matrice des douleurs, causes racines — 2 novembre 2026</a:t>
            </a:r>
          </a:p>
          <a:p>
            <a:pPr algn="l">
              <a:lnSpc>
                <a:spcPct val="150000"/>
              </a:lnSpc>
              <a:spcAft>
                <a:spcPts val="400"/>
              </a:spcAft>
            </a:pPr>
            <a:r>
              <a:rPr sz="1250">
                <a:solidFill>
                  <a:srgbClr val="BFE0E9"/>
                </a:solidFill>
                <a:latin typeface="Segoe UI"/>
                <a:ea typeface="Segoe UI"/>
              </a:rPr>
              <a:t>User stories et backlog MoSCoW — 9 novembre 2026</a:t>
            </a:r>
          </a:p>
          <a:p>
            <a:pPr algn="l">
              <a:lnSpc>
                <a:spcPct val="150000"/>
              </a:lnSpc>
              <a:spcAft>
                <a:spcPts val="400"/>
              </a:spcAft>
            </a:pPr>
            <a:r>
              <a:rPr sz="1250">
                <a:solidFill>
                  <a:srgbClr val="BFE0E9"/>
                </a:solidFill>
                <a:latin typeface="Segoe UI"/>
                <a:ea typeface="Segoe UI"/>
              </a:rPr>
              <a:t>Processus TO-BE et 12 wireframes — 16 novembre 2026</a:t>
            </a:r>
          </a:p>
          <a:p>
            <a:pPr algn="l">
              <a:lnSpc>
                <a:spcPct val="150000"/>
              </a:lnSpc>
              <a:spcAft>
                <a:spcPts val="400"/>
              </a:spcAft>
            </a:pPr>
            <a:r>
              <a:rPr sz="1250">
                <a:solidFill>
                  <a:srgbClr val="BFE0E9"/>
                </a:solidFill>
                <a:latin typeface="Segoe UI"/>
                <a:ea typeface="Segoe UI"/>
              </a:rPr>
              <a:t>Business case, matrice de traçabilité, synthèse executive — 20 novembre 2026</a:t>
            </a:r>
          </a:p>
        </p:txBody>
      </p:sp>
      <p:sp>
        <p:nvSpPr>
          <p:cNvPr id="10" name="TextBox 10">
            <a:extLst>
              <a:ext uri="{FF2B5EF4-FFF2-40B4-BE49-F238E27FC236}">
                <a16:creationId xmlns:a16="http://schemas.microsoft.com/office/drawing/2014/main" id="{A03048CD-230E-4979-9587-63E61E36D493}"/>
              </a:ext>
            </a:extLst>
          </p:cNvPr>
          <p:cNvSpPr txBox="1"/>
          <p:nvPr/>
        </p:nvSpPr>
        <p:spPr>
          <a:xfrm>
            <a:off x="762000" y="5867400"/>
            <a:ext cx="10668000" cy="419100"/>
          </a:xfrm>
        </p:spPr>
        <p:txBody>
          <a:bodyPr wrap="square" rtlCol="0" lIns="0" tIns="0" rIns="0" bIns="0" anchor="t"/>
          <a:lstStyle/>
          <a:p>
            <a:pPr algn="ctr">
              <a:lnSpc>
                <a:spcPct val="130000"/>
              </a:lnSpc>
            </a:pPr>
            <a:r>
              <a:rPr sz="1150" i="1">
                <a:solidFill>
                  <a:srgbClr val="8FB6C0"/>
                </a:solidFill>
                <a:latin typeface="Segoe UI"/>
                <a:ea typeface="Segoe UI"/>
              </a:rPr>
              <a:t>Cas fictif — Banque Elyssa : entreprise, chiffres et personas sont des hypothèses réalistes documentées, dans une démarche de portfolio.</a:t>
            </a:r>
          </a:p>
        </p:txBody>
      </p:sp>
    </p:spTree>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C43E1C"/>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Microsoft YaHei"/>
        <a:cs typeface=""/>
      </a:majorFont>
      <a:minorFont>
        <a:latin typeface="Calibri"/>
        <a:ea typeface="Microsoft YaHei"/>
        <a:cs typeface=""/>
      </a:minorFont>
    </a:fontScheme>
    <a:fmtScheme name="Office">
      <a:fillStyleLst>
        <a:solidFill>
          <a:schemeClr val="phClr"/>
        </a:solidFill>
        <a:solidFill>
          <a:schemeClr val="phClr"/>
        </a:solidFill>
        <a:solidFill>
          <a:schemeClr val="phClr"/>
        </a:solidFill>
      </a:fillStyleLst>
      <a:lnStyleLst>
        <a:ln w="6350">
          <a:solidFill>
            <a:schemeClr val="phClr"/>
          </a:solidFill>
        </a:ln>
        <a:ln w="12700">
          <a:solidFill>
            <a:schemeClr val="phClr"/>
          </a:solidFill>
        </a:ln>
        <a:ln w="1905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C43E1C"/>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Microsoft YaHei"/>
        <a:cs typeface=""/>
      </a:majorFont>
      <a:minorFont>
        <a:latin typeface="Calibri"/>
        <a:ea typeface="Microsoft YaHei"/>
        <a:cs typeface=""/>
      </a:minorFont>
    </a:fontScheme>
    <a:fmtScheme name="Office">
      <a:fillStyleLst>
        <a:solidFill>
          <a:schemeClr val="phClr"/>
        </a:solidFill>
        <a:solidFill>
          <a:schemeClr val="phClr"/>
        </a:solidFill>
        <a:solidFill>
          <a:schemeClr val="phClr"/>
        </a:solidFill>
      </a:fillStyleLst>
      <a:lnStyleLst>
        <a:ln w="6350">
          <a:solidFill>
            <a:schemeClr val="phClr"/>
          </a:solidFill>
        </a:ln>
        <a:ln w="12700">
          <a:solidFill>
            <a:schemeClr val="phClr"/>
          </a:solidFill>
        </a:ln>
        <a:ln w="1905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